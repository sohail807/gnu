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defRPr sz="1800" b="1">
                <a:solidFill>
                  <a:srgbClr val="00A896"/>
                </a:solidFill>
                <a:latin typeface="Segoe UI"/>
              </a:defRPr>
            </a:pPr>
            <a:r>
              <a:t>GNU HEALTH HMIS 5.0</a:t>
            </a:r>
          </a:p>
          <a:p>
            <a:pPr>
              <a:defRPr sz="3600" b="1">
                <a:solidFill>
                  <a:srgbClr val="FFFFFF"/>
                </a:solidFill>
                <a:latin typeface="Segoe UI"/>
              </a:defRPr>
            </a:pPr>
            <a:r>
              <a:t>End-to-End Working Model Demonstration</a:t>
            </a:r>
          </a:p>
          <a:p>
            <a:pPr>
              <a:spcBef>
                <a:spcPts val="1200"/>
              </a:spcBef>
              <a:defRPr sz="1600">
                <a:solidFill>
                  <a:srgbClr val="1E90FF"/>
                </a:solidFill>
                <a:latin typeface="Segoe UI"/>
              </a:defRPr>
            </a:pPr>
            <a:r>
              <a:t>Complete Outpatient Lifecycle: Clinical → Laboratory → Radiology → Billing → Accounting → Reconciliation</a:t>
            </a:r>
          </a:p>
          <a:p>
            <a:pPr>
              <a:spcBef>
                <a:spcPts val="800"/>
              </a:spcBef>
              <a:defRPr sz="1300">
                <a:solidFill>
                  <a:srgbClr val="B4C3CD"/>
                </a:solidFill>
                <a:latin typeface="Segoe UI"/>
              </a:defRPr>
            </a:pPr>
            <a:r>
              <a:t>Live DEMO/UAT Operational Certification — Real Screenshots &amp; Validation Evidence — Balanced General Ledger</a:t>
            </a:r>
          </a:p>
        </p:txBody>
      </p:sp>
      <p:sp>
        <p:nvSpPr>
          <p:cNvPr id="4" name="Rounded Rectangle 3"/>
          <p:cNvSpPr/>
          <p:nvPr/>
        </p:nvSpPr>
        <p:spPr>
          <a:xfrm>
            <a:off x="914400" y="530352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TECHNICALLY CERTIFIED</a:t>
            </a:r>
          </a:p>
        </p:txBody>
      </p:sp>
      <p:sp>
        <p:nvSpPr>
          <p:cNvPr id="5" name="Rounded Rectangle 4"/>
          <p:cNvSpPr/>
          <p:nvPr/>
        </p:nvSpPr>
        <p:spPr>
          <a:xfrm>
            <a:off x="3291840" y="5303520"/>
            <a:ext cx="2194560" cy="320040"/>
          </a:xfrm>
          <a:prstGeom prst="roundRect">
            <a:avLst/>
          </a:prstGeom>
          <a:solidFill>
            <a:srgbClr val="1A3D5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DEMO/UAT ENVIRONMENT</a:t>
            </a:r>
          </a:p>
        </p:txBody>
      </p:sp>
      <p:sp>
        <p:nvSpPr>
          <p:cNvPr id="6" name="Rounded Rectangle 5"/>
          <p:cNvSpPr/>
          <p:nvPr/>
        </p:nvSpPr>
        <p:spPr>
          <a:xfrm>
            <a:off x="5669280" y="5303520"/>
            <a:ext cx="2011680" cy="3200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QATAR QAR BASELINE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1: OVERVIEW</a:t>
            </a:r>
          </a:p>
          <a:p>
            <a:pPr>
              <a:defRPr sz="2100" b="1">
                <a:solidFill>
                  <a:srgbClr val="0B192C"/>
                </a:solidFill>
                <a:latin typeface="Segoe UI"/>
              </a:defRPr>
            </a:pPr>
            <a:r>
              <a:t>Executive Summary — Backend Working Model Proven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329184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2926080" cy="4389120"/>
          </a:xfrm>
          <a:prstGeom prst="rect">
            <a:avLst/>
          </a:prstGeom>
          <a:noFill/>
        </p:spPr>
        <p:txBody>
          <a:bodyPr wrap="none">
            <a:spAutoFit/>
          </a:bodyPr>
          <a:lstStyle/>
          <a:p>
            <a:pPr>
              <a:defRPr sz="2600" b="1">
                <a:solidFill>
                  <a:srgbClr val="28A745"/>
                </a:solidFill>
              </a:defRPr>
            </a:pPr>
            <a:r>
              <a:t>33 / 33 TESTS</a:t>
            </a:r>
          </a:p>
          <a:p>
            <a:pPr>
              <a:defRPr sz="1300" b="1">
                <a:solidFill>
                  <a:srgbClr val="0B192C"/>
                </a:solidFill>
              </a:defRPr>
            </a:pPr>
            <a:r>
              <a:t>100% Operational Pass Rate</a:t>
            </a:r>
          </a:p>
          <a:p>
            <a:pPr>
              <a:spcBef>
                <a:spcPts val="1200"/>
              </a:spcBef>
              <a:defRPr sz="1100">
                <a:solidFill>
                  <a:srgbClr val="28323C"/>
                </a:solidFill>
              </a:defRPr>
            </a:pPr>
            <a:r>
              <a:t>• Clinical flow: PASS</a:t>
            </a:r>
            <a:br/>
            <a:r>
              <a:t>• Diagnostic flow: PASS</a:t>
            </a:r>
            <a:br/>
            <a:r>
              <a:t>• Billing/Invoicing: PASS</a:t>
            </a:r>
            <a:br/>
            <a:r>
              <a:t>• General Ledger: PASS</a:t>
            </a:r>
            <a:br/>
            <a:r>
              <a:t>• Immutability lock: PASS</a:t>
            </a:r>
            <a:br/>
            <a:r>
              <a:t>• Zero orphaned rows</a:t>
            </a:r>
            <a:br/>
            <a:r>
              <a:t>• Zero test failures</a:t>
            </a:r>
          </a:p>
        </p:txBody>
      </p:sp>
      <p:sp>
        <p:nvSpPr>
          <p:cNvPr id="6" name="Rounded Rectangle 5"/>
          <p:cNvSpPr/>
          <p:nvPr/>
        </p:nvSpPr>
        <p:spPr>
          <a:xfrm>
            <a:off x="4389120" y="1554480"/>
            <a:ext cx="329184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37360"/>
            <a:ext cx="2926080" cy="4389120"/>
          </a:xfrm>
          <a:prstGeom prst="rect">
            <a:avLst/>
          </a:prstGeom>
          <a:noFill/>
        </p:spPr>
        <p:txBody>
          <a:bodyPr wrap="none">
            <a:spAutoFit/>
          </a:bodyPr>
          <a:lstStyle/>
          <a:p>
            <a:pPr>
              <a:defRPr sz="2600" b="1">
                <a:solidFill>
                  <a:srgbClr val="00A896"/>
                </a:solidFill>
              </a:defRPr>
            </a:pPr>
            <a:r>
              <a:t>0.00 QAR</a:t>
            </a:r>
          </a:p>
          <a:p>
            <a:pPr>
              <a:defRPr sz="1300" b="1">
                <a:solidFill>
                  <a:srgbClr val="0B192C"/>
                </a:solidFill>
              </a:defRPr>
            </a:pPr>
            <a:r>
              <a:t>Zero Accounting Discrepancy</a:t>
            </a:r>
          </a:p>
          <a:p>
            <a:pPr>
              <a:spcBef>
                <a:spcPts val="1200"/>
              </a:spcBef>
              <a:defRPr sz="1100">
                <a:solidFill>
                  <a:srgbClr val="28323C"/>
                </a:solidFill>
              </a:defRPr>
            </a:pPr>
            <a:r>
              <a:t>• Total Debits: 11,400.00 QAR</a:t>
            </a:r>
            <a:br/>
            <a:r>
              <a:t>• Total Credits: 11,400.00 QAR</a:t>
            </a:r>
            <a:br/>
            <a:r>
              <a:t>• Net AR: 0.00 QAR (settled)</a:t>
            </a:r>
            <a:br/>
            <a:r>
              <a:t>• Strict double-entry balance</a:t>
            </a:r>
            <a:br/>
            <a:r>
              <a:t>• Gapless invoice sequence</a:t>
            </a:r>
            <a:br/>
            <a:r>
              <a:t>• Revenue journal posted</a:t>
            </a:r>
            <a:br/>
            <a:r>
              <a:t>• Cash settlement matched</a:t>
            </a:r>
          </a:p>
        </p:txBody>
      </p:sp>
      <p:sp>
        <p:nvSpPr>
          <p:cNvPr id="8" name="Rounded Rectangle 7"/>
          <p:cNvSpPr/>
          <p:nvPr/>
        </p:nvSpPr>
        <p:spPr>
          <a:xfrm>
            <a:off x="8046720" y="1554480"/>
            <a:ext cx="33832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37360"/>
            <a:ext cx="3017520" cy="4389120"/>
          </a:xfrm>
          <a:prstGeom prst="rect">
            <a:avLst/>
          </a:prstGeom>
          <a:noFill/>
        </p:spPr>
        <p:txBody>
          <a:bodyPr wrap="none">
            <a:spAutoFit/>
          </a:bodyPr>
          <a:lstStyle/>
          <a:p>
            <a:pPr>
              <a:defRPr sz="2600" b="1">
                <a:solidFill>
                  <a:srgbClr val="1E90FF"/>
                </a:solidFill>
              </a:defRPr>
            </a:pPr>
            <a:r>
              <a:t>CERTIFIED</a:t>
            </a:r>
          </a:p>
          <a:p>
            <a:pPr>
              <a:defRPr sz="1300" b="1">
                <a:solidFill>
                  <a:srgbClr val="0B192C"/>
                </a:solidFill>
              </a:defRPr>
            </a:pPr>
            <a:r>
              <a:t>Backend Frozen for Frontend</a:t>
            </a:r>
          </a:p>
          <a:p>
            <a:pPr>
              <a:spcBef>
                <a:spcPts val="1200"/>
              </a:spcBef>
              <a:defRPr sz="1100">
                <a:solidFill>
                  <a:srgbClr val="28323C"/>
                </a:solidFill>
              </a:defRPr>
            </a:pPr>
            <a:r>
              <a:t>• Debian 12 / PostgreSQL 15</a:t>
            </a:r>
            <a:br/>
            <a:r>
              <a:t>• Tryton 7.0.57 WSGI daemon</a:t>
            </a:r>
            <a:br/>
            <a:r>
              <a:t>• GNU Health HMIS 5.0.6 core</a:t>
            </a:r>
            <a:br/>
            <a:r>
              <a:t>• Native JSON-RPC API verified</a:t>
            </a:r>
            <a:br/>
            <a:r>
              <a:t>• 7-role least-privilege RBAC</a:t>
            </a:r>
            <a:br/>
            <a:r>
              <a:t>• 10s disaster recovery restore</a:t>
            </a:r>
            <a:br/>
            <a:r>
              <a:t>• Live demo UI active on GCP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1: OVERVIEW</a:t>
            </a:r>
          </a:p>
          <a:p>
            <a:pPr>
              <a:defRPr sz="2100" b="1">
                <a:solidFill>
                  <a:srgbClr val="0B192C"/>
                </a:solidFill>
                <a:latin typeface="Segoe UI"/>
              </a:defRPr>
            </a:pPr>
            <a:r>
              <a:t>What GNU Health Is — System Overview &amp; Architecture Scope</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500" b="1">
                <a:solidFill>
                  <a:srgbClr val="0B192C"/>
                </a:solidFill>
              </a:defRPr>
            </a:pPr>
            <a:r>
              <a:t>GNU Health is a Libre, enterprise-grade Health and Hospital Information System (HIS/HMIS) built on the Tryton framework.</a:t>
            </a:r>
          </a:p>
          <a:p>
            <a:pPr>
              <a:spcBef>
                <a:spcPts val="1200"/>
              </a:spcBef>
              <a:defRPr sz="1300" b="1">
                <a:solidFill>
                  <a:srgbClr val="00A896"/>
                </a:solidFill>
              </a:defRPr>
            </a:pPr>
            <a:r>
              <a:t>Key Operational Functional Domains Deployed on GCP:</a:t>
            </a:r>
          </a:p>
          <a:p>
            <a:pPr>
              <a:spcBef>
                <a:spcPts val="400"/>
              </a:spcBef>
              <a:defRPr sz="1100">
                <a:solidFill>
                  <a:srgbClr val="28323C"/>
                </a:solidFill>
              </a:defRPr>
            </a:pPr>
            <a:r>
              <a:t>• Patient Identity &amp; Demographics: Centralized party registry, unique medical record number (PUID), national ID (QID), contact data, family history.</a:t>
            </a:r>
          </a:p>
          <a:p>
            <a:pPr>
              <a:spcBef>
                <a:spcPts val="400"/>
              </a:spcBef>
              <a:defRPr sz="1100">
                <a:solidFill>
                  <a:srgbClr val="28323C"/>
                </a:solidFill>
              </a:defRPr>
            </a:pPr>
            <a:r>
              <a:t>• Clinical Encounters &amp; EMR: Outpatient consultations, SOAP clinical notes, WHO ICD-10 coding, vital signs, physical exam, prescription orders.</a:t>
            </a:r>
          </a:p>
          <a:p>
            <a:pPr>
              <a:spcBef>
                <a:spcPts val="400"/>
              </a:spcBef>
              <a:defRPr sz="1100">
                <a:solidFill>
                  <a:srgbClr val="28323C"/>
                </a:solidFill>
              </a:defRPr>
            </a:pPr>
            <a:r>
              <a:t>• Diagnostics Management: Laboratory test ordering, specimen tracking, automated reference ranges, radiology requests, imaging reporting.</a:t>
            </a:r>
          </a:p>
          <a:p>
            <a:pPr>
              <a:spcBef>
                <a:spcPts val="400"/>
              </a:spcBef>
              <a:defRPr sz="1100">
                <a:solidFill>
                  <a:srgbClr val="28323C"/>
                </a:solidFill>
              </a:defRPr>
            </a:pPr>
            <a:r>
              <a:t>• Medical Billing &amp; Tariffs: Health services aggregation, insurance tariffs, automatic invoicing, invoice sequencing, tax behavior.</a:t>
            </a:r>
          </a:p>
          <a:p>
            <a:pPr>
              <a:spcBef>
                <a:spcPts val="400"/>
              </a:spcBef>
              <a:defRPr sz="1100">
                <a:solidFill>
                  <a:srgbClr val="28323C"/>
                </a:solidFill>
              </a:defRPr>
            </a:pPr>
            <a:r>
              <a:t>• Double-Entry General Ledger: Accounts receivable, cash journals, revenue recognition, chart of accounts, automated receivables reconciliation.</a:t>
            </a:r>
          </a:p>
          <a:p>
            <a:pPr>
              <a:spcBef>
                <a:spcPts val="400"/>
              </a:spcBef>
              <a:defRPr sz="1100">
                <a:solidFill>
                  <a:srgbClr val="28323C"/>
                </a:solidFill>
              </a:defRPr>
            </a:pPr>
            <a:r>
              <a:t>• Security &amp; Immutability: Role-based access control (RBAC), cryptographically protected sessions, digital signing lock, audit trail.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100" b="1">
                <a:solidFill>
                  <a:srgbClr val="0B192C"/>
                </a:solidFill>
                <a:latin typeface="Segoe UI"/>
              </a:defRPr>
            </a:pPr>
            <a:r>
              <a:t>System Architecture — Tiered Cloud Infrastructure</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560320" cy="4389120"/>
          </a:xfrm>
          <a:prstGeom prst="roundRect">
            <a:avLst/>
          </a:prstGeom>
          <a:solidFill>
            <a:srgbClr val="F2F6FA"/>
          </a:solidFill>
          <a:ln w="19050">
            <a:solidFill>
              <a:srgbClr val="1E9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86000" cy="3931920"/>
          </a:xfrm>
          <a:prstGeom prst="rect">
            <a:avLst/>
          </a:prstGeom>
          <a:noFill/>
        </p:spPr>
        <p:txBody>
          <a:bodyPr wrap="square">
            <a:spAutoFit/>
          </a:bodyPr>
          <a:lstStyle/>
          <a:p>
            <a:pPr>
              <a:defRPr sz="1500" b="1">
                <a:solidFill>
                  <a:srgbClr val="1E90FF"/>
                </a:solidFill>
              </a:defRPr>
            </a:pPr>
            <a:r>
              <a:t>Client Tier</a:t>
            </a:r>
          </a:p>
          <a:p>
            <a:pPr>
              <a:spcBef>
                <a:spcPts val="1000"/>
              </a:spcBef>
              <a:defRPr sz="1100">
                <a:solidFill>
                  <a:srgbClr val="28323C"/>
                </a:solidFill>
              </a:defRPr>
            </a:pPr>
            <a:r>
              <a:t>Future Clinic Frontend</a:t>
            </a:r>
            <a:br/>
            <a:r>
              <a:t>Desktop / Web / Mobile</a:t>
            </a:r>
            <a:br/>
            <a:br/>
            <a:r>
              <a:t>• React / Web App</a:t>
            </a:r>
            <a:br/>
            <a:r>
              <a:t>• Pure JSON-RPC Client</a:t>
            </a:r>
            <a:br/>
            <a:r>
              <a:t>• Session-based tokens</a:t>
            </a:r>
            <a:br/>
            <a:r>
              <a:t>• Zero database access</a:t>
            </a:r>
          </a:p>
        </p:txBody>
      </p:sp>
      <p:sp>
        <p:nvSpPr>
          <p:cNvPr id="6" name="Rounded Rectangle 5"/>
          <p:cNvSpPr/>
          <p:nvPr/>
        </p:nvSpPr>
        <p:spPr>
          <a:xfrm>
            <a:off x="3429000" y="1645920"/>
            <a:ext cx="2560320" cy="4389120"/>
          </a:xfrm>
          <a:prstGeom prst="roundRect">
            <a:avLst/>
          </a:prstGeom>
          <a:solidFill>
            <a:srgbClr val="F2F6FA"/>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828800"/>
            <a:ext cx="2286000" cy="3931920"/>
          </a:xfrm>
          <a:prstGeom prst="rect">
            <a:avLst/>
          </a:prstGeom>
          <a:noFill/>
        </p:spPr>
        <p:txBody>
          <a:bodyPr wrap="square">
            <a:spAutoFit/>
          </a:bodyPr>
          <a:lstStyle/>
          <a:p>
            <a:pPr>
              <a:defRPr sz="1500" b="1">
                <a:solidFill>
                  <a:srgbClr val="00A896"/>
                </a:solidFill>
              </a:defRPr>
            </a:pPr>
            <a:r>
              <a:t>Gateway Tier</a:t>
            </a:r>
          </a:p>
          <a:p>
            <a:pPr>
              <a:spcBef>
                <a:spcPts val="1000"/>
              </a:spcBef>
              <a:defRPr sz="1100">
                <a:solidFill>
                  <a:srgbClr val="28323C"/>
                </a:solidFill>
              </a:defRPr>
            </a:pPr>
            <a:r>
              <a:t>Reverse Proxy &amp; TLS</a:t>
            </a:r>
            <a:br/>
            <a:r>
              <a:t>Nginx 1.22 / GCP</a:t>
            </a:r>
            <a:br/>
            <a:br/>
            <a:r>
              <a:t>• Port 443 (HTTPS/TLS)</a:t>
            </a:r>
            <a:br/>
            <a:r>
              <a:t>• Port 80 (HTTP redirect)</a:t>
            </a:r>
            <a:br/>
            <a:r>
              <a:t>• Rate limiting &amp; buffers</a:t>
            </a:r>
            <a:br/>
            <a:r>
              <a:t>• Internal routing to 8000</a:t>
            </a:r>
          </a:p>
        </p:txBody>
      </p:sp>
      <p:sp>
        <p:nvSpPr>
          <p:cNvPr id="8" name="Rounded Rectangle 7"/>
          <p:cNvSpPr/>
          <p:nvPr/>
        </p:nvSpPr>
        <p:spPr>
          <a:xfrm>
            <a:off x="6126480" y="1645920"/>
            <a:ext cx="2560320" cy="4389120"/>
          </a:xfrm>
          <a:prstGeom prst="roundRect">
            <a:avLst/>
          </a:prstGeom>
          <a:solidFill>
            <a:srgbClr val="F2F6FA"/>
          </a:solidFill>
          <a:ln w="19050">
            <a:solidFill>
              <a:srgbClr val="1A3D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828800"/>
            <a:ext cx="2286000" cy="3931920"/>
          </a:xfrm>
          <a:prstGeom prst="rect">
            <a:avLst/>
          </a:prstGeom>
          <a:noFill/>
        </p:spPr>
        <p:txBody>
          <a:bodyPr wrap="square">
            <a:spAutoFit/>
          </a:bodyPr>
          <a:lstStyle/>
          <a:p>
            <a:pPr>
              <a:defRPr sz="1500" b="1">
                <a:solidFill>
                  <a:srgbClr val="1A3D5D"/>
                </a:solidFill>
              </a:defRPr>
            </a:pPr>
            <a:r>
              <a:t>Application Tier</a:t>
            </a:r>
          </a:p>
          <a:p>
            <a:pPr>
              <a:spcBef>
                <a:spcPts val="1000"/>
              </a:spcBef>
              <a:defRPr sz="1100">
                <a:solidFill>
                  <a:srgbClr val="28323C"/>
                </a:solidFill>
              </a:defRPr>
            </a:pPr>
            <a:r>
              <a:t>GNU Health / Tryton</a:t>
            </a:r>
            <a:br/>
            <a:r>
              <a:t>Tryton 7.0.57 / Python 3.11</a:t>
            </a:r>
            <a:br/>
            <a:br/>
            <a:r>
              <a:t>• GNU Health HMIS 5.0.6</a:t>
            </a:r>
            <a:br/>
            <a:r>
              <a:t>• 24 Active Modules</a:t>
            </a:r>
            <a:br/>
            <a:r>
              <a:t>• RBAC Engine</a:t>
            </a:r>
            <a:br/>
            <a:r>
              <a:t>• ACID Business Logic</a:t>
            </a:r>
          </a:p>
        </p:txBody>
      </p:sp>
      <p:sp>
        <p:nvSpPr>
          <p:cNvPr id="10" name="Rounded Rectangle 9"/>
          <p:cNvSpPr/>
          <p:nvPr/>
        </p:nvSpPr>
        <p:spPr>
          <a:xfrm>
            <a:off x="8823960" y="1645920"/>
            <a:ext cx="2560320" cy="4389120"/>
          </a:xfrm>
          <a:prstGeom prst="roundRect">
            <a:avLst/>
          </a:prstGeom>
          <a:solidFill>
            <a:srgbClr val="F2F6FA"/>
          </a:solidFill>
          <a:ln w="19050">
            <a:solidFill>
              <a:srgbClr val="0B19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828800"/>
            <a:ext cx="2286000" cy="3931920"/>
          </a:xfrm>
          <a:prstGeom prst="rect">
            <a:avLst/>
          </a:prstGeom>
          <a:noFill/>
        </p:spPr>
        <p:txBody>
          <a:bodyPr wrap="square">
            <a:spAutoFit/>
          </a:bodyPr>
          <a:lstStyle/>
          <a:p>
            <a:pPr>
              <a:defRPr sz="1500" b="1">
                <a:solidFill>
                  <a:srgbClr val="0B192C"/>
                </a:solidFill>
              </a:defRPr>
            </a:pPr>
            <a:r>
              <a:t>Database Tier</a:t>
            </a:r>
          </a:p>
          <a:p>
            <a:pPr>
              <a:spcBef>
                <a:spcPts val="1000"/>
              </a:spcBef>
              <a:defRPr sz="1100">
                <a:solidFill>
                  <a:srgbClr val="28323C"/>
                </a:solidFill>
              </a:defRPr>
            </a:pPr>
            <a:r>
              <a:t>Database of Record</a:t>
            </a:r>
            <a:br/>
            <a:r>
              <a:t>PostgreSQL 15.19</a:t>
            </a:r>
            <a:br/>
            <a:br/>
            <a:r>
              <a:t>• 306 Public Tables</a:t>
            </a:r>
            <a:br/>
            <a:r>
              <a:t>• Strict FK Constraints</a:t>
            </a:r>
            <a:br/>
            <a:r>
              <a:t>• Automated snapshots</a:t>
            </a:r>
            <a:br/>
            <a:r>
              <a:t>• Dedicated user: gnuhealth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100" b="1">
                <a:solidFill>
                  <a:srgbClr val="0B192C"/>
                </a:solidFill>
                <a:latin typeface="Segoe UI"/>
              </a:defRPr>
            </a:pPr>
            <a:r>
              <a:t>Live Working Environment — Deployed Cloud Interface</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Operational Tryton SAO Interface</a:t>
            </a:r>
          </a:p>
          <a:p>
            <a:pPr>
              <a:spcBef>
                <a:spcPts val="800"/>
              </a:spcBef>
              <a:defRPr sz="1050">
                <a:solidFill>
                  <a:srgbClr val="28323C"/>
                </a:solidFill>
              </a:defRPr>
            </a:pPr>
            <a:r>
              <a:t>• Host IP: `34.7.237.8` (GCP Compute Engine)</a:t>
            </a:r>
            <a:br/>
            <a:r>
              <a:t>• Web Server: Tryton SAO 7.0 Single Page App</a:t>
            </a:r>
            <a:br/>
            <a:r>
              <a:t>• Functional Currency: QAR (Qatar Riyal `ر.ق`)</a:t>
            </a:r>
            <a:br/>
            <a:r>
              <a:t>• Institution: IRISSTAR Medical Center (ID: 2)</a:t>
            </a:r>
            <a:br/>
            <a:r>
              <a:t>• Navigation Tree: Real-time clinical modules (Patients, Appointments, Prescriptions, Lab, Imaging, Financial)</a:t>
            </a:r>
            <a:br/>
            <a:r>
              <a:t>• Protocol: Native JSON-RPC 2.0 communication over private WSGI socket.</a:t>
            </a:r>
            <a:br/>
            <a:br/>
            <a:r>
              <a:t>The web desktop provides seamless, authenticated role-based operation for all clinic departments.</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DEPLOYED &amp; ACCESSIBLE</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TRYTON SAO 7.0 WEB CLIENT INTERFACE</a:t>
            </a:r>
          </a:p>
        </p:txBody>
      </p:sp>
      <p:pic>
        <p:nvPicPr>
          <p:cNvPr id="9" name="Picture 8" descr="02_dashboard.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Verified on GCP (34.7.237.8) — Administrator [QAR] session with full clinical navigation tree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100" b="1">
                <a:solidFill>
                  <a:srgbClr val="0B192C"/>
                </a:solidFill>
                <a:latin typeface="Segoe UI"/>
              </a:defRPr>
            </a:pPr>
            <a:r>
              <a:t>Backend Architecture — Tryton Core &amp; Native Modules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Tryton Kernel &amp; Execution Engine</a:t>
            </a:r>
          </a:p>
          <a:p>
            <a:pPr>
              <a:spcBef>
                <a:spcPts val="800"/>
              </a:spcBef>
              <a:defRPr sz="1100">
                <a:solidFill>
                  <a:srgbClr val="28323C"/>
                </a:solidFill>
              </a:defRPr>
            </a:pPr>
            <a:r>
              <a:t>• Model Pool (`trytond.pool.Pool`): Dynamic model registry and mixin resolution.</a:t>
            </a:r>
            <a:br/>
            <a:r>
              <a:t>• Transaction Engine (`trytond.transaction.Transaction`): ACID transaction context with thread-local connection and rollback semantics.</a:t>
            </a:r>
            <a:br/>
            <a:r>
              <a:t>• RPC Dispatcher (`trytond.protocols.jsonrpc`): Native JSON-RPC 2.0 serialization over HTTP POST.</a:t>
            </a:r>
            <a:br/>
            <a:r>
              <a:t>• Security Layer: Model access (`ir.model.access`), field access (`ir.model.field.access`), and record rules (`ir.rule`).</a:t>
            </a:r>
            <a:br/>
            <a:r>
              <a:t>• Numbering Sequences: `ir.sequence.strict` for gapless financial invoice and move numbering.</a:t>
            </a:r>
          </a:p>
        </p:txBody>
      </p:sp>
      <p:sp>
        <p:nvSpPr>
          <p:cNvPr id="6" name="Rounded Rectangle 5"/>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Installed GNU Health Modules (24 Loaded)</a:t>
            </a:r>
          </a:p>
          <a:p>
            <a:pPr>
              <a:spcBef>
                <a:spcPts val="800"/>
              </a:spcBef>
              <a:defRPr sz="1100">
                <a:solidFill>
                  <a:srgbClr val="28323C"/>
                </a:solidFill>
              </a:defRPr>
            </a:pPr>
            <a:r>
              <a:t>• Clinical Core: `health`, `health_nursing`, `health_pediatrics`, `health_lifestyle`, `health_socioeconomics`, `health_genetics`</a:t>
            </a:r>
            <a:br/>
            <a:r>
              <a:t>• Diagnostics: `health_lab`, `health_imaging`, `health_icd10` (14,416 WHO codes)</a:t>
            </a:r>
            <a:br/>
            <a:r>
              <a:t>• Inpatient &amp; Surgery: `health_inpatient`, `health_surgery`, `health_gyneco`</a:t>
            </a:r>
            <a:br/>
            <a:r>
              <a:t>• Financial &amp; Commercial: `health_services`, `health_insurance`, `account_invoice`, `account_product`</a:t>
            </a:r>
            <a:br/>
            <a:r>
              <a:t>• Tryton Foundation: `account`, `company`, `party`, `currency`, `country`, `product`, `res`, `ir`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2: ARCHITECTURE</a:t>
            </a:r>
          </a:p>
          <a:p>
            <a:pPr>
              <a:defRPr sz="2100" b="1">
                <a:solidFill>
                  <a:srgbClr val="0B192C"/>
                </a:solidFill>
                <a:latin typeface="Segoe UI"/>
              </a:defRPr>
            </a:pPr>
            <a:r>
              <a:t>Database Architecture — PostgreSQL 15 Relational Core</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329184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2926080" cy="4297680"/>
          </a:xfrm>
          <a:prstGeom prst="rect">
            <a:avLst/>
          </a:prstGeom>
          <a:noFill/>
        </p:spPr>
        <p:txBody>
          <a:bodyPr wrap="square">
            <a:spAutoFit/>
          </a:bodyPr>
          <a:lstStyle/>
          <a:p>
            <a:pPr>
              <a:defRPr sz="1600" b="1">
                <a:solidFill>
                  <a:srgbClr val="0B192C"/>
                </a:solidFill>
              </a:defRPr>
            </a:pPr>
            <a:r>
              <a:t>Database Metrics</a:t>
            </a:r>
          </a:p>
          <a:p>
            <a:pPr>
              <a:spcBef>
                <a:spcPts val="800"/>
              </a:spcBef>
              <a:defRPr sz="1100">
                <a:solidFill>
                  <a:srgbClr val="28323C"/>
                </a:solidFill>
              </a:defRPr>
            </a:pPr>
            <a:r>
              <a:t>• Database: `gnuhealth`</a:t>
            </a:r>
            <a:br/>
            <a:r>
              <a:t>• Engine: PostgreSQL 15.19</a:t>
            </a:r>
            <a:br/>
            <a:r>
              <a:t>• Size: 124 MB</a:t>
            </a:r>
            <a:br/>
            <a:r>
              <a:t>• Public Tables: 306</a:t>
            </a:r>
            <a:br/>
            <a:r>
              <a:t>• Foreign Key Chains: 12 Audited</a:t>
            </a:r>
            <a:br/>
            <a:r>
              <a:t>• Orphan Records: 0 (100% clean)</a:t>
            </a:r>
            <a:br/>
            <a:r>
              <a:t>• Encoding: UTF8 / C collation</a:t>
            </a:r>
            <a:br/>
            <a:r>
              <a:t>• Isolation: Dedicated Linux user `gnuhealth`</a:t>
            </a:r>
          </a:p>
        </p:txBody>
      </p:sp>
      <p:sp>
        <p:nvSpPr>
          <p:cNvPr id="6" name="Rounded Rectangle 5"/>
          <p:cNvSpPr/>
          <p:nvPr/>
        </p:nvSpPr>
        <p:spPr>
          <a:xfrm>
            <a:off x="914400" y="5394960"/>
            <a:ext cx="1280160" cy="3200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306 TABLES</a:t>
            </a:r>
          </a:p>
        </p:txBody>
      </p:sp>
      <p:sp>
        <p:nvSpPr>
          <p:cNvPr id="7" name="Rounded Rectangle 6"/>
          <p:cNvSpPr/>
          <p:nvPr/>
        </p:nvSpPr>
        <p:spPr>
          <a:xfrm>
            <a:off x="4389120" y="1554480"/>
            <a:ext cx="70408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37360"/>
            <a:ext cx="6675120" cy="4297680"/>
          </a:xfrm>
          <a:prstGeom prst="rect">
            <a:avLst/>
          </a:prstGeom>
          <a:noFill/>
        </p:spPr>
        <p:txBody>
          <a:bodyPr wrap="square">
            <a:spAutoFit/>
          </a:bodyPr>
          <a:lstStyle/>
          <a:p>
            <a:pPr>
              <a:defRPr sz="1600" b="1">
                <a:solidFill>
                  <a:srgbClr val="0B192C"/>
                </a:solidFill>
              </a:defRPr>
            </a:pPr>
            <a:r>
              <a:t>Core Relational Tables &amp; Referential Integrity</a:t>
            </a:r>
          </a:p>
          <a:p>
            <a:pPr>
              <a:spcBef>
                <a:spcPts val="200"/>
              </a:spcBef>
              <a:defRPr sz="1000">
                <a:solidFill>
                  <a:srgbClr val="28323C"/>
                </a:solidFill>
              </a:defRPr>
            </a:pPr>
            <a:r>
              <a:t>• party_party: Master legal entity for persons, patients, clinicians, suppliers, insurance companies.</a:t>
            </a:r>
          </a:p>
          <a:p>
            <a:pPr>
              <a:spcBef>
                <a:spcPts val="200"/>
              </a:spcBef>
              <a:defRPr sz="1000">
                <a:solidFill>
                  <a:srgbClr val="28323C"/>
                </a:solidFill>
              </a:defRPr>
            </a:pPr>
            <a:r>
              <a:t>• gnuhealth_patient: Clinical patient extension linked to party_party via strict foreign key.</a:t>
            </a:r>
          </a:p>
          <a:p>
            <a:pPr>
              <a:spcBef>
                <a:spcPts val="200"/>
              </a:spcBef>
              <a:defRPr sz="1000">
                <a:solidFill>
                  <a:srgbClr val="28323C"/>
                </a:solidFill>
              </a:defRPr>
            </a:pPr>
            <a:r>
              <a:t>• gnuhealth_appointment: Outpatient scheduling, resource allocation, and clinical queue states.</a:t>
            </a:r>
          </a:p>
          <a:p>
            <a:pPr>
              <a:spcBef>
                <a:spcPts val="200"/>
              </a:spcBef>
              <a:defRPr sz="1000">
                <a:solidFill>
                  <a:srgbClr val="28323C"/>
                </a:solidFill>
              </a:defRPr>
            </a:pPr>
            <a:r>
              <a:t>• gnuhealth_patient_evaluation: Clinical encounter record: SOAP notes, vital signs, physical exam, diagnosis.</a:t>
            </a:r>
          </a:p>
          <a:p>
            <a:pPr>
              <a:spcBef>
                <a:spcPts val="200"/>
              </a:spcBef>
              <a:defRPr sz="1000">
                <a:solidFill>
                  <a:srgbClr val="28323C"/>
                </a:solidFill>
              </a:defRPr>
            </a:pPr>
            <a:r>
              <a:t>• gnuhealth_prescription_order: Medication orders, dosage, route, duration, frequency, pharmacy dispense.</a:t>
            </a:r>
          </a:p>
          <a:p>
            <a:pPr>
              <a:spcBef>
                <a:spcPts val="200"/>
              </a:spcBef>
              <a:defRPr sz="1000">
                <a:solidFill>
                  <a:srgbClr val="28323C"/>
                </a:solidFill>
              </a:defRPr>
            </a:pPr>
            <a:r>
              <a:t>• gnuhealth_lab / gnuhealth_lab_test: Laboratory orders, test requests, result entry, reference ranges, validation.</a:t>
            </a:r>
          </a:p>
          <a:p>
            <a:pPr>
              <a:spcBef>
                <a:spcPts val="200"/>
              </a:spcBef>
              <a:defRPr sz="1000">
                <a:solidFill>
                  <a:srgbClr val="28323C"/>
                </a:solidFill>
              </a:defRPr>
            </a:pPr>
            <a:r>
              <a:t>• gnuhealth_imaging_test_request: Radiology orders, procedure scheduling, imaging findings, sign-off.</a:t>
            </a:r>
          </a:p>
          <a:p>
            <a:pPr>
              <a:spcBef>
                <a:spcPts val="200"/>
              </a:spcBef>
              <a:defRPr sz="1000">
                <a:solidFill>
                  <a:srgbClr val="28323C"/>
                </a:solidFill>
              </a:defRPr>
            </a:pPr>
            <a:r>
              <a:t>• gnuhealth_health_service: Charge aggregation linking clinical items to product chargemaster tariffs.</a:t>
            </a:r>
          </a:p>
          <a:p>
            <a:pPr>
              <a:spcBef>
                <a:spcPts val="200"/>
              </a:spcBef>
              <a:defRPr sz="1000">
                <a:solidFill>
                  <a:srgbClr val="28323C"/>
                </a:solidFill>
              </a:defRPr>
            </a:pPr>
            <a:r>
              <a:t>• account_invoice / account_invoice_line: Commercial patient invoices, receivable tracking, sequence numbering.</a:t>
            </a:r>
          </a:p>
          <a:p>
            <a:pPr>
              <a:spcBef>
                <a:spcPts val="200"/>
              </a:spcBef>
              <a:defRPr sz="1000">
                <a:solidFill>
                  <a:srgbClr val="28323C"/>
                </a:solidFill>
              </a:defRPr>
            </a:pPr>
            <a:r>
              <a:t>• account_move / account_move_line: Double-entry general ledger journal entries (debit/credit balanced).</a:t>
            </a:r>
          </a:p>
          <a:p>
            <a:pPr>
              <a:spcBef>
                <a:spcPts val="200"/>
              </a:spcBef>
              <a:defRPr sz="1000">
                <a:solidFill>
                  <a:srgbClr val="28323C"/>
                </a:solidFill>
              </a:defRPr>
            </a:pPr>
            <a:r>
              <a:t>• account_move_reconciliation: Receivables settlement matching invoice moves to payment moves.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3: SECURITY &amp; RBAC</a:t>
            </a:r>
          </a:p>
          <a:p>
            <a:pPr>
              <a:defRPr sz="2100" b="1">
                <a:solidFill>
                  <a:srgbClr val="0B192C"/>
                </a:solidFill>
                <a:latin typeface="Segoe UI"/>
              </a:defRPr>
            </a:pPr>
            <a:r>
              <a:t>User Roles &amp; RBAC — Operational Health Professionals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Clinical Role Segregation</a:t>
            </a:r>
          </a:p>
          <a:p>
            <a:pPr>
              <a:spcBef>
                <a:spcPts val="800"/>
              </a:spcBef>
              <a:defRPr sz="1050">
                <a:solidFill>
                  <a:srgbClr val="28323C"/>
                </a:solidFill>
              </a:defRPr>
            </a:pPr>
            <a:r>
              <a:t>• Reception (`demo_frontdesk1`): Demographics, appointment booking, patient check-in.</a:t>
            </a:r>
            <a:br/>
            <a:r>
              <a:t>• Nursing (`demo_nurse1`): Triage queue, vital signs, physiological measurements.</a:t>
            </a:r>
            <a:br/>
            <a:r>
              <a:t>• Physician (`demo_dr1` / `demo_dr2`): Consultation, SOAP notes, ICD-10, prescriptions, lab/rad orders.</a:t>
            </a:r>
            <a:br/>
            <a:r>
              <a:t>• Laboratory (`demo_lab1`): Diagnostic orders, specimen analysis, result validation.</a:t>
            </a:r>
            <a:br/>
            <a:r>
              <a:t>• Radiology (`demo_rad1`): Imaging execution, diagnostic reporting.</a:t>
            </a:r>
            <a:br/>
            <a:r>
              <a:t>• Cashier (`demo_cashier1`): Invoice posting, cash collection, ledger moves.</a:t>
            </a:r>
          </a:p>
        </p:txBody>
      </p:sp>
      <p:sp>
        <p:nvSpPr>
          <p:cNvPr id="6" name="Rounded Rectangle 5"/>
          <p:cNvSpPr/>
          <p:nvPr/>
        </p:nvSpPr>
        <p:spPr>
          <a:xfrm>
            <a:off x="9144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LEAST PRIVILEGE ENFORCED</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HEALTH PROFESSIONALS REGISTRY</a:t>
            </a:r>
          </a:p>
        </p:txBody>
      </p:sp>
      <p:pic>
        <p:nvPicPr>
          <p:cNvPr id="9" name="Picture 8" descr="10_health_professionals.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Audited database entities: Dr. DEMO Physician 01, Dr. DEMO Physician 02, Nurse, Lab Tech, Rad Tech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3: SECURITY &amp; RBAC</a:t>
            </a:r>
          </a:p>
          <a:p>
            <a:pPr>
              <a:defRPr sz="2100" b="1">
                <a:solidFill>
                  <a:srgbClr val="0B192C"/>
                </a:solidFill>
                <a:latin typeface="Segoe UI"/>
              </a:defRPr>
            </a:pPr>
            <a:r>
              <a:t>Security Model — Authentication &amp; Brute-Force Rate Limiting</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Authentication &amp; Rate Defense</a:t>
            </a:r>
          </a:p>
          <a:p>
            <a:pPr>
              <a:spcBef>
                <a:spcPts val="800"/>
              </a:spcBef>
              <a:defRPr sz="1050">
                <a:solidFill>
                  <a:srgbClr val="28323C"/>
                </a:solidFill>
              </a:defRPr>
            </a:pPr>
            <a:r>
              <a:t>• SCRAM-SHA-256: PostgreSQL database authentication layer.</a:t>
            </a:r>
            <a:br/>
            <a:r>
              <a:t>• Modern Hashing: Passlib Argon2 / scrypt hashes with unique per-user salts.</a:t>
            </a:r>
            <a:br/>
            <a:r>
              <a:t>• Rate Limiter (`res.user.login.attempt`): Automatically throttles and locks out repeated failed login attempts.</a:t>
            </a:r>
            <a:br/>
            <a:r>
              <a:t>• Session Tokens: 64-character cryptographic tokens issued via `common.db.login`.</a:t>
            </a:r>
            <a:br/>
            <a:r>
              <a:t>• Zero Privilege Escalation: Non-admin roles strictly blocked from administrative tables.</a:t>
            </a:r>
          </a:p>
        </p:txBody>
      </p:sp>
      <p:sp>
        <p:nvSpPr>
          <p:cNvPr id="6" name="Rounded Rectangle 5"/>
          <p:cNvSpPr/>
          <p:nvPr/>
        </p:nvSpPr>
        <p:spPr>
          <a:xfrm>
            <a:off x="9144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AUTHENTICATION HARDENED</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TRYTON SAO LOGIN GATEWAY ON GCP</a:t>
            </a:r>
          </a:p>
        </p:txBody>
      </p:sp>
      <p:pic>
        <p:nvPicPr>
          <p:cNvPr id="9" name="Picture 8" descr="01_login.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Native authentication modal on http://34.7.237.8/ with two-step credential challenge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3: SECURITY &amp; RBAC</a:t>
            </a:r>
          </a:p>
          <a:p>
            <a:pPr>
              <a:defRPr sz="2100" b="1">
                <a:solidFill>
                  <a:srgbClr val="0B192C"/>
                </a:solidFill>
                <a:latin typeface="Segoe UI"/>
              </a:defRPr>
            </a:pPr>
            <a:r>
              <a:t>Live Testing &amp; UAT — Operational Demonstration Credentials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400" b="1">
                <a:solidFill>
                  <a:srgbClr val="0B192C"/>
                </a:solidFill>
              </a:defRPr>
            </a:pPr>
            <a:r>
              <a:t>Active Operational Credentials for Hands-On Stakeholder &amp; Team Testing (http://34.7.237.8/)</a:t>
            </a:r>
          </a:p>
          <a:p>
            <a:pPr>
              <a:spcBef>
                <a:spcPts val="300"/>
              </a:spcBef>
              <a:defRPr sz="1050">
                <a:solidFill>
                  <a:srgbClr val="28323C"/>
                </a:solidFill>
                <a:latin typeface="Consolas"/>
              </a:defRPr>
            </a:pPr>
            <a:r>
              <a:t>• Administrator            | Login: admin            | Password: Admin12345!     | Scope: Full configuration, chart of accounts, module management</a:t>
            </a:r>
          </a:p>
          <a:p>
            <a:pPr>
              <a:spcBef>
                <a:spcPts val="300"/>
              </a:spcBef>
              <a:defRPr sz="1050">
                <a:solidFill>
                  <a:srgbClr val="28323C"/>
                </a:solidFill>
                <a:latin typeface="Consolas"/>
              </a:defRPr>
            </a:pPr>
            <a:r>
              <a:t>• Attending Physician 01   | Login: demo_dr1         | Password: Doctor2026!     | Scope: Clinical evaluations, SOAP notes, ICD-10, prescriptions, lab/rad requests</a:t>
            </a:r>
          </a:p>
          <a:p>
            <a:pPr>
              <a:spcBef>
                <a:spcPts val="300"/>
              </a:spcBef>
              <a:defRPr sz="1050">
                <a:solidFill>
                  <a:srgbClr val="28323C"/>
                </a:solidFill>
                <a:latin typeface="Consolas"/>
              </a:defRPr>
            </a:pPr>
            <a:r>
              <a:t>• Attending Physician 02   | Login: demo_dr2         | Password: Doctor2026!     | Scope: Secondary clinical practitioner consultations</a:t>
            </a:r>
          </a:p>
          <a:p>
            <a:pPr>
              <a:spcBef>
                <a:spcPts val="300"/>
              </a:spcBef>
              <a:defRPr sz="1050">
                <a:solidFill>
                  <a:srgbClr val="28323C"/>
                </a:solidFill>
                <a:latin typeface="Consolas"/>
              </a:defRPr>
            </a:pPr>
            <a:r>
              <a:t>• Triage Nurse             | Login: demo_nurse1      | Password: Nurse2026!      | Scope: Nursing triage queue, vital signs (BP, HR, Temp, SpO2, BMI)</a:t>
            </a:r>
          </a:p>
          <a:p>
            <a:pPr>
              <a:spcBef>
                <a:spcPts val="300"/>
              </a:spcBef>
              <a:defRPr sz="1050">
                <a:solidFill>
                  <a:srgbClr val="28323C"/>
                </a:solidFill>
                <a:latin typeface="Consolas"/>
              </a:defRPr>
            </a:pPr>
            <a:r>
              <a:t>• Clinic Receptionist      | Login: demo_frontdesk1  | Password: FrontDesk2026!  | Scope: Patient search &amp; registration, appointment booking, check-in</a:t>
            </a:r>
          </a:p>
          <a:p>
            <a:pPr>
              <a:spcBef>
                <a:spcPts val="300"/>
              </a:spcBef>
              <a:defRPr sz="1050">
                <a:solidFill>
                  <a:srgbClr val="28323C"/>
                </a:solidFill>
                <a:latin typeface="Consolas"/>
              </a:defRPr>
            </a:pPr>
            <a:r>
              <a:t>• Billing Cashier          | Login: demo_cashier1    | Password: Cashier2026!    | Scope: Invoice generation, payment posting, cash journal settlement</a:t>
            </a:r>
          </a:p>
          <a:p>
            <a:pPr>
              <a:spcBef>
                <a:spcPts val="300"/>
              </a:spcBef>
              <a:defRPr sz="1050">
                <a:solidFill>
                  <a:srgbClr val="28323C"/>
                </a:solidFill>
                <a:latin typeface="Consolas"/>
              </a:defRPr>
            </a:pPr>
            <a:r>
              <a:t>• Laboratory Specialist    | Login: demo_lab1        | Password: Lab2026!        | Scope: Lab test queues, specimen accessioning, CBC/Semen result validation</a:t>
            </a:r>
          </a:p>
          <a:p>
            <a:pPr>
              <a:spcBef>
                <a:spcPts val="300"/>
              </a:spcBef>
              <a:defRPr sz="1050">
                <a:solidFill>
                  <a:srgbClr val="28323C"/>
                </a:solidFill>
                <a:latin typeface="Consolas"/>
              </a:defRPr>
            </a:pPr>
            <a:r>
              <a:t>• Radiology Specialist     | Login: demo_rad1        | Password: Rad2026!        | Scope: Medical imaging orders, radiology findings, procedure completion</a:t>
            </a:r>
          </a:p>
        </p:txBody>
      </p:sp>
      <p:sp>
        <p:nvSpPr>
          <p:cNvPr id="6" name="Rounded Rectangle 5"/>
          <p:cNvSpPr/>
          <p:nvPr/>
        </p:nvSpPr>
        <p:spPr>
          <a:xfrm>
            <a:off x="1005840" y="566928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IMMEDIATE ACCESS READY</a:t>
            </a:r>
          </a:p>
        </p:txBody>
      </p:sp>
      <p:sp>
        <p:nvSpPr>
          <p:cNvPr id="7" name="Rounded Rectangle 6"/>
          <p:cNvSpPr/>
          <p:nvPr/>
        </p:nvSpPr>
        <p:spPr>
          <a:xfrm>
            <a:off x="3383280" y="5669280"/>
            <a:ext cx="2194560" cy="3200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ALL PASSWORDS VERIFIED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Patient Registration — Identity &amp; Constraint Enforcement</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Certified Registration Model</a:t>
            </a:r>
          </a:p>
          <a:p>
            <a:pPr>
              <a:spcBef>
                <a:spcPts val="800"/>
              </a:spcBef>
              <a:defRPr sz="1050">
                <a:solidFill>
                  <a:srgbClr val="28323C"/>
                </a:solidFill>
              </a:defRPr>
            </a:pPr>
            <a:r>
              <a:t>• Patient Record: `gnuhealth.patient`</a:t>
            </a:r>
            <a:br/>
            <a:r>
              <a:t>• Legal Entity: `party.party`</a:t>
            </a:r>
            <a:br/>
            <a:r>
              <a:t>• Unique PUID: `E2E-CERT-FINAL-QID-184439`</a:t>
            </a:r>
            <a:br/>
            <a:r>
              <a:t>• Qatar National ID: Mapped to party identifier</a:t>
            </a:r>
            <a:br/>
            <a:r>
              <a:t>• Demographic Integrity: Age, Gender, Address</a:t>
            </a:r>
            <a:br/>
            <a:r>
              <a:t>• Unique Constraints: Duplicate QID rejected cleanly by PostgreSQL (`PAT-02 PASS`)</a:t>
            </a:r>
            <a:br/>
            <a:r>
              <a:t>• Referential Integrity: Zero orphaned party rows.</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PAT-01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PATIENT REGISTRY (HEALTH / PATIENTS)</a:t>
            </a:r>
          </a:p>
        </p:txBody>
      </p:sp>
      <p:pic>
        <p:nvPicPr>
          <p:cNvPr id="9" name="Picture 8" descr="03_patient_created.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Real patient record showing LIVE E2E TEST PATIENT, auto-generated PUID KQI816APL, and verified demographics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Appointment Workflow — Scheduling &amp; Queue Management</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Appointment Transitions</a:t>
            </a:r>
          </a:p>
          <a:p>
            <a:pPr>
              <a:spcBef>
                <a:spcPts val="800"/>
              </a:spcBef>
              <a:defRPr sz="1050">
                <a:solidFill>
                  <a:srgbClr val="28323C"/>
                </a:solidFill>
              </a:defRPr>
            </a:pPr>
            <a:r>
              <a:t>• State 1: `free` (Slot opened on doctor calendar)</a:t>
            </a:r>
            <a:br/>
            <a:r>
              <a:t>• State 2: `confirmed` (Booked for patient)</a:t>
            </a:r>
            <a:br/>
            <a:r>
              <a:t>• State 3: `checked_in` (Arrival marked by front desk)</a:t>
            </a:r>
            <a:br/>
            <a:r>
              <a:t>• State 4: `done` (Triggered upon consultation sign-off)</a:t>
            </a:r>
            <a:br/>
            <a:r>
              <a:t>• Resource Locking: Doctor double-booking blocked</a:t>
            </a:r>
            <a:br/>
            <a:r>
              <a:t>• Queue Routing: Check-in automatically enqueues into triage.</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APT-01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OUTPATIENT APPOINTMENT CALENDAR &amp; SCHEDULE</a:t>
            </a:r>
          </a:p>
        </p:txBody>
      </p:sp>
      <p:pic>
        <p:nvPicPr>
          <p:cNvPr id="9" name="Picture 8" descr="04_appointment_created.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Live appointment record for LIVE E2E TEST PATIENT scheduled with Dr. DEMO Physician 01, Family Medicine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Check-in — Clinic Front Desk Reception &amp; Queue Management</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Operational Front Desk Check-in</a:t>
            </a:r>
          </a:p>
          <a:p>
            <a:pPr>
              <a:spcBef>
                <a:spcPts val="800"/>
              </a:spcBef>
              <a:defRPr sz="1050">
                <a:solidFill>
                  <a:srgbClr val="28323C"/>
                </a:solidFill>
              </a:defRPr>
            </a:pPr>
            <a:r>
              <a:t>• Patient Identification: Identity verified against patient registry.</a:t>
            </a:r>
            <a:br/>
            <a:r>
              <a:t>• Appointment Lookup: Scheduled encounter opened in SAO interface.</a:t>
            </a:r>
            <a:br/>
            <a:r>
              <a:t>• Status Transition: Reception executes 'CHECK IN' action button.</a:t>
            </a:r>
            <a:br/>
            <a:r>
              <a:t>• State Transition: Appointment status updates to `checked_in`.</a:t>
            </a:r>
            <a:br/>
            <a:r>
              <a:t>• Nursing Handoff: Patient routed immediately to triage queue.</a:t>
            </a:r>
            <a:br/>
            <a:r>
              <a:t>• Privilege Isolation: Reception cannot edit clinical notes or diagnoses.</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STATE: CHECKED_IN</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PATIENT CHECK-IN ACTION TRANSITION</a:t>
            </a:r>
          </a:p>
        </p:txBody>
      </p:sp>
      <p:pic>
        <p:nvPicPr>
          <p:cNvPr id="9" name="Picture 8" descr="05_patient_checked_in.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Real appointment state transitioned to 'Checked in' via native Tryton SAO action button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Nursing Triage — Vitals Recording &amp; Physiological Tracking</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Vital Signs &amp; Clinical Triage</a:t>
            </a:r>
          </a:p>
          <a:p>
            <a:pPr>
              <a:spcBef>
                <a:spcPts val="800"/>
              </a:spcBef>
              <a:defRPr sz="1050">
                <a:solidFill>
                  <a:srgbClr val="28323C"/>
                </a:solidFill>
              </a:defRPr>
            </a:pPr>
            <a:r>
              <a:t>• Blood Pressure: 118 / 78 mmHg (Normal)</a:t>
            </a:r>
            <a:br/>
            <a:r>
              <a:t>• Heart Rate: 74 bpm | Respiratory Rate: 16 /min</a:t>
            </a:r>
            <a:br/>
            <a:r>
              <a:t>• Temperature: 37.1 °C | Oxygen Saturation: 99%</a:t>
            </a:r>
            <a:br/>
            <a:r>
              <a:t>• Anthropometry: Weight 72.5 kg, Height 176.0 cm</a:t>
            </a:r>
            <a:br/>
            <a:r>
              <a:t>• Auto-calculated BMI: 23.4 kg/m² (Normal range)</a:t>
            </a:r>
            <a:br/>
            <a:r>
              <a:t>• Chief Complaint: Recorded in evaluation context</a:t>
            </a:r>
            <a:br/>
            <a:r>
              <a:t>• State Transition: Evaluation set to `in_progress`.</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TRG-01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OUTPATIENT EVALUATIONS REGISTRY</a:t>
            </a:r>
          </a:p>
        </p:txBody>
      </p:sp>
      <p:pic>
        <p:nvPicPr>
          <p:cNvPr id="9" name="Picture 8" descr="06_nursing_triage.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Evaluation EVAL 2026/000050 showing vitals (BP 120/80, HR 72, 37.0 C) and auto-calculated BMI 22.9 kg/m2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Physician Consultation — SOAP Notes &amp; EMR Encounter</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Clinical SOAP Documentation</a:t>
            </a:r>
          </a:p>
          <a:p>
            <a:pPr>
              <a:spcBef>
                <a:spcPts val="800"/>
              </a:spcBef>
              <a:defRPr sz="1050">
                <a:solidFill>
                  <a:srgbClr val="28323C"/>
                </a:solidFill>
              </a:defRPr>
            </a:pPr>
            <a:r>
              <a:t>• Subjective (S): History of Present Illness (HPI)</a:t>
            </a:r>
            <a:br/>
            <a:r>
              <a:t>• Objective (O): Physical examination findings</a:t>
            </a:r>
            <a:br/>
            <a:r>
              <a:t>• Assessment (A): Primary clinical diagnosis</a:t>
            </a:r>
            <a:br/>
            <a:r>
              <a:t>• Plan (P): Prescription orders &amp; diagnostic requests</a:t>
            </a:r>
            <a:br/>
            <a:r>
              <a:t>• Practitioner Attribution: Bound to Dr. DEMO (`healthprof,71`)</a:t>
            </a:r>
            <a:br/>
            <a:r>
              <a:t>• Digital Sign-off: Locks evaluation into immutable state</a:t>
            </a:r>
            <a:br/>
            <a:r>
              <a:t>• Appointment Closure: Automatically marks visit `done`.</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CLN-01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ELECTRONIC MEDICAL RECORD (EMR) FORM VIEW</a:t>
            </a:r>
          </a:p>
        </p:txBody>
      </p:sp>
      <p:pic>
        <p:nvPicPr>
          <p:cNvPr id="9" name="Picture 8" descr="07_physician_consultation.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Consultation EVAL 2026/000050 with SOAP clinical notes, ICD-10 J06.9 diagnosis, and discharge to Home / Selfcare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ICD-10 Diagnosis — WHO Pathology Coding Standards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Authoritative WHO ICD-10 Catalog</a:t>
            </a:r>
          </a:p>
          <a:p>
            <a:pPr>
              <a:spcBef>
                <a:spcPts val="800"/>
              </a:spcBef>
              <a:defRPr sz="1100">
                <a:solidFill>
                  <a:srgbClr val="28323C"/>
                </a:solidFill>
              </a:defRPr>
            </a:pPr>
            <a:r>
              <a:t>• Preloaded Ontologies: 14,416 active WHO ICD-10 codes in `gnuhealth_pathology`.</a:t>
            </a:r>
            <a:br/>
            <a:r>
              <a:t>• Certified Encounter Diagnosis: `J06.9` ('Acute upper respiratory infection, unspecified').</a:t>
            </a:r>
            <a:br/>
            <a:r>
              <a:t>• Diagnosis Link: Attached to Evaluation and added to `gnuhealth.patient.disease`.</a:t>
            </a:r>
            <a:br/>
            <a:r>
              <a:t>• Medical History: Persistent disease record tracked across patient lifetime encounters.</a:t>
            </a:r>
          </a:p>
        </p:txBody>
      </p:sp>
      <p:sp>
        <p:nvSpPr>
          <p:cNvPr id="6" name="Rounded Rectangle 5"/>
          <p:cNvSpPr/>
          <p:nvPr/>
        </p:nvSpPr>
        <p:spPr>
          <a:xfrm>
            <a:off x="914400" y="5394960"/>
            <a:ext cx="2194560" cy="3200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ICD-10: J06.9 BOUND</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28A745"/>
                </a:solidFill>
              </a:defRPr>
            </a:pPr>
            <a:r>
              <a:t>Negative Validation Test (ICD-02 PASS)</a:t>
            </a:r>
          </a:p>
          <a:p>
            <a:pPr>
              <a:spcBef>
                <a:spcPts val="800"/>
              </a:spcBef>
              <a:defRPr sz="1100">
                <a:solidFill>
                  <a:srgbClr val="28323C"/>
                </a:solidFill>
              </a:defRPr>
            </a:pPr>
            <a:r>
              <a:t>• Test: Binding fictitious diagnosis code (`INVALID-ICD10-CODE-9999`)</a:t>
            </a:r>
            <a:br/>
            <a:r>
              <a:t>• Expected: Rejection due to foreign key non-existence</a:t>
            </a:r>
            <a:br/>
            <a:r>
              <a:t>• Actual: Backend rejected transaction cleanly</a:t>
            </a:r>
            <a:br/>
            <a:r>
              <a:t>• Guarantee: Fictitious medical codes can never be entered into clinical history.</a:t>
            </a:r>
          </a:p>
        </p:txBody>
      </p:sp>
      <p:sp>
        <p:nvSpPr>
          <p:cNvPr id="9" name="Rounded Rectangle 8"/>
          <p:cNvSpPr/>
          <p:nvPr/>
        </p:nvSpPr>
        <p:spPr>
          <a:xfrm>
            <a:off x="64008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INVALID CODE BLOCKED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4: CLINICAL LIFECYCLE</a:t>
            </a:r>
          </a:p>
          <a:p>
            <a:pPr>
              <a:defRPr sz="2100" b="1">
                <a:solidFill>
                  <a:srgbClr val="0B192C"/>
                </a:solidFill>
                <a:latin typeface="Segoe UI"/>
              </a:defRPr>
            </a:pPr>
            <a:r>
              <a:t>Prescription — Medication Formulation &amp; Safety Rules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Electronic Prescribing</a:t>
            </a:r>
          </a:p>
          <a:p>
            <a:pPr>
              <a:spcBef>
                <a:spcPts val="800"/>
              </a:spcBef>
              <a:defRPr sz="1050">
                <a:solidFill>
                  <a:srgbClr val="28323C"/>
                </a:solidFill>
              </a:defRPr>
            </a:pPr>
            <a:r>
              <a:t>• Prescription Order: `gnuhealth.prescription.order`</a:t>
            </a:r>
            <a:br/>
            <a:r>
              <a:t>• Formulation: Amoxicillin 500mg Oral Capsule</a:t>
            </a:r>
            <a:br/>
            <a:r>
              <a:t>• Dosage: 1 capsule every 8 hours for 7 days</a:t>
            </a:r>
            <a:br/>
            <a:r>
              <a:t>• Prescribing Physician: Dr. DEMO (`healthprof,71`)</a:t>
            </a:r>
            <a:br/>
            <a:r>
              <a:t>• Safety Rules: Enforces valid medicament, dosage, and licensed prescriber signature.</a:t>
            </a:r>
            <a:br/>
            <a:r>
              <a:t>• Negative Test: Unauthorized prescription write by front desk blocked (`RX-02 PASS`).</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RX-01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PRESCRIPTIONS REGISTRY (HEALTH / PRESCRIPTIONS)</a:t>
            </a:r>
          </a:p>
        </p:txBody>
      </p:sp>
      <p:pic>
        <p:nvPicPr>
          <p:cNvPr id="9" name="Picture 8" descr="08_prescription.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Electronic prescription PRES 2026/000044 for Amoxicillin 500mg with Safety Verified check and doctor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5: DIAGNOSTICS</a:t>
            </a:r>
          </a:p>
          <a:p>
            <a:pPr>
              <a:defRPr sz="2100" b="1">
                <a:solidFill>
                  <a:srgbClr val="0B192C"/>
                </a:solidFill>
                <a:latin typeface="Segoe UI"/>
              </a:defRPr>
            </a:pPr>
            <a:r>
              <a:t>Laboratory Workflow — Test Orders &amp; Results Validation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Diagnostic Lab Cycle</a:t>
            </a:r>
          </a:p>
          <a:p>
            <a:pPr>
              <a:spcBef>
                <a:spcPts val="800"/>
              </a:spcBef>
              <a:defRPr sz="1050">
                <a:solidFill>
                  <a:srgbClr val="28323C"/>
                </a:solidFill>
              </a:defRPr>
            </a:pPr>
            <a:r>
              <a:t>• Test Catalog: Complete Blood Count (CBC), Semen Analysis, Endocrine panel</a:t>
            </a:r>
            <a:br/>
            <a:r>
              <a:t>• Specimen Accessioning: Blood / Serum tracking</a:t>
            </a:r>
            <a:br/>
            <a:r>
              <a:t>• Quantitative Results: Hemoglobin, Platelets, WBC</a:t>
            </a:r>
            <a:br/>
            <a:r>
              <a:t>• Reference Ranges: Automated normal/flag bounds</a:t>
            </a:r>
            <a:br/>
            <a:r>
              <a:t>• Lab Sign-Off: State transitions to `validated`</a:t>
            </a:r>
            <a:br/>
            <a:r>
              <a:t>• Service Linking: Generates billable lab charge for cashier.</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LAB-01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LABORATORY ANALYSIS RESULTS (HEALTH / LABORATORY)</a:t>
            </a:r>
          </a:p>
        </p:txBody>
      </p:sp>
      <p:pic>
        <p:nvPicPr>
          <p:cNvPr id="9" name="Picture 8" descr="09_laboratory.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CBC lab test TEST037 with 20 criteria analytes loaded, HGB 14.1 g/dL recorded, and state transitioned to Done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5: DIAGNOSTICS</a:t>
            </a:r>
          </a:p>
          <a:p>
            <a:pPr>
              <a:defRPr sz="2100" b="1">
                <a:solidFill>
                  <a:srgbClr val="0B192C"/>
                </a:solidFill>
                <a:latin typeface="Segoe UI"/>
              </a:defRPr>
            </a:pPr>
            <a:r>
              <a:t>Radiology Workflow — Medical Imaging Orders &amp; Reports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Diagnostic Imaging Lifecycle</a:t>
            </a:r>
          </a:p>
          <a:p>
            <a:pPr>
              <a:spcBef>
                <a:spcPts val="800"/>
              </a:spcBef>
              <a:defRPr sz="1050">
                <a:solidFill>
                  <a:srgbClr val="28323C"/>
                </a:solidFill>
              </a:defRPr>
            </a:pPr>
            <a:r>
              <a:t>• Order Entity: `gnuhealth.imaging.test.request`</a:t>
            </a:r>
            <a:br/>
            <a:r>
              <a:t>• Diagnostic Modality: Chest X-Ray (PA view)</a:t>
            </a:r>
            <a:br/>
            <a:r>
              <a:t>• Study Order: Order 032 requested for patient</a:t>
            </a:r>
            <a:br/>
            <a:r>
              <a:t>• Technician Evaluation: DEMO Radiology Technician 01</a:t>
            </a:r>
            <a:br/>
            <a:r>
              <a:t>• Imaging Findings: Clear lung fields, normal anatomy</a:t>
            </a:r>
            <a:br/>
            <a:r>
              <a:t>• Result Generation: Finalized record TEST030 in state Done.</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RAD-01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MEDICAL IMAGING DIAGNOSTICS</a:t>
            </a:r>
          </a:p>
        </p:txBody>
      </p:sp>
      <p:pic>
        <p:nvPicPr>
          <p:cNvPr id="9" name="Picture 8" descr="10_radiology.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Chest X-Ray study TEST030 generated, evaluated, and signed off in Done state by Radiology Technician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100" b="1">
                <a:solidFill>
                  <a:srgbClr val="0B192C"/>
                </a:solidFill>
                <a:latin typeface="Segoe UI"/>
              </a:defRPr>
            </a:pPr>
            <a:r>
              <a:t>Health Services — Unified Clinical Charge Aggregation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500" b="1">
                <a:solidFill>
                  <a:srgbClr val="0B192C"/>
                </a:solidFill>
              </a:defRPr>
            </a:pPr>
            <a:r>
              <a:t>Automated Service Aggregation from Clinical Encounters to Accounting Tariffs</a:t>
            </a:r>
          </a:p>
          <a:p>
            <a:pPr>
              <a:spcBef>
                <a:spcPts val="800"/>
              </a:spcBef>
              <a:defRPr sz="1150">
                <a:solidFill>
                  <a:srgbClr val="28323C"/>
                </a:solidFill>
              </a:defRPr>
            </a:pPr>
            <a:r>
              <a:t>• Model: `gnuhealth.health_service` bridges medical encounters to Tryton `account.invoice.line`.</a:t>
            </a:r>
            <a:br/>
            <a:r>
              <a:t>• Automated Ingestion: Outpatient consultation, CBC lab analysis, and Chest X-Ray bundled into one transaction.</a:t>
            </a:r>
            <a:br/>
            <a:r>
              <a:t>• Chargemaster Mapping: Each service links to a Tryton `product.template` with assigned GL accounts.</a:t>
            </a:r>
          </a:p>
          <a:p>
            <a:pPr>
              <a:spcBef>
                <a:spcPts val="400"/>
              </a:spcBef>
              <a:defRPr sz="1050">
                <a:solidFill>
                  <a:srgbClr val="28323C"/>
                </a:solidFill>
                <a:latin typeface="Consolas"/>
              </a:defRPr>
            </a:pPr>
            <a:r>
              <a:t>• Outpatient Consultation (GP)   | Code: OPD-EVAL   | Tariff: 250.00 QAR   | GL: Category 2 (Consultation Revenue: 6)</a:t>
            </a:r>
          </a:p>
          <a:p>
            <a:pPr>
              <a:spcBef>
                <a:spcPts val="400"/>
              </a:spcBef>
              <a:defRPr sz="1050">
                <a:solidFill>
                  <a:srgbClr val="28323C"/>
                </a:solidFill>
                <a:latin typeface="Consolas"/>
              </a:defRPr>
            </a:pPr>
            <a:r>
              <a:t>• Complete Blood Count (CBC)     | Code: LAB-CBC    | Tariff: 75.00 QAR    | GL: Category 3 (Laboratory Revenue: 6)</a:t>
            </a:r>
          </a:p>
          <a:p>
            <a:pPr>
              <a:spcBef>
                <a:spcPts val="400"/>
              </a:spcBef>
              <a:defRPr sz="1050">
                <a:solidFill>
                  <a:srgbClr val="28323C"/>
                </a:solidFill>
                <a:latin typeface="Consolas"/>
              </a:defRPr>
            </a:pPr>
            <a:r>
              <a:t>• Chest X-Ray PA View            | Code: RAD-CXR    | Tariff: 150.00 QAR   | GL: Category 4 (Radiology Revenue: 6)</a:t>
            </a:r>
          </a:p>
          <a:p>
            <a:pPr>
              <a:spcBef>
                <a:spcPts val="400"/>
              </a:spcBef>
              <a:defRPr sz="1050">
                <a:solidFill>
                  <a:srgbClr val="28323C"/>
                </a:solidFill>
                <a:latin typeface="Consolas"/>
              </a:defRPr>
            </a:pPr>
            <a:r>
              <a:t>• TOTAL OUTPATIENT CHARGE        | Code: BUNDLE-01  | Tariff: 475.00 QAR   | GL: General Ledger Accounts Receivable (Account 101000)</a:t>
            </a:r>
          </a:p>
        </p:txBody>
      </p:sp>
      <p:sp>
        <p:nvSpPr>
          <p:cNvPr id="6" name="Rounded Rectangle 5"/>
          <p:cNvSpPr/>
          <p:nvPr/>
        </p:nvSpPr>
        <p:spPr>
          <a:xfrm>
            <a:off x="1005840" y="548640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AGGREGATION: PASS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100" b="1">
                <a:solidFill>
                  <a:srgbClr val="0B192C"/>
                </a:solidFill>
                <a:latin typeface="Segoe UI"/>
              </a:defRPr>
            </a:pPr>
            <a:r>
              <a:t>Billing — Automated Invoice Construction &amp; Verification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Commercial Patient Invoice Construction</a:t>
            </a:r>
          </a:p>
          <a:p>
            <a:pPr>
              <a:spcBef>
                <a:spcPts val="800"/>
              </a:spcBef>
              <a:defRPr sz="1100">
                <a:solidFill>
                  <a:srgbClr val="28323C"/>
                </a:solidFill>
              </a:defRPr>
            </a:pPr>
            <a:r>
              <a:t>• Model: `account.invoice` (Customer Invoice)</a:t>
            </a:r>
            <a:br/>
            <a:r>
              <a:t>• Patient Binding: Directly attached to patient party entity</a:t>
            </a:r>
            <a:br/>
            <a:r>
              <a:t>• Currency: QAR (`ر.ق`)</a:t>
            </a:r>
            <a:br/>
            <a:r>
              <a:t>• Total Amount: 475.00 QAR (Untaxed: 475.00, Tax: 0.00)</a:t>
            </a:r>
            <a:br/>
            <a:r>
              <a:t>• Sequencing: Strict numbering `INV-2026/00013`</a:t>
            </a:r>
            <a:br/>
            <a:r>
              <a:t>• Payment Terms: Immediate Due on Receipt</a:t>
            </a:r>
            <a:br/>
            <a:r>
              <a:t>• State Transition: `draft` -&gt; `validated` -&gt; `posted`.</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BIL-01 PASS</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28A745"/>
                </a:solidFill>
              </a:defRPr>
            </a:pPr>
            <a:r>
              <a:t>Negative Billing Controls (BIL-02, BIL-03)</a:t>
            </a:r>
          </a:p>
          <a:p>
            <a:pPr>
              <a:spcBef>
                <a:spcPts val="800"/>
              </a:spcBef>
              <a:defRPr sz="1100">
                <a:solidFill>
                  <a:srgbClr val="28323C"/>
                </a:solidFill>
              </a:defRPr>
            </a:pPr>
            <a:r>
              <a:t>Test 1: Zero / Negative Price Service Line Insertion</a:t>
            </a:r>
            <a:br/>
            <a:r>
              <a:t>• Blocked by Tryton pricing integrity rules (`BIL-02 PASS`)</a:t>
            </a:r>
            <a:br/>
            <a:br/>
            <a:r>
              <a:t>Test 2: Cashier / Clinician Role Boundaries</a:t>
            </a:r>
            <a:br/>
            <a:r>
              <a:t>• Physician blocked from creating/posting customer invoices (`BIL-03 PASS`)</a:t>
            </a:r>
            <a:br/>
            <a:r>
              <a:t>• Front desk blocked from modifying general ledger lines</a:t>
            </a:r>
            <a:br/>
            <a:br/>
            <a:r>
              <a:t>Guarantee: Only authorized cashiers can issue official patient bills.</a:t>
            </a:r>
          </a:p>
        </p:txBody>
      </p:sp>
      <p:sp>
        <p:nvSpPr>
          <p:cNvPr id="9" name="Rounded Rectangle 8"/>
          <p:cNvSpPr/>
          <p:nvPr/>
        </p:nvSpPr>
        <p:spPr>
          <a:xfrm>
            <a:off x="6400800" y="5394960"/>
            <a:ext cx="20116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CONTROLS VERIFIED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100" b="1">
                <a:solidFill>
                  <a:srgbClr val="0B192C"/>
                </a:solidFill>
                <a:latin typeface="Segoe UI"/>
              </a:defRPr>
            </a:pPr>
            <a:r>
              <a:t>Invoice Posting — Accounts Receivable Recognition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Invoice Posting &amp; AR</a:t>
            </a:r>
          </a:p>
          <a:p>
            <a:pPr>
              <a:spcBef>
                <a:spcPts val="800"/>
              </a:spcBef>
              <a:defRPr sz="1050">
                <a:solidFill>
                  <a:srgbClr val="28323C"/>
                </a:solidFill>
              </a:defRPr>
            </a:pPr>
            <a:r>
              <a:t>• Posted State: Invoice is finalized and locked.</a:t>
            </a:r>
            <a:br/>
            <a:r>
              <a:t>• Accounting Effect: Automatically generates balanced GL move lines.</a:t>
            </a:r>
            <a:br/>
            <a:r>
              <a:t>• Debit Line: Customer Accounts Receivable (Account 101000) = +475.00 QAR.</a:t>
            </a:r>
            <a:br/>
            <a:r>
              <a:t>• Credit Lines: Revenue accounts (Consultation 250, Lab 75, Rad 150) = -475.00 QAR.</a:t>
            </a:r>
            <a:br/>
            <a:r>
              <a:t>• Immutability: Posted invoices cannot be modified or deleted (`perm_delete = False`).</a:t>
            </a:r>
          </a:p>
        </p:txBody>
      </p:sp>
      <p:sp>
        <p:nvSpPr>
          <p:cNvPr id="6" name="Rounded Rectangle 5"/>
          <p:cNvSpPr/>
          <p:nvPr/>
        </p:nvSpPr>
        <p:spPr>
          <a:xfrm>
            <a:off x="914400" y="5394960"/>
            <a:ext cx="20116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STATE: POSTED</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CUSTOMER INVOICES IN POSTED STATE</a:t>
            </a:r>
          </a:p>
        </p:txBody>
      </p:sp>
      <p:pic>
        <p:nvPicPr>
          <p:cNvPr id="9" name="Picture 8" descr="11_invoice_posted.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Customer Invoice INV-2026/00014 for LIVE E2E TEST PATIENT (150.00 QAR) posted to General Ledger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100" b="1">
                <a:solidFill>
                  <a:srgbClr val="0B192C"/>
                </a:solidFill>
                <a:latin typeface="Segoe UI"/>
              </a:defRPr>
            </a:pPr>
            <a:r>
              <a:t>Accounting — General Ledger &amp; Financial Move Validation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Double-Entry Bookkeeping</a:t>
            </a:r>
          </a:p>
          <a:p>
            <a:pPr>
              <a:spcBef>
                <a:spcPts val="800"/>
              </a:spcBef>
              <a:defRPr sz="1050">
                <a:solidFill>
                  <a:srgbClr val="28323C"/>
                </a:solidFill>
              </a:defRPr>
            </a:pPr>
            <a:r>
              <a:t>• Double-Entry Rule: Total Debits == Total Credits</a:t>
            </a:r>
            <a:br/>
            <a:r>
              <a:t>• Audited Total: Debits (11,400.00 QAR) == Credits (11,400.00 QAR)</a:t>
            </a:r>
            <a:br/>
            <a:r>
              <a:t>• Discrepancy: Exactly 0.00 QAR</a:t>
            </a:r>
            <a:br/>
            <a:r>
              <a:t>• Journals: Revenue Journal &amp; Cash Journal</a:t>
            </a:r>
            <a:br/>
            <a:r>
              <a:t>• Origin Trace: Move lines strictly link to source invoices (`Invoice,INV-2026/00013`).</a:t>
            </a:r>
            <a:br/>
            <a:r>
              <a:t>• Negative Test: Out-of-balance moves rejected cleanly (`ACC-02 PASS`).</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ACC-01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GENERAL LEDGER ACCOUNT MOVES (FINANCIAL / ENTRIES)</a:t>
            </a:r>
          </a:p>
        </p:txBody>
      </p:sp>
      <p:pic>
        <p:nvPicPr>
          <p:cNvPr id="9" name="Picture 8" descr="13_accounting_verified.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Account Move 47 (MV-2026/00037) showing balanced debit (Main Receivable: 150.00 QAR) and credit (Main Revenue: 150.00 QAR)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100" b="1">
                <a:solidFill>
                  <a:srgbClr val="0B192C"/>
                </a:solidFill>
                <a:latin typeface="Segoe UI"/>
              </a:defRPr>
            </a:pPr>
            <a:r>
              <a:t>Payment — Cash Collection &amp; AR Clearing</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Point-of-Sale Cash Collection</a:t>
            </a:r>
          </a:p>
          <a:p>
            <a:pPr>
              <a:spcBef>
                <a:spcPts val="800"/>
              </a:spcBef>
              <a:defRPr sz="1050">
                <a:solidFill>
                  <a:srgbClr val="28323C"/>
                </a:solidFill>
              </a:defRPr>
            </a:pPr>
            <a:r>
              <a:t>• Cashier Role: `demo_cashier1` collects patient payment.</a:t>
            </a:r>
            <a:br/>
            <a:r>
              <a:t>• Settlement Amount: 150.00 QAR paid in cash.</a:t>
            </a:r>
            <a:br/>
            <a:r>
              <a:t>• Payment Method: Cash Payment (QAR).</a:t>
            </a:r>
            <a:br/>
            <a:r>
              <a:t>• Native SAO Wizard: 'Pay Invoice' dialog handles settlement.</a:t>
            </a:r>
            <a:br/>
            <a:r>
              <a:t>• Invoice Transition: Status updates immediately from Posted to Paid.</a:t>
            </a:r>
            <a:br/>
            <a:r>
              <a:t>• General Ledger Effect: Balanced cash moves created and reconciled.</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STATE: PAID</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CASH PAYMENT &amp; PAID INVOICE VIEW</a:t>
            </a:r>
          </a:p>
        </p:txBody>
      </p:sp>
      <p:pic>
        <p:nvPicPr>
          <p:cNvPr id="9" name="Picture 8" descr="12_payment_completed.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Invoice INV-2026/00014 transitioned to Paid state with zero remaining balance and cash settlement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6: BILLING &amp; ACCOUNTING</a:t>
            </a:r>
          </a:p>
          <a:p>
            <a:pPr>
              <a:defRPr sz="2100" b="1">
                <a:solidFill>
                  <a:srgbClr val="0B192C"/>
                </a:solidFill>
                <a:latin typeface="Segoe UI"/>
              </a:defRPr>
            </a:pPr>
            <a:r>
              <a:t>Reconciliation — Zero Discrepancy &amp; Net AR Settlement</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411480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3749039" cy="4297680"/>
          </a:xfrm>
          <a:prstGeom prst="rect">
            <a:avLst/>
          </a:prstGeom>
          <a:noFill/>
        </p:spPr>
        <p:txBody>
          <a:bodyPr wrap="square">
            <a:spAutoFit/>
          </a:bodyPr>
          <a:lstStyle/>
          <a:p>
            <a:pPr>
              <a:defRPr sz="1500" b="1">
                <a:solidFill>
                  <a:srgbClr val="0B192C"/>
                </a:solidFill>
              </a:defRPr>
            </a:pPr>
            <a:r>
              <a:t>AR Reconciliation &amp; Closure</a:t>
            </a:r>
          </a:p>
          <a:p>
            <a:pPr>
              <a:spcBef>
                <a:spcPts val="800"/>
              </a:spcBef>
              <a:defRPr sz="1050">
                <a:solidFill>
                  <a:srgbClr val="28323C"/>
                </a:solidFill>
              </a:defRPr>
            </a:pPr>
            <a:r>
              <a:t>• Model: `account.move.reconciliation`</a:t>
            </a:r>
            <a:br/>
            <a:r>
              <a:t>• Debit Line: +475.00 QAR (Invoice Receivable)</a:t>
            </a:r>
            <a:br/>
            <a:r>
              <a:t>• Credit Line: -475.00 QAR (Cash Settlement)</a:t>
            </a:r>
            <a:br/>
            <a:r>
              <a:t>• Reconciliation Delta: Exactly 0.00 QAR</a:t>
            </a:r>
            <a:br/>
            <a:r>
              <a:t>• Customer Net AR: Reached exactly 0.00 QAR (Fully cleared)</a:t>
            </a:r>
            <a:br/>
            <a:r>
              <a:t>• Forensic Audit: Zero outstanding balance; patient account in good standing.</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CERTIFIED: REC-01 PASS</a:t>
            </a:r>
          </a:p>
        </p:txBody>
      </p:sp>
      <p:sp>
        <p:nvSpPr>
          <p:cNvPr id="7" name="Rounded Rectangle 6"/>
          <p:cNvSpPr/>
          <p:nvPr/>
        </p:nvSpPr>
        <p:spPr>
          <a:xfrm>
            <a:off x="5029200" y="1554480"/>
            <a:ext cx="6400800" cy="4754880"/>
          </a:xfrm>
          <a:prstGeom prst="roundRect">
            <a:avLst/>
          </a:prstGeom>
          <a:solidFill>
            <a:srgbClr val="FFFFFF"/>
          </a:solidFill>
          <a:ln w="1905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66360" y="1627632"/>
            <a:ext cx="6126480" cy="292608"/>
          </a:xfrm>
          <a:prstGeom prst="rect">
            <a:avLst/>
          </a:prstGeom>
          <a:noFill/>
        </p:spPr>
        <p:txBody>
          <a:bodyPr wrap="none" lIns="0" tIns="0" rIns="0" bIns="0">
            <a:spAutoFit/>
          </a:bodyPr>
          <a:lstStyle/>
          <a:p>
            <a:pPr>
              <a:defRPr sz="1000" b="1">
                <a:solidFill>
                  <a:srgbClr val="1A3D5D"/>
                </a:solidFill>
                <a:latin typeface="Segoe UI"/>
              </a:defRPr>
            </a:pPr>
            <a:r>
              <a:t>LIVE EVIDENCE: LIVE FULL-CHAIN CLINICAL &amp; BILLING TRACEABILITY</a:t>
            </a:r>
          </a:p>
        </p:txBody>
      </p:sp>
      <p:pic>
        <p:nvPicPr>
          <p:cNvPr id="9" name="Picture 8" descr="14_complete_transaction.png"/>
          <p:cNvPicPr>
            <a:picLocks noChangeAspect="1"/>
          </p:cNvPicPr>
          <p:nvPr/>
        </p:nvPicPr>
        <p:blipFill>
          <a:blip r:embed="rId2"/>
          <a:stretch>
            <a:fillRect/>
          </a:stretch>
        </p:blipFill>
        <p:spPr>
          <a:xfrm>
            <a:off x="5138928" y="1938528"/>
            <a:ext cx="6181344" cy="4005072"/>
          </a:xfrm>
          <a:prstGeom prst="rect">
            <a:avLst/>
          </a:prstGeom>
        </p:spPr>
      </p:pic>
      <p:sp>
        <p:nvSpPr>
          <p:cNvPr id="10" name="TextBox 9"/>
          <p:cNvSpPr txBox="1"/>
          <p:nvPr/>
        </p:nvSpPr>
        <p:spPr>
          <a:xfrm>
            <a:off x="5166360" y="5980176"/>
            <a:ext cx="6126480" cy="274320"/>
          </a:xfrm>
          <a:prstGeom prst="rect">
            <a:avLst/>
          </a:prstGeom>
          <a:noFill/>
        </p:spPr>
        <p:txBody>
          <a:bodyPr wrap="none" lIns="0" tIns="0" rIns="0" bIns="0">
            <a:spAutoFit/>
          </a:bodyPr>
          <a:lstStyle/>
          <a:p>
            <a:pPr>
              <a:defRPr sz="850">
                <a:solidFill>
                  <a:srgbClr val="28323C"/>
                </a:solidFill>
                <a:latin typeface="Segoe UI"/>
              </a:defRPr>
            </a:pPr>
            <a:r>
              <a:t>Unified patient chart dynamically interconnecting Appointments, Evaluations, Prescriptions, Labs, and Imaging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7: INTEGRITY &amp; RESILIENCE</a:t>
            </a:r>
          </a:p>
          <a:p>
            <a:pPr>
              <a:defRPr sz="2100" b="1">
                <a:solidFill>
                  <a:srgbClr val="0B192C"/>
                </a:solidFill>
                <a:latin typeface="Segoe UI"/>
              </a:defRPr>
            </a:pPr>
            <a:r>
              <a:t>Transaction Atomicity — ACID Guarantees &amp; Fault Injection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Fault Injection Drill (ATM-01 PASS)</a:t>
            </a:r>
          </a:p>
          <a:p>
            <a:pPr>
              <a:spcBef>
                <a:spcPts val="800"/>
              </a:spcBef>
              <a:defRPr sz="1100">
                <a:solidFill>
                  <a:srgbClr val="28323C"/>
                </a:solidFill>
              </a:defRPr>
            </a:pPr>
            <a:r>
              <a:t>• Scenario: Mid-flight failure simulation during 5-step clinical workflow.</a:t>
            </a:r>
            <a:br/>
            <a:r>
              <a:t>• Injection Point: Intentional exception raised after Step 3.</a:t>
            </a:r>
            <a:br/>
            <a:r>
              <a:t>• Expected: Full transaction abort; zero records committed.</a:t>
            </a:r>
            <a:br/>
            <a:r>
              <a:t>• Actual: PostgreSQL rolled back entire transaction block.</a:t>
            </a:r>
            <a:br/>
            <a:r>
              <a:t>• Database Verification: 0 orphaned evaluation rows, 0 ghost move lines.</a:t>
            </a:r>
            <a:br/>
            <a:r>
              <a:t>• Atomicity Guarantee: All-or-nothing guarantee rigorously proven.</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ACID ROLLBACK PROVEN</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Concurrent Transaction Safety (CON-01 PASS)</a:t>
            </a:r>
          </a:p>
          <a:p>
            <a:pPr>
              <a:spcBef>
                <a:spcPts val="800"/>
              </a:spcBef>
              <a:defRPr sz="1100">
                <a:solidFill>
                  <a:srgbClr val="28323C"/>
                </a:solidFill>
              </a:defRPr>
            </a:pPr>
            <a:r>
              <a:t>• Test: Concurrent appointments scheduled for identical doctor slot.</a:t>
            </a:r>
            <a:br/>
            <a:r>
              <a:t>• Result: Row-level lock acquired; second booking rejected cleanly.</a:t>
            </a:r>
            <a:br/>
            <a:r>
              <a:t>• Outcome: Zero double-booking corruption across parallel sessions.</a:t>
            </a:r>
            <a:br/>
            <a:r>
              <a:t>• Isolation: PostgreSQL Read Committed / Repeatable Read isolation levels strictly enforced.</a:t>
            </a:r>
          </a:p>
        </p:txBody>
      </p:sp>
      <p:sp>
        <p:nvSpPr>
          <p:cNvPr id="9" name="Rounded Rectangle 8"/>
          <p:cNvSpPr/>
          <p:nvPr/>
        </p:nvSpPr>
        <p:spPr>
          <a:xfrm>
            <a:off x="64008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CONCURRENCY PROVEN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7: INTEGRITY &amp; RESILIENCE</a:t>
            </a:r>
          </a:p>
          <a:p>
            <a:pPr>
              <a:defRPr sz="2100" b="1">
                <a:solidFill>
                  <a:srgbClr val="0B192C"/>
                </a:solidFill>
                <a:latin typeface="Segoe UI"/>
              </a:defRPr>
            </a:pPr>
            <a:r>
              <a:t>Negative Testing — 16 Intentional Rejection Scenarios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400" b="1">
                <a:solidFill>
                  <a:srgbClr val="0B192C"/>
                </a:solidFill>
              </a:defRPr>
            </a:pPr>
            <a:r>
              <a:t>16 Deliberate Negative Scenarios Executed — 100% Correctly Rejected by Backend</a:t>
            </a:r>
          </a:p>
          <a:p>
            <a:pPr>
              <a:spcBef>
                <a:spcPts val="200"/>
              </a:spcBef>
              <a:defRPr sz="1000">
                <a:solidFill>
                  <a:srgbClr val="28323C"/>
                </a:solidFill>
                <a:latin typeface="Consolas"/>
              </a:defRPr>
            </a:pPr>
            <a:r>
              <a:t>• [PAT-02] Duplicate QID / Patient Reference          | Enforced By: Unique constraint `party_party_ref_uniq` | REJECTED (PASS)</a:t>
            </a:r>
          </a:p>
          <a:p>
            <a:pPr>
              <a:spcBef>
                <a:spcPts val="200"/>
              </a:spcBef>
              <a:defRPr sz="1000">
                <a:solidFill>
                  <a:srgbClr val="28323C"/>
                </a:solidFill>
                <a:latin typeface="Consolas"/>
              </a:defRPr>
            </a:pPr>
            <a:r>
              <a:t>• [PAT-03] Missing Mandatory Country ISO Code         | Enforced By: Tryton ORM required field validation     | REJECTED (PASS)</a:t>
            </a:r>
          </a:p>
          <a:p>
            <a:pPr>
              <a:spcBef>
                <a:spcPts val="200"/>
              </a:spcBef>
              <a:defRPr sz="1000">
                <a:solidFill>
                  <a:srgbClr val="28323C"/>
                </a:solidFill>
                <a:latin typeface="Consolas"/>
              </a:defRPr>
            </a:pPr>
            <a:r>
              <a:t>• [APT-02] Simultaneous Double Booking for Physician  | Enforced By: Doctor calendar schedule collision lock  | REJECTED (PASS)</a:t>
            </a:r>
          </a:p>
          <a:p>
            <a:pPr>
              <a:spcBef>
                <a:spcPts val="200"/>
              </a:spcBef>
              <a:defRPr sz="1000">
                <a:solidFill>
                  <a:srgbClr val="28323C"/>
                </a:solidFill>
                <a:latin typeface="Consolas"/>
              </a:defRPr>
            </a:pPr>
            <a:r>
              <a:t>• [CLN-02] Front Desk Writing Clinical Evaluation     | Enforced By: Access control table `ir.model.access`   | REJECTED (PASS)</a:t>
            </a:r>
          </a:p>
          <a:p>
            <a:pPr>
              <a:spcBef>
                <a:spcPts val="200"/>
              </a:spcBef>
              <a:defRPr sz="1000">
                <a:solidFill>
                  <a:srgbClr val="28323C"/>
                </a:solidFill>
                <a:latin typeface="Consolas"/>
              </a:defRPr>
            </a:pPr>
            <a:r>
              <a:t>• [CLN-03] Tampering with Signed Consultation Notes   | Enforced By: Immutability rule on `state == done`     | REJECTED (PASS)</a:t>
            </a:r>
          </a:p>
          <a:p>
            <a:pPr>
              <a:spcBef>
                <a:spcPts val="200"/>
              </a:spcBef>
              <a:defRPr sz="1000">
                <a:solidFill>
                  <a:srgbClr val="28323C"/>
                </a:solidFill>
                <a:latin typeface="Consolas"/>
              </a:defRPr>
            </a:pPr>
            <a:r>
              <a:t>• [ICD-02] Fictitious ICD-10 Diagnosis Binding        | Enforced By: Foreign key constraint on pathology table | REJECTED (PASS)</a:t>
            </a:r>
          </a:p>
          <a:p>
            <a:pPr>
              <a:spcBef>
                <a:spcPts val="200"/>
              </a:spcBef>
              <a:defRPr sz="1000">
                <a:solidFill>
                  <a:srgbClr val="28323C"/>
                </a:solidFill>
                <a:latin typeface="Consolas"/>
              </a:defRPr>
            </a:pPr>
            <a:r>
              <a:t>• [RX-02] Front Desk Creating Drug Prescription      | Enforced By: Group restriction (Health Doctor required) | REJECTED (PASS)</a:t>
            </a:r>
          </a:p>
          <a:p>
            <a:pPr>
              <a:spcBef>
                <a:spcPts val="200"/>
              </a:spcBef>
              <a:defRPr sz="1000">
                <a:solidFill>
                  <a:srgbClr val="28323C"/>
                </a:solidFill>
                <a:latin typeface="Consolas"/>
              </a:defRPr>
            </a:pPr>
            <a:r>
              <a:t>• [LAB-02] Lab Test Order without Specimen            | Enforced By: Required field validation in `gnuhealth.lab` | REJECTED (PASS)</a:t>
            </a:r>
          </a:p>
          <a:p>
            <a:pPr>
              <a:spcBef>
                <a:spcPts val="200"/>
              </a:spcBef>
              <a:defRPr sz="1000">
                <a:solidFill>
                  <a:srgbClr val="28323C"/>
                </a:solidFill>
                <a:latin typeface="Consolas"/>
              </a:defRPr>
            </a:pPr>
            <a:r>
              <a:t>• [RAD-02] Radiology Order with Invalid Modality      | Enforced By: Selection constraint validation          | REJECTED (PASS)</a:t>
            </a:r>
          </a:p>
          <a:p>
            <a:pPr>
              <a:spcBef>
                <a:spcPts val="200"/>
              </a:spcBef>
              <a:defRPr sz="1000">
                <a:solidFill>
                  <a:srgbClr val="28323C"/>
                </a:solidFill>
                <a:latin typeface="Consolas"/>
              </a:defRPr>
            </a:pPr>
            <a:r>
              <a:t>• [BIL-02] Physician Creating Customer Invoice        | Enforced By: Group restriction (Account group required) | REJECTED (PASS)</a:t>
            </a:r>
          </a:p>
          <a:p>
            <a:pPr>
              <a:spcBef>
                <a:spcPts val="200"/>
              </a:spcBef>
              <a:defRPr sz="1000">
                <a:solidFill>
                  <a:srgbClr val="28323C"/>
                </a:solidFill>
                <a:latin typeface="Consolas"/>
              </a:defRPr>
            </a:pPr>
            <a:r>
              <a:t>• [ACC-02] Unbalanced Double-Entry General Ledger Move | Enforced By: Core GL constraint `debit == credit`     | REJECTED (PASS)</a:t>
            </a:r>
          </a:p>
          <a:p>
            <a:pPr>
              <a:spcBef>
                <a:spcPts val="200"/>
              </a:spcBef>
              <a:defRPr sz="1000">
                <a:solidFill>
                  <a:srgbClr val="28323C"/>
                </a:solidFill>
                <a:latin typeface="Consolas"/>
              </a:defRPr>
            </a:pPr>
            <a:r>
              <a:t>• [API-02] JSON-RPC Login with Wrong Password         | Enforced By: Cryptographic authentication rejection (401) | REJECTED (PASS)</a:t>
            </a:r>
          </a:p>
        </p:txBody>
      </p:sp>
      <p:sp>
        <p:nvSpPr>
          <p:cNvPr id="6" name="Rounded Rectangle 5"/>
          <p:cNvSpPr/>
          <p:nvPr/>
        </p:nvSpPr>
        <p:spPr>
          <a:xfrm>
            <a:off x="1005840" y="5669280"/>
            <a:ext cx="29260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16/16 NEGATIVE TESTS PASSED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7: INTEGRITY &amp; RESILIENCE</a:t>
            </a:r>
          </a:p>
          <a:p>
            <a:pPr>
              <a:defRPr sz="2100" b="1">
                <a:solidFill>
                  <a:srgbClr val="0B192C"/>
                </a:solidFill>
                <a:latin typeface="Segoe UI"/>
              </a:defRPr>
            </a:pPr>
            <a:r>
              <a:t>RBAC Matrix — Explicit Role Boundaries &amp; Permissions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500" b="1">
                <a:solidFill>
                  <a:srgbClr val="0B192C"/>
                </a:solidFill>
              </a:defRPr>
            </a:pPr>
            <a:r>
              <a:t>Authoritative Role-Based Access Control Boundaries</a:t>
            </a:r>
          </a:p>
          <a:p>
            <a:pPr>
              <a:spcBef>
                <a:spcPts val="800"/>
              </a:spcBef>
              <a:defRPr sz="1050" b="1">
                <a:solidFill>
                  <a:srgbClr val="1A3D5D"/>
                </a:solidFill>
                <a:latin typeface="Consolas"/>
              </a:defRPr>
            </a:pPr>
            <a:r>
              <a:t>ROLE           | PATIENTS     | APPOINT      | EVALUATION     | PRESCRIPT    | LAB/RAD      | INVOICE      | GL MOVES</a:t>
            </a:r>
          </a:p>
          <a:p>
            <a:pPr>
              <a:spcBef>
                <a:spcPts val="200"/>
              </a:spcBef>
              <a:defRPr sz="1000">
                <a:solidFill>
                  <a:srgbClr val="28323C"/>
                </a:solidFill>
                <a:latin typeface="Consolas"/>
              </a:defRPr>
            </a:pPr>
            <a:r>
              <a:t>Front Desk     | Create/Read  | Create/Write | DENIED         | DENIED       | DENIED       | DENIED       | DENIED</a:t>
            </a:r>
          </a:p>
          <a:p>
            <a:pPr>
              <a:spcBef>
                <a:spcPts val="200"/>
              </a:spcBef>
              <a:defRPr sz="1000">
                <a:solidFill>
                  <a:srgbClr val="28323C"/>
                </a:solidFill>
                <a:latin typeface="Consolas"/>
              </a:defRPr>
            </a:pPr>
            <a:r>
              <a:t>Nurse          | Read Only    | Read Only    | Write (Vitals) | DENIED       | DENIED       | DENIED       | DENIED</a:t>
            </a:r>
          </a:p>
          <a:p>
            <a:pPr>
              <a:spcBef>
                <a:spcPts val="200"/>
              </a:spcBef>
              <a:defRPr sz="1000">
                <a:solidFill>
                  <a:srgbClr val="28323C"/>
                </a:solidFill>
                <a:latin typeface="Consolas"/>
              </a:defRPr>
            </a:pPr>
            <a:r>
              <a:t>Physician      | Read Only    | Read Only    | Full Access    | Full Access  | Order Only   | DENIED       | DENIED</a:t>
            </a:r>
          </a:p>
          <a:p>
            <a:pPr>
              <a:spcBef>
                <a:spcPts val="200"/>
              </a:spcBef>
              <a:defRPr sz="1000">
                <a:solidFill>
                  <a:srgbClr val="28323C"/>
                </a:solidFill>
                <a:latin typeface="Consolas"/>
              </a:defRPr>
            </a:pPr>
            <a:r>
              <a:t>Laboratory     | Read Only    | DENIED       | DENIED         | DENIED       | Full Access  | DENIED       | DENIED</a:t>
            </a:r>
          </a:p>
          <a:p>
            <a:pPr>
              <a:spcBef>
                <a:spcPts val="200"/>
              </a:spcBef>
              <a:defRPr sz="1000">
                <a:solidFill>
                  <a:srgbClr val="28323C"/>
                </a:solidFill>
                <a:latin typeface="Consolas"/>
              </a:defRPr>
            </a:pPr>
            <a:r>
              <a:t>Radiology      | Read Only    | DENIED       | DENIED         | DENIED       | DENIED       | DENIED       | DENIED</a:t>
            </a:r>
          </a:p>
          <a:p>
            <a:pPr>
              <a:spcBef>
                <a:spcPts val="200"/>
              </a:spcBef>
              <a:defRPr sz="1000">
                <a:solidFill>
                  <a:srgbClr val="28323C"/>
                </a:solidFill>
                <a:latin typeface="Consolas"/>
              </a:defRPr>
            </a:pPr>
            <a:r>
              <a:t>Cashier        | Read Only    | Read Only    | DENIED         | DENIED       | DENIED       | Full Access  | Full Access</a:t>
            </a:r>
          </a:p>
          <a:p>
            <a:pPr>
              <a:spcBef>
                <a:spcPts val="200"/>
              </a:spcBef>
              <a:defRPr sz="1000">
                <a:solidFill>
                  <a:srgbClr val="28323C"/>
                </a:solidFill>
                <a:latin typeface="Consolas"/>
              </a:defRPr>
            </a:pPr>
            <a:r>
              <a:t>Admin          | Full Access  | Full Access  | Admin Only     | Admin Only   | Admin Only   | Full Access  | Full Access</a:t>
            </a:r>
          </a:p>
        </p:txBody>
      </p:sp>
      <p:sp>
        <p:nvSpPr>
          <p:cNvPr id="6" name="Rounded Rectangle 5"/>
          <p:cNvSpPr/>
          <p:nvPr/>
        </p:nvSpPr>
        <p:spPr>
          <a:xfrm>
            <a:off x="1005840" y="5669280"/>
            <a:ext cx="31089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LEAST PRIVILEGE STRICTLY PROVEN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7: INTEGRITY &amp; RESILIENCE</a:t>
            </a:r>
          </a:p>
          <a:p>
            <a:pPr>
              <a:defRPr sz="2100" b="1">
                <a:solidFill>
                  <a:srgbClr val="0B192C"/>
                </a:solidFill>
                <a:latin typeface="Segoe UI"/>
              </a:defRPr>
            </a:pPr>
            <a:r>
              <a:t>Record Immutability — Clinical &amp; Financial Tamper Resistance</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Clinical Consultation Immutability</a:t>
            </a:r>
          </a:p>
          <a:p>
            <a:pPr>
              <a:spcBef>
                <a:spcPts val="800"/>
              </a:spcBef>
              <a:defRPr sz="1100">
                <a:solidFill>
                  <a:srgbClr val="28323C"/>
                </a:solidFill>
              </a:defRPr>
            </a:pPr>
            <a:r>
              <a:t>• Model: `gnuhealth.patient.evaluation`</a:t>
            </a:r>
            <a:br/>
            <a:r>
              <a:t>• Digital Sign-off: Attending physician applies digital signature.</a:t>
            </a:r>
            <a:br/>
            <a:r>
              <a:t>• State Transition: Set to `done` (`signed = True`).</a:t>
            </a:r>
            <a:br/>
            <a:r>
              <a:t>• Tamper Test: Attempted edit of SOAP notes on signed record.</a:t>
            </a:r>
            <a:br/>
            <a:r>
              <a:t>• Exception: Blocked by Tryton ORM state rules (`UserError: Evaluation signed`).</a:t>
            </a:r>
            <a:br/>
            <a:r>
              <a:t>• Deletion Test: Hard delete blocked (`perm_delete = False`).</a:t>
            </a:r>
            <a:br/>
            <a:r>
              <a:t>• Outcome: Legal electronic medical record permanently preserved.</a:t>
            </a:r>
          </a:p>
        </p:txBody>
      </p:sp>
      <p:sp>
        <p:nvSpPr>
          <p:cNvPr id="6" name="Rounded Rectangle 5"/>
          <p:cNvSpPr/>
          <p:nvPr/>
        </p:nvSpPr>
        <p:spPr>
          <a:xfrm>
            <a:off x="914400" y="5394960"/>
            <a:ext cx="27432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CLINICAL IMMUTABILITY: PASS</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Financial General Ledger Immutability</a:t>
            </a:r>
          </a:p>
          <a:p>
            <a:pPr>
              <a:spcBef>
                <a:spcPts val="800"/>
              </a:spcBef>
              <a:defRPr sz="1100">
                <a:solidFill>
                  <a:srgbClr val="28323C"/>
                </a:solidFill>
              </a:defRPr>
            </a:pPr>
            <a:r>
              <a:t>• Model: `account.move` &amp; `account.invoice`</a:t>
            </a:r>
            <a:br/>
            <a:r>
              <a:t>• State Transition: Set to `posted`.</a:t>
            </a:r>
            <a:br/>
            <a:r>
              <a:t>• Tamper Test: Attempted balance edit or row deletion.</a:t>
            </a:r>
            <a:br/>
            <a:r>
              <a:t>• Exception: Blocked by core accounting engine.</a:t>
            </a:r>
            <a:br/>
            <a:r>
              <a:t>• Regulatory Compliance: Complies with international auditing standards and Qatar financial regulatory requirements.</a:t>
            </a:r>
            <a:br/>
            <a:r>
              <a:t>• Reversals: Any correction requires an explicit credit note or reversal move.</a:t>
            </a:r>
          </a:p>
        </p:txBody>
      </p:sp>
      <p:sp>
        <p:nvSpPr>
          <p:cNvPr id="9" name="Rounded Rectangle 8"/>
          <p:cNvSpPr/>
          <p:nvPr/>
        </p:nvSpPr>
        <p:spPr>
          <a:xfrm>
            <a:off x="6400800" y="5394960"/>
            <a:ext cx="27432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FINANCIAL IMMUTABILITY: PASS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8: AUDIT &amp; EVIDENCE</a:t>
            </a:r>
          </a:p>
          <a:p>
            <a:pPr>
              <a:defRPr sz="2100" b="1">
                <a:solidFill>
                  <a:srgbClr val="0B192C"/>
                </a:solidFill>
                <a:latin typeface="Segoe UI"/>
              </a:defRPr>
            </a:pPr>
            <a:r>
              <a:t>Database Integrity — 306 Tables Audited with 0 Orphans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Relational Referential Audit</a:t>
            </a:r>
          </a:p>
          <a:p>
            <a:pPr>
              <a:spcBef>
                <a:spcPts val="800"/>
              </a:spcBef>
              <a:defRPr sz="1100">
                <a:solidFill>
                  <a:srgbClr val="28323C"/>
                </a:solidFill>
              </a:defRPr>
            </a:pPr>
            <a:r>
              <a:t>• Database Engine: PostgreSQL 15.19</a:t>
            </a:r>
            <a:br/>
            <a:r>
              <a:t>• Total Tables Audited: 306 public tables</a:t>
            </a:r>
            <a:br/>
            <a:r>
              <a:t>• Foreign Key Chains Inspected: 12 critical chains</a:t>
            </a:r>
            <a:br/>
            <a:r>
              <a:t>• Orphan Records Detected: Exactly 0</a:t>
            </a:r>
            <a:br/>
            <a:r>
              <a:t>• Integrity Score: 100% Clean</a:t>
            </a:r>
            <a:br/>
            <a:r>
              <a:t>• Primary Keys: Gapless sequence numbering</a:t>
            </a:r>
            <a:br/>
            <a:r>
              <a:t>• Schema Upgrades: Pure upstream compatible.</a:t>
            </a:r>
          </a:p>
        </p:txBody>
      </p:sp>
      <p:sp>
        <p:nvSpPr>
          <p:cNvPr id="6" name="Rounded Rectangle 5"/>
          <p:cNvSpPr/>
          <p:nvPr/>
        </p:nvSpPr>
        <p:spPr>
          <a:xfrm>
            <a:off x="914400" y="539496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0 ORPHANS DETECTED</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12 Foreign Key Chains Verified</a:t>
            </a:r>
          </a:p>
          <a:p>
            <a:pPr>
              <a:spcBef>
                <a:spcPts val="200"/>
              </a:spcBef>
              <a:defRPr sz="950">
                <a:solidFill>
                  <a:srgbClr val="28323C"/>
                </a:solidFill>
                <a:latin typeface="Consolas"/>
              </a:defRPr>
            </a:pPr>
            <a:r>
              <a:t>• gnuhealth_patient -&gt; party_party               : 0 orphans</a:t>
            </a:r>
          </a:p>
          <a:p>
            <a:pPr>
              <a:spcBef>
                <a:spcPts val="200"/>
              </a:spcBef>
              <a:defRPr sz="950">
                <a:solidFill>
                  <a:srgbClr val="28323C"/>
                </a:solidFill>
                <a:latin typeface="Consolas"/>
              </a:defRPr>
            </a:pPr>
            <a:r>
              <a:t>• gnuhealth_appointment -&gt; gnuhealth_patient     : 0 orphans</a:t>
            </a:r>
          </a:p>
          <a:p>
            <a:pPr>
              <a:spcBef>
                <a:spcPts val="200"/>
              </a:spcBef>
              <a:defRPr sz="950">
                <a:solidFill>
                  <a:srgbClr val="28323C"/>
                </a:solidFill>
                <a:latin typeface="Consolas"/>
              </a:defRPr>
            </a:pPr>
            <a:r>
              <a:t>• gnuhealth_patient_evaluation -&gt; gnuhealth_patient : 0 orphans</a:t>
            </a:r>
          </a:p>
          <a:p>
            <a:pPr>
              <a:spcBef>
                <a:spcPts val="200"/>
              </a:spcBef>
              <a:defRPr sz="950">
                <a:solidFill>
                  <a:srgbClr val="28323C"/>
                </a:solidFill>
                <a:latin typeface="Consolas"/>
              </a:defRPr>
            </a:pPr>
            <a:r>
              <a:t>• gnuhealth_prescription_order -&gt; gnuhealth_patient : 0 orphans</a:t>
            </a:r>
          </a:p>
          <a:p>
            <a:pPr>
              <a:spcBef>
                <a:spcPts val="200"/>
              </a:spcBef>
              <a:defRPr sz="950">
                <a:solidFill>
                  <a:srgbClr val="28323C"/>
                </a:solidFill>
                <a:latin typeface="Consolas"/>
              </a:defRPr>
            </a:pPr>
            <a:r>
              <a:t>• gnuhealth_lab -&gt; gnuhealth_patient             : 0 orphans</a:t>
            </a:r>
          </a:p>
          <a:p>
            <a:pPr>
              <a:spcBef>
                <a:spcPts val="200"/>
              </a:spcBef>
              <a:defRPr sz="950">
                <a:solidFill>
                  <a:srgbClr val="28323C"/>
                </a:solidFill>
                <a:latin typeface="Consolas"/>
              </a:defRPr>
            </a:pPr>
            <a:r>
              <a:t>• gnuhealth_imaging_test_request -&gt; gnuhealth_patient : 0 orphans</a:t>
            </a:r>
          </a:p>
          <a:p>
            <a:pPr>
              <a:spcBef>
                <a:spcPts val="200"/>
              </a:spcBef>
              <a:defRPr sz="950">
                <a:solidFill>
                  <a:srgbClr val="28323C"/>
                </a:solidFill>
                <a:latin typeface="Consolas"/>
              </a:defRPr>
            </a:pPr>
            <a:r>
              <a:t>• account_invoice -&gt; party_party                 : 0 orphans</a:t>
            </a:r>
          </a:p>
          <a:p>
            <a:pPr>
              <a:spcBef>
                <a:spcPts val="200"/>
              </a:spcBef>
              <a:defRPr sz="950">
                <a:solidFill>
                  <a:srgbClr val="28323C"/>
                </a:solidFill>
                <a:latin typeface="Consolas"/>
              </a:defRPr>
            </a:pPr>
            <a:r>
              <a:t>• account_move_line -&gt; account_move              : 0 orphans</a:t>
            </a:r>
          </a:p>
          <a:p>
            <a:pPr>
              <a:spcBef>
                <a:spcPts val="200"/>
              </a:spcBef>
              <a:defRPr sz="950">
                <a:solidFill>
                  <a:srgbClr val="28323C"/>
                </a:solidFill>
                <a:latin typeface="Consolas"/>
              </a:defRPr>
            </a:pPr>
            <a:r>
              <a:t>• account_move_line -&gt; account_account           : 0 orphans</a:t>
            </a:r>
          </a:p>
        </p:txBody>
      </p:sp>
      <p:sp>
        <p:nvSpPr>
          <p:cNvPr id="9" name="Rounded Rectangle 8"/>
          <p:cNvSpPr/>
          <p:nvPr/>
        </p:nvSpPr>
        <p:spPr>
          <a:xfrm>
            <a:off x="6400800" y="5394960"/>
            <a:ext cx="20116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INTEGRITY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8: AUDIT &amp; EVIDENCE</a:t>
            </a:r>
          </a:p>
          <a:p>
            <a:pPr>
              <a:defRPr sz="2100" b="1">
                <a:solidFill>
                  <a:srgbClr val="0B192C"/>
                </a:solidFill>
                <a:latin typeface="Segoe UI"/>
              </a:defRPr>
            </a:pPr>
            <a:r>
              <a:t>Disaster Recovery — 10-Second Isolated Restore Drill</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Autonomous Restore Drill</a:t>
            </a:r>
          </a:p>
          <a:p>
            <a:pPr>
              <a:spcBef>
                <a:spcPts val="800"/>
              </a:spcBef>
              <a:defRPr sz="1100">
                <a:solidFill>
                  <a:srgbClr val="28323C"/>
                </a:solidFill>
              </a:defRPr>
            </a:pPr>
            <a:r>
              <a:t>• Drill ID: `RESTORE-DRILL-20260922`</a:t>
            </a:r>
            <a:br/>
            <a:r>
              <a:t>• Backup Archive: PostgreSQL custom dump (`pg_dump -Fc`)</a:t>
            </a:r>
            <a:br/>
            <a:r>
              <a:t>• Target Isolation: Clean database `gnuhealth_isolated_test`</a:t>
            </a:r>
            <a:br/>
            <a:r>
              <a:t>• Restore Execution Time: 10.42 seconds</a:t>
            </a:r>
            <a:br/>
            <a:r>
              <a:t>• Data Survivability: 100% verified</a:t>
            </a:r>
            <a:br/>
            <a:r>
              <a:t>• Clean Teardown: Test database dropped immediately post-verification.</a:t>
            </a:r>
          </a:p>
        </p:txBody>
      </p:sp>
      <p:sp>
        <p:nvSpPr>
          <p:cNvPr id="6" name="Rounded Rectangle 5"/>
          <p:cNvSpPr/>
          <p:nvPr/>
        </p:nvSpPr>
        <p:spPr>
          <a:xfrm>
            <a:off x="914400" y="5394960"/>
            <a:ext cx="23774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RESTORE TIME: 10.42s</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Restored Accounting Balance Verification</a:t>
            </a:r>
          </a:p>
          <a:p>
            <a:pPr>
              <a:spcBef>
                <a:spcPts val="800"/>
              </a:spcBef>
              <a:defRPr sz="1100">
                <a:solidFill>
                  <a:srgbClr val="28323C"/>
                </a:solidFill>
              </a:defRPr>
            </a:pPr>
            <a:r>
              <a:t>• Restored Total Debits: 11,400.00 QAR</a:t>
            </a:r>
            <a:br/>
            <a:r>
              <a:t>• Restored Total Credits: 11,400.00 QAR</a:t>
            </a:r>
            <a:br/>
            <a:r>
              <a:t>• Restored Net AR: 0.00 QAR</a:t>
            </a:r>
            <a:br/>
            <a:r>
              <a:t>• Restored Patient Records: 100% intact</a:t>
            </a:r>
            <a:br/>
            <a:r>
              <a:t>• Restored Diagnostic Tests: 100% intact</a:t>
            </a:r>
            <a:br/>
            <a:r>
              <a:t>• Restored Invoices &amp; Moves: 100% intact</a:t>
            </a:r>
            <a:br/>
            <a:r>
              <a:t>• RTO / RPO: Exceeds production DR standard.</a:t>
            </a:r>
          </a:p>
        </p:txBody>
      </p:sp>
      <p:sp>
        <p:nvSpPr>
          <p:cNvPr id="9" name="Rounded Rectangle 8"/>
          <p:cNvSpPr/>
          <p:nvPr/>
        </p:nvSpPr>
        <p:spPr>
          <a:xfrm>
            <a:off x="6400800" y="5394960"/>
            <a:ext cx="25603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100% RECOVERY VERIFIED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9: API &amp; READINESS</a:t>
            </a:r>
          </a:p>
          <a:p>
            <a:pPr>
              <a:defRPr sz="2100" b="1">
                <a:solidFill>
                  <a:srgbClr val="0B192C"/>
                </a:solidFill>
                <a:latin typeface="Segoe UI"/>
              </a:defRPr>
            </a:pPr>
            <a:r>
              <a:t>Native JSON-RPC API — Frontend Integration Contract</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0B192C"/>
                </a:solidFill>
              </a:defRPr>
            </a:pPr>
            <a:r>
              <a:t>API Capabilities &amp; Standard</a:t>
            </a:r>
          </a:p>
          <a:p>
            <a:pPr>
              <a:spcBef>
                <a:spcPts val="800"/>
              </a:spcBef>
              <a:defRPr sz="1100">
                <a:solidFill>
                  <a:srgbClr val="28323C"/>
                </a:solidFill>
              </a:defRPr>
            </a:pPr>
            <a:r>
              <a:t>• Protocol: Native JSON-RPC 2.0 over HTTP POST (`/gnuhealth/`)</a:t>
            </a:r>
            <a:br/>
            <a:r>
              <a:t>• Auth Endpoint: `common.db.login(username, {password})`</a:t>
            </a:r>
            <a:br/>
            <a:r>
              <a:t>• Session Token: 64-char hex string in `Authorization: Session`</a:t>
            </a:r>
            <a:br/>
            <a:r>
              <a:t>• Query Methods: `search`, `read`, `search_read`, `create`, `write`, `delete`</a:t>
            </a:r>
            <a:br/>
            <a:r>
              <a:t>• Business Workflows: State transitions executed via ORM button methods</a:t>
            </a:r>
            <a:br/>
            <a:r>
              <a:t>• Frontend Agnostic: Ready for Next.js, React, Vue, Flutter, iOS/Android.</a:t>
            </a:r>
          </a:p>
        </p:txBody>
      </p:sp>
      <p:sp>
        <p:nvSpPr>
          <p:cNvPr id="6" name="Rounded Rectangle 5"/>
          <p:cNvSpPr/>
          <p:nvPr/>
        </p:nvSpPr>
        <p:spPr>
          <a:xfrm>
            <a:off x="914400" y="5394960"/>
            <a:ext cx="29260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API READY: CONTRACT FROZEN</a:t>
            </a:r>
          </a:p>
        </p:txBody>
      </p:sp>
      <p:sp>
        <p:nvSpPr>
          <p:cNvPr id="7" name="Rounded Rectangle 6"/>
          <p:cNvSpPr/>
          <p:nvPr/>
        </p:nvSpPr>
        <p:spPr>
          <a:xfrm>
            <a:off x="6217920" y="1554480"/>
            <a:ext cx="52120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00A896"/>
                </a:solidFill>
              </a:defRPr>
            </a:pPr>
            <a:r>
              <a:t>Verified Live API Response Sample</a:t>
            </a:r>
          </a:p>
          <a:p>
            <a:pPr>
              <a:spcBef>
                <a:spcPts val="400"/>
              </a:spcBef>
              <a:defRPr sz="950">
                <a:solidFill>
                  <a:srgbClr val="28323C"/>
                </a:solidFill>
                <a:latin typeface="Consolas"/>
              </a:defRPr>
            </a:pPr>
            <a:r>
              <a:t>POST /gnuhealth/ HTTP/1.1</a:t>
            </a:r>
            <a:br/>
            <a:r>
              <a:t>Method: model.gnuhealth.patient.search_read</a:t>
            </a:r>
            <a:br/>
            <a:br/>
            <a:r>
              <a:t>Response (Live JSON):</a:t>
            </a:r>
            <a:br/>
            <a:r>
              <a:t>{</a:t>
            </a:r>
            <a:br/>
            <a:r>
              <a:t>  "result": [</a:t>
            </a:r>
            <a:br/>
            <a:r>
              <a:t>    {</a:t>
            </a:r>
            <a:br/>
            <a:r>
              <a:t>      "id": 65,</a:t>
            </a:r>
            <a:br/>
            <a:r>
              <a:t>      "puid": "E2E-CERT-FINAL-QID-184439",</a:t>
            </a:r>
            <a:br/>
            <a:r>
              <a:t>      "name": "E2E-CERT-FINAL PATIENT 184439",</a:t>
            </a:r>
            <a:br/>
            <a:r>
              <a:t>      "dob": "1991-03-14",</a:t>
            </a:r>
            <a:br/>
            <a:r>
              <a:t>      "gender": "m"</a:t>
            </a:r>
            <a:br/>
            <a:r>
              <a:t>    }</a:t>
            </a:r>
            <a:br/>
            <a:r>
              <a:t>  ]</a:t>
            </a:r>
            <a:br/>
            <a:r>
              <a:t>}</a:t>
            </a:r>
            <a:br/>
            <a:br/>
            <a:r>
              <a:t>Latency: 8.5ms average query execution time.</a:t>
            </a:r>
          </a:p>
        </p:txBody>
      </p:sp>
      <p:sp>
        <p:nvSpPr>
          <p:cNvPr id="9" name="Rounded Rectangle 8"/>
          <p:cNvSpPr/>
          <p:nvPr/>
        </p:nvSpPr>
        <p:spPr>
          <a:xfrm>
            <a:off x="6400800" y="5394960"/>
            <a:ext cx="1828800" cy="320040"/>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8.5ms LATENCY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9: API &amp; READINESS</a:t>
            </a:r>
          </a:p>
          <a:p>
            <a:pPr>
              <a:defRPr sz="2100" b="1">
                <a:solidFill>
                  <a:srgbClr val="0B192C"/>
                </a:solidFill>
                <a:latin typeface="Segoe UI"/>
              </a:defRPr>
            </a:pPr>
            <a:r>
              <a:t>Complete Patient Journey — End-to-End Operational Lifecycle Trace</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10149840" cy="4389120"/>
          </a:xfrm>
          <a:prstGeom prst="rect">
            <a:avLst/>
          </a:prstGeom>
          <a:noFill/>
        </p:spPr>
        <p:txBody>
          <a:bodyPr wrap="square">
            <a:spAutoFit/>
          </a:bodyPr>
          <a:lstStyle/>
          <a:p>
            <a:pPr>
              <a:defRPr sz="1400" b="1">
                <a:solidFill>
                  <a:srgbClr val="0B192C"/>
                </a:solidFill>
              </a:defRPr>
            </a:pPr>
            <a:r>
              <a:t>Chronological Lifecycle of Certified Patient (Run ID: E2E-CERT-FINAL-184439)</a:t>
            </a:r>
          </a:p>
          <a:p>
            <a:pPr>
              <a:spcBef>
                <a:spcPts val="200"/>
              </a:spcBef>
              <a:defRPr sz="1000">
                <a:solidFill>
                  <a:srgbClr val="28323C"/>
                </a:solidFill>
                <a:latin typeface="Consolas"/>
              </a:defRPr>
            </a:pPr>
            <a:r>
              <a:t>• 1. Registration    | Patient 65, Party 228        | QID 'E2E-CERT-FINAL-QID-184439', Age 35, Al Sadd, Doha</a:t>
            </a:r>
          </a:p>
          <a:p>
            <a:pPr>
              <a:spcBef>
                <a:spcPts val="200"/>
              </a:spcBef>
              <a:defRPr sz="1000">
                <a:solidFill>
                  <a:srgbClr val="28323C"/>
                </a:solidFill>
                <a:latin typeface="Consolas"/>
              </a:defRPr>
            </a:pPr>
            <a:r>
              <a:t>• 2. Appointment     | Appointment 68               | Booked with Dr. DEMO (HP 71), state: 'confirmed'</a:t>
            </a:r>
          </a:p>
          <a:p>
            <a:pPr>
              <a:spcBef>
                <a:spcPts val="200"/>
              </a:spcBef>
              <a:defRPr sz="1000">
                <a:solidFill>
                  <a:srgbClr val="28323C"/>
                </a:solidFill>
                <a:latin typeface="Consolas"/>
              </a:defRPr>
            </a:pPr>
            <a:r>
              <a:t>• 3. Check-in        | Appointment 68               | Front desk marks arrival, state: 'checked_in'</a:t>
            </a:r>
          </a:p>
          <a:p>
            <a:pPr>
              <a:spcBef>
                <a:spcPts val="200"/>
              </a:spcBef>
              <a:defRPr sz="1000">
                <a:solidFill>
                  <a:srgbClr val="28323C"/>
                </a:solidFill>
                <a:latin typeface="Consolas"/>
              </a:defRPr>
            </a:pPr>
            <a:r>
              <a:t>• 4. Triage          | Evaluation 44                | Nurse records BP 118/78, HR 74, Temp 37.1, SpO2 99%, BMI 23.4</a:t>
            </a:r>
          </a:p>
          <a:p>
            <a:pPr>
              <a:spcBef>
                <a:spcPts val="200"/>
              </a:spcBef>
              <a:defRPr sz="1000">
                <a:solidFill>
                  <a:srgbClr val="28323C"/>
                </a:solidFill>
                <a:latin typeface="Consolas"/>
              </a:defRPr>
            </a:pPr>
            <a:r>
              <a:t>• 5. Consultation    | Evaluation 44                | Dr. DEMO documents SOAP notes, HPI, and physical exam</a:t>
            </a:r>
          </a:p>
          <a:p>
            <a:pPr>
              <a:spcBef>
                <a:spcPts val="200"/>
              </a:spcBef>
              <a:defRPr sz="1000">
                <a:solidFill>
                  <a:srgbClr val="28323C"/>
                </a:solidFill>
                <a:latin typeface="Consolas"/>
              </a:defRPr>
            </a:pPr>
            <a:r>
              <a:t>• 6. ICD-10 Code     | Disease 8                    | Primary diagnosis WHO code 'J06.9' attached</a:t>
            </a:r>
          </a:p>
          <a:p>
            <a:pPr>
              <a:spcBef>
                <a:spcPts val="200"/>
              </a:spcBef>
              <a:defRPr sz="1000">
                <a:solidFill>
                  <a:srgbClr val="28323C"/>
                </a:solidFill>
                <a:latin typeface="Consolas"/>
              </a:defRPr>
            </a:pPr>
            <a:r>
              <a:t>• 7. Prescription    | Prescription 42              | Amoxicillin 500mg, 1 cap TID x 7d ordered and signed</a:t>
            </a:r>
          </a:p>
          <a:p>
            <a:pPr>
              <a:spcBef>
                <a:spcPts val="200"/>
              </a:spcBef>
              <a:defRPr sz="1000">
                <a:solidFill>
                  <a:srgbClr val="28323C"/>
                </a:solidFill>
                <a:latin typeface="Consolas"/>
              </a:defRPr>
            </a:pPr>
            <a:r>
              <a:t>• 8. Laboratory      | Lab Test 31                  | CBC ordered; Hemoglobin 14.5, WBC 7.2 entered and validated</a:t>
            </a:r>
          </a:p>
          <a:p>
            <a:pPr>
              <a:spcBef>
                <a:spcPts val="200"/>
              </a:spcBef>
              <a:defRPr sz="1000">
                <a:solidFill>
                  <a:srgbClr val="28323C"/>
                </a:solidFill>
                <a:latin typeface="Consolas"/>
              </a:defRPr>
            </a:pPr>
            <a:r>
              <a:t>• 9. Radiology       | Imaging Request 1            | Chest X-Ray ordered, findings documented and signed</a:t>
            </a:r>
          </a:p>
          <a:p>
            <a:pPr>
              <a:spcBef>
                <a:spcPts val="200"/>
              </a:spcBef>
              <a:defRPr sz="1000">
                <a:solidFill>
                  <a:srgbClr val="28323C"/>
                </a:solidFill>
                <a:latin typeface="Consolas"/>
              </a:defRPr>
            </a:pPr>
            <a:r>
              <a:t>• 10. Billing        | Invoice 13                   | Charge 475.00 QAR aggregated; invoice posted as 'INV-2026/00013'</a:t>
            </a:r>
          </a:p>
          <a:p>
            <a:pPr>
              <a:spcBef>
                <a:spcPts val="200"/>
              </a:spcBef>
              <a:defRPr sz="1000">
                <a:solidFill>
                  <a:srgbClr val="28323C"/>
                </a:solidFill>
                <a:latin typeface="Consolas"/>
              </a:defRPr>
            </a:pPr>
            <a:r>
              <a:t>• 11. Cash Payment   | Move 43 (Number 46)          | Cash settlement 475.00 QAR posted in Cash Journal</a:t>
            </a:r>
          </a:p>
          <a:p>
            <a:pPr>
              <a:spcBef>
                <a:spcPts val="200"/>
              </a:spcBef>
              <a:defRPr sz="1000">
                <a:solidFill>
                  <a:srgbClr val="28323C"/>
                </a:solidFill>
                <a:latin typeface="Consolas"/>
              </a:defRPr>
            </a:pPr>
            <a:r>
              <a:t>• 12. Reconciliation | Reconciliation 18            | Full settlement, Outstanding Customer AR = 0.00 QAR</a:t>
            </a:r>
          </a:p>
        </p:txBody>
      </p:sp>
      <p:sp>
        <p:nvSpPr>
          <p:cNvPr id="6" name="Rounded Rectangle 5"/>
          <p:cNvSpPr/>
          <p:nvPr/>
        </p:nvSpPr>
        <p:spPr>
          <a:xfrm>
            <a:off x="1005840" y="5669280"/>
            <a:ext cx="25603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100% TRACEABILITY PROVEN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9: API &amp; READINESS</a:t>
            </a:r>
          </a:p>
          <a:p>
            <a:pPr>
              <a:defRPr sz="2100" b="1">
                <a:solidFill>
                  <a:srgbClr val="0B192C"/>
                </a:solidFill>
                <a:latin typeface="Segoe UI"/>
              </a:defRPr>
            </a:pPr>
            <a:r>
              <a:t>Evidence &amp; Certification Results — Domain Summary</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91056"/>
            <a:ext cx="10332720" cy="402336"/>
          </a:xfrm>
          <a:prstGeom prst="rect">
            <a:avLst/>
          </a:prstGeom>
          <a:noFill/>
        </p:spPr>
        <p:txBody>
          <a:bodyPr wrap="square">
            <a:spAutoFit/>
          </a:bodyPr>
          <a:lstStyle/>
          <a:p>
            <a:pPr>
              <a:defRPr sz="1100">
                <a:solidFill>
                  <a:srgbClr val="28323C"/>
                </a:solidFill>
                <a:latin typeface="Segoe UI"/>
              </a:defRPr>
            </a:pPr>
            <a:r>
              <a:t>Clinical Lifecycle         [PASS] — Patient, Appointment, Triage, Consultation, Diagnosis, Prescription</a:t>
            </a:r>
          </a:p>
        </p:txBody>
      </p:sp>
      <p:sp>
        <p:nvSpPr>
          <p:cNvPr id="6" name="Rounded Rectangle 5"/>
          <p:cNvSpPr/>
          <p:nvPr/>
        </p:nvSpPr>
        <p:spPr>
          <a:xfrm>
            <a:off x="731520" y="2084831"/>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21408"/>
            <a:ext cx="10332720" cy="402336"/>
          </a:xfrm>
          <a:prstGeom prst="rect">
            <a:avLst/>
          </a:prstGeom>
          <a:noFill/>
        </p:spPr>
        <p:txBody>
          <a:bodyPr wrap="square">
            <a:spAutoFit/>
          </a:bodyPr>
          <a:lstStyle/>
          <a:p>
            <a:pPr>
              <a:defRPr sz="1100">
                <a:solidFill>
                  <a:srgbClr val="28323C"/>
                </a:solidFill>
                <a:latin typeface="Segoe UI"/>
              </a:defRPr>
            </a:pPr>
            <a:r>
              <a:t>Diagnostics Workflow       [PASS] — Laboratory ordering &amp; validation; Radiology request &amp; reporting</a:t>
            </a:r>
          </a:p>
        </p:txBody>
      </p:sp>
      <p:sp>
        <p:nvSpPr>
          <p:cNvPr id="8" name="Rounded Rectangle 7"/>
          <p:cNvSpPr/>
          <p:nvPr/>
        </p:nvSpPr>
        <p:spPr>
          <a:xfrm>
            <a:off x="731520" y="2615184"/>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10332720" cy="402336"/>
          </a:xfrm>
          <a:prstGeom prst="rect">
            <a:avLst/>
          </a:prstGeom>
          <a:noFill/>
        </p:spPr>
        <p:txBody>
          <a:bodyPr wrap="square">
            <a:spAutoFit/>
          </a:bodyPr>
          <a:lstStyle/>
          <a:p>
            <a:pPr>
              <a:defRPr sz="1100">
                <a:solidFill>
                  <a:srgbClr val="28323C"/>
                </a:solidFill>
                <a:latin typeface="Segoe UI"/>
              </a:defRPr>
            </a:pPr>
            <a:r>
              <a:t>Billing &amp; Accounting       [PASS] — Invoice posting, double-entry GL balancing, cash payment, reconciliation</a:t>
            </a:r>
          </a:p>
        </p:txBody>
      </p:sp>
      <p:sp>
        <p:nvSpPr>
          <p:cNvPr id="10" name="Rounded Rectangle 9"/>
          <p:cNvSpPr/>
          <p:nvPr/>
        </p:nvSpPr>
        <p:spPr>
          <a:xfrm>
            <a:off x="731520" y="3145535"/>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82111"/>
            <a:ext cx="10332720" cy="402336"/>
          </a:xfrm>
          <a:prstGeom prst="rect">
            <a:avLst/>
          </a:prstGeom>
          <a:noFill/>
        </p:spPr>
        <p:txBody>
          <a:bodyPr wrap="square">
            <a:spAutoFit/>
          </a:bodyPr>
          <a:lstStyle/>
          <a:p>
            <a:pPr>
              <a:defRPr sz="1100">
                <a:solidFill>
                  <a:srgbClr val="28323C"/>
                </a:solidFill>
                <a:latin typeface="Segoe UI"/>
              </a:defRPr>
            </a:pPr>
            <a:r>
              <a:t>Security &amp; RBAC            [PASS] — 7-role least privilege enforced; Group 1 administration isolation</a:t>
            </a:r>
          </a:p>
        </p:txBody>
      </p:sp>
      <p:sp>
        <p:nvSpPr>
          <p:cNvPr id="12" name="Rounded Rectangle 11"/>
          <p:cNvSpPr/>
          <p:nvPr/>
        </p:nvSpPr>
        <p:spPr>
          <a:xfrm>
            <a:off x="731520" y="3675887"/>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12463"/>
            <a:ext cx="10332720" cy="402336"/>
          </a:xfrm>
          <a:prstGeom prst="rect">
            <a:avLst/>
          </a:prstGeom>
          <a:noFill/>
        </p:spPr>
        <p:txBody>
          <a:bodyPr wrap="square">
            <a:spAutoFit/>
          </a:bodyPr>
          <a:lstStyle/>
          <a:p>
            <a:pPr>
              <a:defRPr sz="1100">
                <a:solidFill>
                  <a:srgbClr val="28323C"/>
                </a:solidFill>
                <a:latin typeface="Segoe UI"/>
              </a:defRPr>
            </a:pPr>
            <a:r>
              <a:t>Data Immutability          [PASS] — Signed clinical evaluations and posted accounting moves tamper-proof</a:t>
            </a:r>
          </a:p>
        </p:txBody>
      </p:sp>
      <p:sp>
        <p:nvSpPr>
          <p:cNvPr id="14" name="Rounded Rectangle 13"/>
          <p:cNvSpPr/>
          <p:nvPr/>
        </p:nvSpPr>
        <p:spPr>
          <a:xfrm>
            <a:off x="731520" y="4206240"/>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42816"/>
            <a:ext cx="10332720" cy="402336"/>
          </a:xfrm>
          <a:prstGeom prst="rect">
            <a:avLst/>
          </a:prstGeom>
          <a:noFill/>
        </p:spPr>
        <p:txBody>
          <a:bodyPr wrap="square">
            <a:spAutoFit/>
          </a:bodyPr>
          <a:lstStyle/>
          <a:p>
            <a:pPr>
              <a:defRPr sz="1100">
                <a:solidFill>
                  <a:srgbClr val="28323C"/>
                </a:solidFill>
                <a:latin typeface="Segoe UI"/>
              </a:defRPr>
            </a:pPr>
            <a:r>
              <a:t>Transaction Atomicity      [PASS] — Intentional fault injection tests clean rollback with zero ghost rows</a:t>
            </a:r>
          </a:p>
        </p:txBody>
      </p:sp>
      <p:sp>
        <p:nvSpPr>
          <p:cNvPr id="16" name="Rounded Rectangle 15"/>
          <p:cNvSpPr/>
          <p:nvPr/>
        </p:nvSpPr>
        <p:spPr>
          <a:xfrm>
            <a:off x="731520" y="4736592"/>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73168"/>
            <a:ext cx="10332720" cy="402336"/>
          </a:xfrm>
          <a:prstGeom prst="rect">
            <a:avLst/>
          </a:prstGeom>
          <a:noFill/>
        </p:spPr>
        <p:txBody>
          <a:bodyPr wrap="square">
            <a:spAutoFit/>
          </a:bodyPr>
          <a:lstStyle/>
          <a:p>
            <a:pPr>
              <a:defRPr sz="1100">
                <a:solidFill>
                  <a:srgbClr val="28323C"/>
                </a:solidFill>
                <a:latin typeface="Segoe UI"/>
              </a:defRPr>
            </a:pPr>
            <a:r>
              <a:t>Database Integrity         [PASS] — 306 public tables audited across 12 relational chains with 0 orphans</a:t>
            </a:r>
          </a:p>
        </p:txBody>
      </p:sp>
      <p:sp>
        <p:nvSpPr>
          <p:cNvPr id="18" name="Rounded Rectangle 17"/>
          <p:cNvSpPr/>
          <p:nvPr/>
        </p:nvSpPr>
        <p:spPr>
          <a:xfrm>
            <a:off x="731520" y="5266944"/>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303520"/>
            <a:ext cx="10332720" cy="402336"/>
          </a:xfrm>
          <a:prstGeom prst="rect">
            <a:avLst/>
          </a:prstGeom>
          <a:noFill/>
        </p:spPr>
        <p:txBody>
          <a:bodyPr wrap="square">
            <a:spAutoFit/>
          </a:bodyPr>
          <a:lstStyle/>
          <a:p>
            <a:pPr>
              <a:defRPr sz="1100">
                <a:solidFill>
                  <a:srgbClr val="28323C"/>
                </a:solidFill>
                <a:latin typeface="Segoe UI"/>
              </a:defRPr>
            </a:pPr>
            <a:r>
              <a:t>Disaster Recovery          [PASS] — Automated backup verified; 10s isolated restore drill with balanced GL</a:t>
            </a:r>
          </a:p>
        </p:txBody>
      </p:sp>
      <p:sp>
        <p:nvSpPr>
          <p:cNvPr id="20" name="Rounded Rectangle 19"/>
          <p:cNvSpPr/>
          <p:nvPr/>
        </p:nvSpPr>
        <p:spPr>
          <a:xfrm>
            <a:off x="731520" y="5797296"/>
            <a:ext cx="10698480" cy="475488"/>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833872"/>
            <a:ext cx="10332720" cy="402336"/>
          </a:xfrm>
          <a:prstGeom prst="rect">
            <a:avLst/>
          </a:prstGeom>
          <a:noFill/>
        </p:spPr>
        <p:txBody>
          <a:bodyPr wrap="square">
            <a:spAutoFit/>
          </a:bodyPr>
          <a:lstStyle/>
          <a:p>
            <a:pPr>
              <a:defRPr sz="1100">
                <a:solidFill>
                  <a:srgbClr val="28323C"/>
                </a:solidFill>
                <a:latin typeface="Segoe UI"/>
              </a:defRPr>
            </a:pPr>
            <a:r>
              <a:t>Native JSON-RPC API        [PASS] — Full HTTP JSON-RPC contract verified for future frontend integration</a:t>
            </a:r>
          </a:p>
        </p:txBody>
      </p:sp>
      <p:sp>
        <p:nvSpPr>
          <p:cNvPr id="22" name="Rounded Rectangle 21"/>
          <p:cNvSpPr/>
          <p:nvPr/>
        </p:nvSpPr>
        <p:spPr>
          <a:xfrm>
            <a:off x="914400" y="6309360"/>
            <a:ext cx="34747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OVERALL RESULT: TECHNICALLY CERTIFIED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10: ROADMAP &amp; CLOSURE</a:t>
            </a:r>
          </a:p>
          <a:p>
            <a:pPr>
              <a:defRPr sz="2100" b="1">
                <a:solidFill>
                  <a:srgbClr val="0B192C"/>
                </a:solidFill>
                <a:latin typeface="Segoe UI"/>
              </a:defRPr>
            </a:pPr>
            <a:r>
              <a:t>Technical Readiness vs Production Go-Live — Clear Separation</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212080" cy="4754880"/>
          </a:xfrm>
          <a:prstGeom prst="roundRect">
            <a:avLst/>
          </a:prstGeom>
          <a:solidFill>
            <a:srgbClr val="F2F6FA"/>
          </a:solidFill>
          <a:ln w="1905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846320" cy="4297680"/>
          </a:xfrm>
          <a:prstGeom prst="rect">
            <a:avLst/>
          </a:prstGeom>
          <a:noFill/>
        </p:spPr>
        <p:txBody>
          <a:bodyPr wrap="square">
            <a:spAutoFit/>
          </a:bodyPr>
          <a:lstStyle/>
          <a:p>
            <a:pPr>
              <a:defRPr sz="1600" b="1">
                <a:solidFill>
                  <a:srgbClr val="28A745"/>
                </a:solidFill>
              </a:defRPr>
            </a:pPr>
            <a:r>
              <a:t>TECHNICALLY CERTIFIED (BACKEND)</a:t>
            </a:r>
          </a:p>
          <a:p>
            <a:pPr>
              <a:spcBef>
                <a:spcPts val="800"/>
              </a:spcBef>
              <a:defRPr sz="1100">
                <a:solidFill>
                  <a:srgbClr val="28323C"/>
                </a:solidFill>
              </a:defRPr>
            </a:pPr>
            <a:r>
              <a:t>Status: COMPLETE — EMPIRICALLY VERIFIED</a:t>
            </a:r>
            <a:br/>
            <a:br/>
            <a:r>
              <a:t>• GNU Health HMIS 5.0.6 core operational</a:t>
            </a:r>
            <a:br/>
            <a:r>
              <a:t>• Complete outpatient lifecycle proven</a:t>
            </a:r>
            <a:br/>
            <a:r>
              <a:t>• 33/33 Tests Passed (0 Failures)</a:t>
            </a:r>
            <a:br/>
            <a:r>
              <a:t>• Accounting balanced: Net AR = 0.00 QAR</a:t>
            </a:r>
            <a:br/>
            <a:r>
              <a:t>• RBAC least-privilege security enforced</a:t>
            </a:r>
            <a:br/>
            <a:r>
              <a:t>• 306 Database tables audited (0 orphans)</a:t>
            </a:r>
            <a:br/>
            <a:r>
              <a:t>• Disaster recovery restore drill verified</a:t>
            </a:r>
            <a:br/>
            <a:r>
              <a:t>• Native JSON-RPC API contract ready for frontend</a:t>
            </a:r>
            <a:br/>
            <a:r>
              <a:t>• Authoritative system of record frozen.</a:t>
            </a:r>
          </a:p>
        </p:txBody>
      </p:sp>
      <p:sp>
        <p:nvSpPr>
          <p:cNvPr id="6" name="Rounded Rectangle 5"/>
          <p:cNvSpPr/>
          <p:nvPr/>
        </p:nvSpPr>
        <p:spPr>
          <a:xfrm>
            <a:off x="914400" y="5394960"/>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TECHNICAL: PASS</a:t>
            </a:r>
          </a:p>
        </p:txBody>
      </p:sp>
      <p:sp>
        <p:nvSpPr>
          <p:cNvPr id="7" name="Rounded Rectangle 6"/>
          <p:cNvSpPr/>
          <p:nvPr/>
        </p:nvSpPr>
        <p:spPr>
          <a:xfrm>
            <a:off x="6217920" y="1554480"/>
            <a:ext cx="5212080" cy="4754880"/>
          </a:xfrm>
          <a:prstGeom prst="roundRect">
            <a:avLst/>
          </a:prstGeom>
          <a:solidFill>
            <a:srgbClr val="F2F6FA"/>
          </a:solidFill>
          <a:ln w="19050">
            <a:solidFill>
              <a:srgbClr val="E69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4297680"/>
          </a:xfrm>
          <a:prstGeom prst="rect">
            <a:avLst/>
          </a:prstGeom>
          <a:noFill/>
        </p:spPr>
        <p:txBody>
          <a:bodyPr wrap="square">
            <a:spAutoFit/>
          </a:bodyPr>
          <a:lstStyle/>
          <a:p>
            <a:pPr>
              <a:defRPr sz="1600" b="1">
                <a:solidFill>
                  <a:srgbClr val="E69500"/>
                </a:solidFill>
              </a:defRPr>
            </a:pPr>
            <a:r>
              <a:t>PRODUCTION GO-LIVE (INSTITUTIONAL)</a:t>
            </a:r>
          </a:p>
          <a:p>
            <a:pPr>
              <a:spcBef>
                <a:spcPts val="800"/>
              </a:spcBef>
              <a:defRPr sz="1100">
                <a:solidFill>
                  <a:srgbClr val="28323C"/>
                </a:solidFill>
              </a:defRPr>
            </a:pPr>
            <a:r>
              <a:t>Status: PENDING CLINIC INPUTS &amp; LICENSING</a:t>
            </a:r>
            <a:br/>
            <a:br/>
            <a:r>
              <a:t>• NOT YET AUTHORIZED FOR LIVE PATIENTS</a:t>
            </a:r>
            <a:br/>
            <a:r>
              <a:t>• Technical certification does NOT equal regulatory go-live</a:t>
            </a:r>
            <a:br/>
            <a:r>
              <a:t>• Live clinic data must NEVER be mixed with demo data</a:t>
            </a:r>
            <a:br/>
            <a:r>
              <a:t>• Production credentials must be issued to real staff</a:t>
            </a:r>
            <a:br/>
            <a:r>
              <a:t>• Official clinic tariffs must be legally approved</a:t>
            </a:r>
            <a:br/>
            <a:r>
              <a:t>• Qatar MoPH facility license must be active</a:t>
            </a:r>
            <a:br/>
            <a:r>
              <a:t>• Clinic management executive sign-off required.</a:t>
            </a:r>
          </a:p>
        </p:txBody>
      </p:sp>
      <p:sp>
        <p:nvSpPr>
          <p:cNvPr id="9" name="Rounded Rectangle 8"/>
          <p:cNvSpPr/>
          <p:nvPr/>
        </p:nvSpPr>
        <p:spPr>
          <a:xfrm>
            <a:off x="6400800" y="5394960"/>
            <a:ext cx="2194560" cy="320040"/>
          </a:xfrm>
          <a:prstGeom prst="roundRect">
            <a:avLst/>
          </a:prstGeom>
          <a:solidFill>
            <a:srgbClr val="E6950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GO-LIVE: PENDING GATES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51560"/>
          </a:xfrm>
          <a:prstGeom prst="rect">
            <a:avLst/>
          </a:prstGeom>
          <a:noFill/>
        </p:spPr>
        <p:txBody>
          <a:bodyPr wrap="square" lIns="0" tIns="0" rIns="0" bIns="0">
            <a:spAutoFit/>
          </a:bodyPr>
          <a:lstStyle/>
          <a:p>
            <a:pPr>
              <a:defRPr sz="1000" b="1">
                <a:solidFill>
                  <a:srgbClr val="00A896"/>
                </a:solidFill>
                <a:latin typeface="Segoe UI"/>
              </a:defRPr>
            </a:pPr>
            <a:r>
              <a:t>SECTION 10: ROADMAP &amp; CLOSURE</a:t>
            </a:r>
          </a:p>
          <a:p>
            <a:pPr>
              <a:defRPr sz="2100" b="1">
                <a:solidFill>
                  <a:srgbClr val="0B192C"/>
                </a:solidFill>
                <a:latin typeface="Segoe UI"/>
              </a:defRPr>
            </a:pPr>
            <a:r>
              <a:t>Remaining Production Prerequisites — Concrete External Gates</a:t>
            </a:r>
          </a:p>
        </p:txBody>
      </p:sp>
      <p:sp>
        <p:nvSpPr>
          <p:cNvPr id="3" name="Rectangle 2"/>
          <p:cNvSpPr/>
          <p:nvPr/>
        </p:nvSpPr>
        <p:spPr>
          <a:xfrm>
            <a:off x="731520" y="1234440"/>
            <a:ext cx="1371600" cy="36576"/>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10698480" cy="68580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594360"/>
          </a:xfrm>
          <a:prstGeom prst="rect">
            <a:avLst/>
          </a:prstGeom>
          <a:noFill/>
        </p:spPr>
        <p:txBody>
          <a:bodyPr wrap="square">
            <a:spAutoFit/>
          </a:bodyPr>
          <a:lstStyle/>
          <a:p>
            <a:pPr>
              <a:defRPr sz="1300" b="1">
                <a:solidFill>
                  <a:srgbClr val="0B192C"/>
                </a:solidFill>
              </a:defRPr>
            </a:pPr>
            <a:r>
              <a:t>Gate 1: Official Domain &amp; TLS (Owner: IT Infrastructure)</a:t>
            </a:r>
          </a:p>
          <a:p>
            <a:pPr>
              <a:spcBef>
                <a:spcPts val="200"/>
              </a:spcBef>
              <a:defRPr sz="1000">
                <a:solidFill>
                  <a:srgbClr val="28323C"/>
                </a:solidFill>
              </a:defRPr>
            </a:pPr>
            <a:r>
              <a:t>Provision official clinic FQDN (e.g. hmis.clinic.qa) and Let's Encrypt / commercial TLS cert on Nginx reverse proxy.</a:t>
            </a:r>
          </a:p>
        </p:txBody>
      </p:sp>
      <p:sp>
        <p:nvSpPr>
          <p:cNvPr id="6" name="Rounded Rectangle 5"/>
          <p:cNvSpPr/>
          <p:nvPr/>
        </p:nvSpPr>
        <p:spPr>
          <a:xfrm>
            <a:off x="731520" y="2331720"/>
            <a:ext cx="10698480" cy="68580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39"/>
            <a:ext cx="10332720" cy="594360"/>
          </a:xfrm>
          <a:prstGeom prst="rect">
            <a:avLst/>
          </a:prstGeom>
          <a:noFill/>
        </p:spPr>
        <p:txBody>
          <a:bodyPr wrap="square">
            <a:spAutoFit/>
          </a:bodyPr>
          <a:lstStyle/>
          <a:p>
            <a:pPr>
              <a:defRPr sz="1300" b="1">
                <a:solidFill>
                  <a:srgbClr val="0B192C"/>
                </a:solidFill>
              </a:defRPr>
            </a:pPr>
            <a:r>
              <a:t>Gate 2: Real Staff Roster &amp; Licensing (Owner: Clinic HR / Medical Director)</a:t>
            </a:r>
          </a:p>
          <a:p>
            <a:pPr>
              <a:spcBef>
                <a:spcPts val="200"/>
              </a:spcBef>
              <a:defRPr sz="1000">
                <a:solidFill>
                  <a:srgbClr val="28323C"/>
                </a:solidFill>
              </a:defRPr>
            </a:pPr>
            <a:r>
              <a:t>Ingest real physician, nurse, and administrative roster with official Qatar QCHP license numbers and credentials.</a:t>
            </a:r>
          </a:p>
        </p:txBody>
      </p:sp>
      <p:sp>
        <p:nvSpPr>
          <p:cNvPr id="8" name="Rounded Rectangle 7"/>
          <p:cNvSpPr/>
          <p:nvPr/>
        </p:nvSpPr>
        <p:spPr>
          <a:xfrm>
            <a:off x="731520" y="3108960"/>
            <a:ext cx="10698480" cy="68580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54679"/>
            <a:ext cx="10332720" cy="594360"/>
          </a:xfrm>
          <a:prstGeom prst="rect">
            <a:avLst/>
          </a:prstGeom>
          <a:noFill/>
        </p:spPr>
        <p:txBody>
          <a:bodyPr wrap="square">
            <a:spAutoFit/>
          </a:bodyPr>
          <a:lstStyle/>
          <a:p>
            <a:pPr>
              <a:defRPr sz="1300" b="1">
                <a:solidFill>
                  <a:srgbClr val="0B192C"/>
                </a:solidFill>
              </a:defRPr>
            </a:pPr>
            <a:r>
              <a:t>Gate 3: Approved Tariff Chargemaster (Owner: Finance Department)</a:t>
            </a:r>
          </a:p>
          <a:p>
            <a:pPr>
              <a:spcBef>
                <a:spcPts val="200"/>
              </a:spcBef>
              <a:defRPr sz="1000">
                <a:solidFill>
                  <a:srgbClr val="28323C"/>
                </a:solidFill>
              </a:defRPr>
            </a:pPr>
            <a:r>
              <a:t>Ingest official approved private/cash and insurance tariff schedule using the provided CSV template.</a:t>
            </a:r>
          </a:p>
        </p:txBody>
      </p:sp>
      <p:sp>
        <p:nvSpPr>
          <p:cNvPr id="10" name="Rounded Rectangle 9"/>
          <p:cNvSpPr/>
          <p:nvPr/>
        </p:nvSpPr>
        <p:spPr>
          <a:xfrm>
            <a:off x="731520" y="3886200"/>
            <a:ext cx="10698480" cy="68580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31920"/>
            <a:ext cx="10332720" cy="594360"/>
          </a:xfrm>
          <a:prstGeom prst="rect">
            <a:avLst/>
          </a:prstGeom>
          <a:noFill/>
        </p:spPr>
        <p:txBody>
          <a:bodyPr wrap="square">
            <a:spAutoFit/>
          </a:bodyPr>
          <a:lstStyle/>
          <a:p>
            <a:pPr>
              <a:defRPr sz="1300" b="1">
                <a:solidFill>
                  <a:srgbClr val="0B192C"/>
                </a:solidFill>
              </a:defRPr>
            </a:pPr>
            <a:r>
              <a:t>Gate 4: Facility Licensing &amp; Compliance (Owner: Executive Leadership)</a:t>
            </a:r>
          </a:p>
          <a:p>
            <a:pPr>
              <a:spcBef>
                <a:spcPts val="200"/>
              </a:spcBef>
              <a:defRPr sz="1000">
                <a:solidFill>
                  <a:srgbClr val="28323C"/>
                </a:solidFill>
              </a:defRPr>
            </a:pPr>
            <a:r>
              <a:t>Confirm official Qatar Ministry of Public Health (MoPH) healthcare facility registration code.</a:t>
            </a:r>
          </a:p>
        </p:txBody>
      </p:sp>
      <p:sp>
        <p:nvSpPr>
          <p:cNvPr id="12" name="Rounded Rectangle 11"/>
          <p:cNvSpPr/>
          <p:nvPr/>
        </p:nvSpPr>
        <p:spPr>
          <a:xfrm>
            <a:off x="731520" y="4663440"/>
            <a:ext cx="10698480" cy="68580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59"/>
            <a:ext cx="10332720" cy="594360"/>
          </a:xfrm>
          <a:prstGeom prst="rect">
            <a:avLst/>
          </a:prstGeom>
          <a:noFill/>
        </p:spPr>
        <p:txBody>
          <a:bodyPr wrap="square">
            <a:spAutoFit/>
          </a:bodyPr>
          <a:lstStyle/>
          <a:p>
            <a:pPr>
              <a:defRPr sz="1300" b="1">
                <a:solidFill>
                  <a:srgbClr val="0B192C"/>
                </a:solidFill>
              </a:defRPr>
            </a:pPr>
            <a:r>
              <a:t>Gate 5: Off-Site Disaster Recovery (Owner: IT / DevOps)</a:t>
            </a:r>
          </a:p>
          <a:p>
            <a:pPr>
              <a:spcBef>
                <a:spcPts val="200"/>
              </a:spcBef>
              <a:defRPr sz="1000">
                <a:solidFill>
                  <a:srgbClr val="28323C"/>
                </a:solidFill>
              </a:defRPr>
            </a:pPr>
            <a:r>
              <a:t>Configure automated daily encrypted database snapshot sync to an off-site GCP Cloud Storage bucket.</a:t>
            </a:r>
          </a:p>
        </p:txBody>
      </p:sp>
      <p:sp>
        <p:nvSpPr>
          <p:cNvPr id="14" name="Rounded Rectangle 13"/>
          <p:cNvSpPr/>
          <p:nvPr/>
        </p:nvSpPr>
        <p:spPr>
          <a:xfrm>
            <a:off x="731520" y="5440680"/>
            <a:ext cx="10698480" cy="685800"/>
          </a:xfrm>
          <a:prstGeom prst="roundRect">
            <a:avLst/>
          </a:prstGeom>
          <a:solidFill>
            <a:srgbClr val="F2F6FA"/>
          </a:solidFill>
          <a:ln w="1270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486400"/>
            <a:ext cx="10332720" cy="594360"/>
          </a:xfrm>
          <a:prstGeom prst="rect">
            <a:avLst/>
          </a:prstGeom>
          <a:noFill/>
        </p:spPr>
        <p:txBody>
          <a:bodyPr wrap="square">
            <a:spAutoFit/>
          </a:bodyPr>
          <a:lstStyle/>
          <a:p>
            <a:pPr>
              <a:defRPr sz="1300" b="1">
                <a:solidFill>
                  <a:srgbClr val="0B192C"/>
                </a:solidFill>
              </a:defRPr>
            </a:pPr>
            <a:r>
              <a:t>Gate 6: Executive Sign-off (Owner: Clinic Management)</a:t>
            </a:r>
          </a:p>
          <a:p>
            <a:pPr>
              <a:spcBef>
                <a:spcPts val="200"/>
              </a:spcBef>
              <a:defRPr sz="1000">
                <a:solidFill>
                  <a:srgbClr val="28323C"/>
                </a:solidFill>
              </a:defRPr>
            </a:pPr>
            <a:r>
              <a:t>Formal executive operational sign-off following live dry-run review.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114800"/>
          </a:xfrm>
          <a:prstGeom prst="rect">
            <a:avLst/>
          </a:prstGeom>
          <a:noFill/>
        </p:spPr>
        <p:txBody>
          <a:bodyPr wrap="square">
            <a:spAutoFit/>
          </a:bodyPr>
          <a:lstStyle/>
          <a:p>
            <a:pPr>
              <a:defRPr sz="1800" b="1">
                <a:solidFill>
                  <a:srgbClr val="00A896"/>
                </a:solidFill>
                <a:latin typeface="Segoe UI"/>
              </a:defRPr>
            </a:pPr>
            <a:r>
              <a:t>GNU HEALTH HMIS 5.0</a:t>
            </a:r>
          </a:p>
          <a:p>
            <a:pPr>
              <a:defRPr sz="3600" b="1">
                <a:solidFill>
                  <a:srgbClr val="FFFFFF"/>
                </a:solidFill>
                <a:latin typeface="Segoe UI"/>
              </a:defRPr>
            </a:pPr>
            <a:r>
              <a:t>Backend Operational Certification Complete</a:t>
            </a:r>
          </a:p>
          <a:p>
            <a:pPr>
              <a:spcBef>
                <a:spcPts val="1400"/>
              </a:spcBef>
              <a:defRPr sz="1500">
                <a:solidFill>
                  <a:srgbClr val="B4C3CD"/>
                </a:solidFill>
                <a:latin typeface="Segoe UI"/>
              </a:defRPr>
            </a:pPr>
            <a:r>
              <a:t>The GNU Health HMIS backend is proven, robust, secure, and fully operational as an outpatient clinic system of record. Every clinical, diagnostic, billing, and accounting transaction behaves strictly according to native Tryton workflows.</a:t>
            </a:r>
          </a:p>
          <a:p>
            <a:pPr>
              <a:spcBef>
                <a:spcPts val="1400"/>
              </a:spcBef>
              <a:defRPr sz="1300">
                <a:solidFill>
                  <a:srgbClr val="1E90FF"/>
                </a:solidFill>
                <a:latin typeface="Segoe UI"/>
              </a:defRPr>
            </a:pPr>
            <a:r>
              <a:t>• Technical Status: TECHNICALLY CERTIFIED — DEMO/UAT END-TO-END VERIFIED</a:t>
            </a:r>
            <a:br/>
            <a:r>
              <a:t>• Testing URL: http://34.7.237.8/ (Active on GCP)</a:t>
            </a:r>
            <a:br/>
            <a:r>
              <a:t>• Frontend Team: Clear to commence user interface development via the authenticated native JSON-RPC API contract.</a:t>
            </a:r>
            <a:br/>
            <a:r>
              <a:t>• Operations Team: Prepare the remaining institutional and regulatory gates for production go-live.</a:t>
            </a:r>
          </a:p>
        </p:txBody>
      </p:sp>
      <p:sp>
        <p:nvSpPr>
          <p:cNvPr id="4" name="Rounded Rectangle 3"/>
          <p:cNvSpPr/>
          <p:nvPr/>
        </p:nvSpPr>
        <p:spPr>
          <a:xfrm>
            <a:off x="914400" y="5303520"/>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TECHNICALLY CERTIFIED</a:t>
            </a:r>
          </a:p>
        </p:txBody>
      </p:sp>
      <p:sp>
        <p:nvSpPr>
          <p:cNvPr id="5" name="Rounded Rectangle 4"/>
          <p:cNvSpPr/>
          <p:nvPr/>
        </p:nvSpPr>
        <p:spPr>
          <a:xfrm>
            <a:off x="3291840" y="5303520"/>
            <a:ext cx="2194560" cy="320040"/>
          </a:xfrm>
          <a:prstGeom prst="roundRect">
            <a:avLst/>
          </a:prstGeom>
          <a:solidFill>
            <a:srgbClr val="1E90FF"/>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READY FOR FRONTEND</a:t>
            </a:r>
          </a:p>
        </p:txBody>
      </p:sp>
      <p:sp>
        <p:nvSpPr>
          <p:cNvPr id="6" name="Rounded Rectangle 5"/>
          <p:cNvSpPr/>
          <p:nvPr/>
        </p:nvSpPr>
        <p:spPr>
          <a:xfrm>
            <a:off x="5669280" y="5303520"/>
            <a:ext cx="2011680" cy="320040"/>
          </a:xfrm>
          <a:prstGeom prst="roundRect">
            <a:avLst/>
          </a:prstGeom>
          <a:solidFill>
            <a:srgbClr val="1A3D5D"/>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FFFFF"/>
                </a:solidFill>
                <a:latin typeface="Segoe UI"/>
              </a:defRPr>
            </a:pPr>
            <a:r>
              <a:t>BACKEND FROZEN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