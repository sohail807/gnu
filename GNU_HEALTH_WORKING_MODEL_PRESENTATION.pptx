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defRPr sz="1800" b="1">
                <a:solidFill>
                  <a:srgbClr val="00A896"/>
                </a:solidFill>
                <a:latin typeface="Segoe UI"/>
              </a:defRPr>
            </a:pPr>
            <a:r>
              <a:t>GNU HEALTH HMIS 5.0</a:t>
            </a:r>
          </a:p>
          <a:p>
            <a:pPr>
              <a:defRPr sz="3600" b="1">
                <a:solidFill>
                  <a:srgbClr val="FFFFFF"/>
                </a:solidFill>
                <a:latin typeface="Segoe UI"/>
              </a:defRPr>
            </a:pPr>
            <a:r>
              <a:t>End-to-End Working Model Demonstration</a:t>
            </a:r>
          </a:p>
          <a:p>
            <a:pPr>
              <a:spcBef>
                <a:spcPts val="1200"/>
              </a:spcBef>
              <a:defRPr sz="1600">
                <a:solidFill>
                  <a:srgbClr val="1E90FF"/>
                </a:solidFill>
                <a:latin typeface="Segoe UI"/>
              </a:defRPr>
            </a:pPr>
            <a:r>
              <a:t>Complete Outpatient Lifecycle: Clinical → Laboratory → Radiology → Billing → Accounting → Reconciliation</a:t>
            </a:r>
          </a:p>
          <a:p>
            <a:pPr>
              <a:spcBef>
                <a:spcPts val="800"/>
              </a:spcBef>
              <a:defRPr sz="1300">
                <a:solidFill>
                  <a:srgbClr val="B4C3CD"/>
                </a:solidFill>
                <a:latin typeface="Segoe UI"/>
              </a:defRPr>
            </a:pPr>
            <a:r>
              <a:t>Live DEMO/UAT Operational Certification — 33 Validated Tests — Zero Accounting Discrepancy</a:t>
            </a:r>
          </a:p>
        </p:txBody>
      </p:sp>
      <p:sp>
        <p:nvSpPr>
          <p:cNvPr id="4" name="Rounded Rectangle 3"/>
          <p:cNvSpPr/>
          <p:nvPr/>
        </p:nvSpPr>
        <p:spPr>
          <a:xfrm>
            <a:off x="914400" y="530352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TECHNICALLY CERTIFIED</a:t>
            </a:r>
          </a:p>
        </p:txBody>
      </p:sp>
      <p:sp>
        <p:nvSpPr>
          <p:cNvPr id="5" name="Rounded Rectangle 4"/>
          <p:cNvSpPr/>
          <p:nvPr/>
        </p:nvSpPr>
        <p:spPr>
          <a:xfrm>
            <a:off x="3291840" y="5303520"/>
            <a:ext cx="2194560" cy="320040"/>
          </a:xfrm>
          <a:prstGeom prst="roundRect">
            <a:avLst/>
          </a:prstGeom>
          <a:solidFill>
            <a:srgbClr val="1A3D5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DEMO/UAT ENVIRONMENT</a:t>
            </a:r>
          </a:p>
        </p:txBody>
      </p:sp>
      <p:sp>
        <p:nvSpPr>
          <p:cNvPr id="6" name="Rounded Rectangle 5"/>
          <p:cNvSpPr/>
          <p:nvPr/>
        </p:nvSpPr>
        <p:spPr>
          <a:xfrm>
            <a:off x="5669280" y="5303520"/>
            <a:ext cx="201168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QATAR QAR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1: OVERVIEW</a:t>
            </a:r>
          </a:p>
          <a:p>
            <a:pPr>
              <a:defRPr sz="2200" b="1">
                <a:solidFill>
                  <a:srgbClr val="0B192C"/>
                </a:solidFill>
                <a:latin typeface="Segoe UI"/>
              </a:defRPr>
            </a:pPr>
            <a:r>
              <a:t>Executive Summary — Backend Working Model Proven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329184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2926080" cy="4389120"/>
          </a:xfrm>
          <a:prstGeom prst="rect">
            <a:avLst/>
          </a:prstGeom>
          <a:noFill/>
        </p:spPr>
        <p:txBody>
          <a:bodyPr wrap="square">
            <a:spAutoFit/>
          </a:bodyPr>
          <a:lstStyle/>
          <a:p>
            <a:pPr>
              <a:defRPr sz="1800" b="1">
                <a:solidFill>
                  <a:srgbClr val="0B192C"/>
                </a:solidFill>
              </a:defRPr>
            </a:pPr>
            <a:r>
              <a:t>100% Operational Pass</a:t>
            </a:r>
          </a:p>
          <a:p>
            <a:pPr>
              <a:spcBef>
                <a:spcPts val="800"/>
              </a:spcBef>
              <a:defRPr sz="1200">
                <a:solidFill>
                  <a:srgbClr val="28323C"/>
                </a:solidFill>
              </a:defRPr>
            </a:pPr>
            <a:r>
              <a:t>33 / 33 Tests Passed</a:t>
            </a:r>
            <a:br/>
            <a:br/>
            <a:r>
              <a:t>• 17 Positive lifecycle workflows validated</a:t>
            </a:r>
            <a:br/>
            <a:r>
              <a:t>• 16 Negative constraint tests verified</a:t>
            </a:r>
            <a:br/>
            <a:r>
              <a:t>• 0 Test Failures | 0 Blocked Tests</a:t>
            </a:r>
            <a:br/>
            <a:r>
              <a:t>• ACID transaction atomicity proven</a:t>
            </a:r>
            <a:br/>
            <a:r>
              <a:t>• Zero shadow tables or bypass code</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PASSED: 33/33</a:t>
            </a:r>
          </a:p>
        </p:txBody>
      </p:sp>
      <p:sp>
        <p:nvSpPr>
          <p:cNvPr id="7" name="Rounded Rectangle 6"/>
          <p:cNvSpPr/>
          <p:nvPr/>
        </p:nvSpPr>
        <p:spPr>
          <a:xfrm>
            <a:off x="4389120" y="1554480"/>
            <a:ext cx="329184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2926080" cy="4389120"/>
          </a:xfrm>
          <a:prstGeom prst="rect">
            <a:avLst/>
          </a:prstGeom>
          <a:noFill/>
        </p:spPr>
        <p:txBody>
          <a:bodyPr wrap="square">
            <a:spAutoFit/>
          </a:bodyPr>
          <a:lstStyle/>
          <a:p>
            <a:pPr>
              <a:defRPr sz="1800" b="1">
                <a:solidFill>
                  <a:srgbClr val="0B192C"/>
                </a:solidFill>
              </a:defRPr>
            </a:pPr>
            <a:r>
              <a:t>Financial Integrity</a:t>
            </a:r>
          </a:p>
          <a:p>
            <a:pPr>
              <a:spcBef>
                <a:spcPts val="800"/>
              </a:spcBef>
              <a:defRPr sz="1200">
                <a:solidFill>
                  <a:srgbClr val="28323C"/>
                </a:solidFill>
              </a:defRPr>
            </a:pPr>
            <a:r>
              <a:t>Strict General Ledger Balance</a:t>
            </a:r>
            <a:br/>
            <a:br/>
            <a:r>
              <a:t>• Consultation (250) + CBC (75) + CXR (150) = 475.00 QAR</a:t>
            </a:r>
            <a:br/>
            <a:r>
              <a:t>• Invoice INV-2026/00013 posted</a:t>
            </a:r>
            <a:br/>
            <a:r>
              <a:t>• Payment Move 43 settled in Cash</a:t>
            </a:r>
            <a:br/>
            <a:r>
              <a:t>• Reconciliation 18 closed</a:t>
            </a:r>
            <a:br/>
            <a:r>
              <a:t>• Net Customer AR = 0.00 QAR</a:t>
            </a:r>
            <a:br/>
            <a:r>
              <a:t>• Total Debits = Total Credits (11,400.00 QAR)</a:t>
            </a:r>
          </a:p>
        </p:txBody>
      </p:sp>
      <p:sp>
        <p:nvSpPr>
          <p:cNvPr id="9" name="Rounded Rectangle 8"/>
          <p:cNvSpPr/>
          <p:nvPr/>
        </p:nvSpPr>
        <p:spPr>
          <a:xfrm>
            <a:off x="45720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AR = 0.00 QAR</a:t>
            </a:r>
          </a:p>
        </p:txBody>
      </p:sp>
      <p:sp>
        <p:nvSpPr>
          <p:cNvPr id="10" name="Rounded Rectangle 9"/>
          <p:cNvSpPr/>
          <p:nvPr/>
        </p:nvSpPr>
        <p:spPr>
          <a:xfrm>
            <a:off x="8046720" y="1554480"/>
            <a:ext cx="329184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37360"/>
            <a:ext cx="2926080" cy="4389120"/>
          </a:xfrm>
          <a:prstGeom prst="rect">
            <a:avLst/>
          </a:prstGeom>
          <a:noFill/>
        </p:spPr>
        <p:txBody>
          <a:bodyPr wrap="square">
            <a:spAutoFit/>
          </a:bodyPr>
          <a:lstStyle/>
          <a:p>
            <a:pPr>
              <a:defRPr sz="1800" b="1">
                <a:solidFill>
                  <a:srgbClr val="0B192C"/>
                </a:solidFill>
              </a:defRPr>
            </a:pPr>
            <a:r>
              <a:t>Security &amp; Recovery</a:t>
            </a:r>
          </a:p>
          <a:p>
            <a:pPr>
              <a:spcBef>
                <a:spcPts val="800"/>
              </a:spcBef>
              <a:defRPr sz="1200">
                <a:solidFill>
                  <a:srgbClr val="28323C"/>
                </a:solidFill>
              </a:defRPr>
            </a:pPr>
            <a:r>
              <a:t>RBAC &amp; Disaster Recovery</a:t>
            </a:r>
            <a:br/>
            <a:br/>
            <a:r>
              <a:t>• 7 Clinic Roles strictly isolated</a:t>
            </a:r>
            <a:br/>
            <a:r>
              <a:t>• Signed clinical evaluations immutable</a:t>
            </a:r>
            <a:br/>
            <a:r>
              <a:t>• 306 public tables audited (0 orphans)</a:t>
            </a:r>
            <a:br/>
            <a:r>
              <a:t>• Automated restore drill verified in 10s</a:t>
            </a:r>
            <a:br/>
            <a:r>
              <a:t>• Native JSON-RPC API validated</a:t>
            </a:r>
          </a:p>
        </p:txBody>
      </p:sp>
      <p:sp>
        <p:nvSpPr>
          <p:cNvPr id="12" name="Rounded Rectangle 11"/>
          <p:cNvSpPr/>
          <p:nvPr/>
        </p:nvSpPr>
        <p:spPr>
          <a:xfrm>
            <a:off x="82296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RESTORE: 10s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1: OVERVIEW</a:t>
            </a:r>
          </a:p>
          <a:p>
            <a:pPr>
              <a:defRPr sz="2200" b="1">
                <a:solidFill>
                  <a:srgbClr val="0B192C"/>
                </a:solidFill>
                <a:latin typeface="Segoe UI"/>
              </a:defRPr>
            </a:pPr>
            <a:r>
              <a:t>What GNU Health HMIS Is — Authoritative System of Record</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700" b="1">
                <a:solidFill>
                  <a:srgbClr val="0B192C"/>
                </a:solidFill>
              </a:defRPr>
            </a:pPr>
            <a:r>
              <a:t>Enterprise Hospital Management &amp; Information System (HMIS)</a:t>
            </a:r>
          </a:p>
          <a:p>
            <a:pPr>
              <a:spcBef>
                <a:spcPts val="800"/>
              </a:spcBef>
              <a:defRPr sz="1300">
                <a:solidFill>
                  <a:srgbClr val="28323C"/>
                </a:solidFill>
              </a:defRPr>
            </a:pPr>
            <a:r>
              <a:t>GNU Health is an award-winning, libre, enterprise-grade Health and Hospital Information System built on the Tryton application framework and PostgreSQL relational engine. In our architecture, GNU Health is the SOLE AUTHORITATIVE BACKEND OF RECORD for all clinical, operational, financial, and administrative operations.</a:t>
            </a:r>
          </a:p>
          <a:p>
            <a:pPr>
              <a:spcBef>
                <a:spcPts val="1400"/>
              </a:spcBef>
              <a:defRPr sz="1400" b="1">
                <a:solidFill>
                  <a:srgbClr val="00A896"/>
                </a:solidFill>
              </a:defRPr>
            </a:pPr>
            <a:r>
              <a:t>Core Backend Responsibilities:</a:t>
            </a:r>
          </a:p>
          <a:p>
            <a:pPr>
              <a:spcBef>
                <a:spcPts val="400"/>
              </a:spcBef>
              <a:defRPr sz="1100">
                <a:solidFill>
                  <a:srgbClr val="28323C"/>
                </a:solidFill>
              </a:defRPr>
            </a:pPr>
            <a:r>
              <a:t>• Patient Identity &amp; Demographics: Centralized party registry, unique medical record number (PUID), national ID (QID), contact data, family history.</a:t>
            </a:r>
          </a:p>
          <a:p>
            <a:pPr>
              <a:spcBef>
                <a:spcPts val="400"/>
              </a:spcBef>
              <a:defRPr sz="1100">
                <a:solidFill>
                  <a:srgbClr val="28323C"/>
                </a:solidFill>
              </a:defRPr>
            </a:pPr>
            <a:r>
              <a:t>• Clinical Encounters &amp; EMR: Outpatient consultations, SOAP clinical notes, WHO ICD-10 coding, vital signs, physical exam, prescription orders.</a:t>
            </a:r>
          </a:p>
          <a:p>
            <a:pPr>
              <a:spcBef>
                <a:spcPts val="400"/>
              </a:spcBef>
              <a:defRPr sz="1100">
                <a:solidFill>
                  <a:srgbClr val="28323C"/>
                </a:solidFill>
              </a:defRPr>
            </a:pPr>
            <a:r>
              <a:t>• Diagnostics Management: Laboratory test ordering, specimen tracking, automated reference ranges, radiology requests, imaging reporting.</a:t>
            </a:r>
          </a:p>
          <a:p>
            <a:pPr>
              <a:spcBef>
                <a:spcPts val="400"/>
              </a:spcBef>
              <a:defRPr sz="1100">
                <a:solidFill>
                  <a:srgbClr val="28323C"/>
                </a:solidFill>
              </a:defRPr>
            </a:pPr>
            <a:r>
              <a:t>• Medical Billing &amp; Tariffs: Health services aggregation, insurance tariffs, automatic invoicing, invoice sequencing, tax behavior.</a:t>
            </a:r>
          </a:p>
          <a:p>
            <a:pPr>
              <a:spcBef>
                <a:spcPts val="400"/>
              </a:spcBef>
              <a:defRPr sz="1100">
                <a:solidFill>
                  <a:srgbClr val="28323C"/>
                </a:solidFill>
              </a:defRPr>
            </a:pPr>
            <a:r>
              <a:t>• Double-Entry General Ledger: Accounts receivable, cash journals, revenue recognition, chart of accounts, automated receivables reconciliation.</a:t>
            </a:r>
          </a:p>
          <a:p>
            <a:pPr>
              <a:spcBef>
                <a:spcPts val="400"/>
              </a:spcBef>
              <a:defRPr sz="1100">
                <a:solidFill>
                  <a:srgbClr val="28323C"/>
                </a:solidFill>
              </a:defRPr>
            </a:pPr>
            <a:r>
              <a:t>• Security &amp; Immutability: Role-based access control (RBAC), cryptographically protected sessions, digital signing lock, 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200" b="1">
                <a:solidFill>
                  <a:srgbClr val="0B192C"/>
                </a:solidFill>
                <a:latin typeface="Segoe UI"/>
              </a:defRPr>
            </a:pPr>
            <a:r>
              <a:t>System Architecture — Tiered Cloud Infrastructure</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560320" cy="4389120"/>
          </a:xfrm>
          <a:prstGeom prst="roundRect">
            <a:avLst/>
          </a:prstGeom>
          <a:solidFill>
            <a:srgbClr val="F2F6FA"/>
          </a:solidFill>
          <a:ln w="19050">
            <a:solidFill>
              <a:srgbClr val="1E9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86000" cy="3931920"/>
          </a:xfrm>
          <a:prstGeom prst="rect">
            <a:avLst/>
          </a:prstGeom>
          <a:noFill/>
        </p:spPr>
        <p:txBody>
          <a:bodyPr wrap="square">
            <a:spAutoFit/>
          </a:bodyPr>
          <a:lstStyle/>
          <a:p>
            <a:pPr>
              <a:defRPr sz="1500" b="1">
                <a:solidFill>
                  <a:srgbClr val="1E90FF"/>
                </a:solidFill>
              </a:defRPr>
            </a:pPr>
            <a:r>
              <a:t>Client Tier</a:t>
            </a:r>
          </a:p>
          <a:p>
            <a:pPr>
              <a:spcBef>
                <a:spcPts val="1000"/>
              </a:spcBef>
              <a:defRPr sz="1100">
                <a:solidFill>
                  <a:srgbClr val="28323C"/>
                </a:solidFill>
              </a:defRPr>
            </a:pPr>
            <a:r>
              <a:t>Future Clinic Frontend</a:t>
            </a:r>
            <a:br/>
            <a:r>
              <a:t>Desktop / Web / Mobile</a:t>
            </a:r>
            <a:br/>
            <a:br/>
            <a:r>
              <a:t>• React / Web App</a:t>
            </a:r>
            <a:br/>
            <a:r>
              <a:t>• Pure JSON-RPC Client</a:t>
            </a:r>
            <a:br/>
            <a:r>
              <a:t>• Session-based tokens</a:t>
            </a:r>
            <a:br/>
            <a:r>
              <a:t>• Zero database access</a:t>
            </a:r>
          </a:p>
        </p:txBody>
      </p:sp>
      <p:sp>
        <p:nvSpPr>
          <p:cNvPr id="6" name="Rounded Rectangle 5"/>
          <p:cNvSpPr/>
          <p:nvPr/>
        </p:nvSpPr>
        <p:spPr>
          <a:xfrm>
            <a:off x="342900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828800"/>
            <a:ext cx="2286000" cy="3931920"/>
          </a:xfrm>
          <a:prstGeom prst="rect">
            <a:avLst/>
          </a:prstGeom>
          <a:noFill/>
        </p:spPr>
        <p:txBody>
          <a:bodyPr wrap="square">
            <a:spAutoFit/>
          </a:bodyPr>
          <a:lstStyle/>
          <a:p>
            <a:pPr>
              <a:defRPr sz="1500" b="1">
                <a:solidFill>
                  <a:srgbClr val="00A896"/>
                </a:solidFill>
              </a:defRPr>
            </a:pPr>
            <a:r>
              <a:t>Gateway Tier</a:t>
            </a:r>
          </a:p>
          <a:p>
            <a:pPr>
              <a:spcBef>
                <a:spcPts val="1000"/>
              </a:spcBef>
              <a:defRPr sz="1100">
                <a:solidFill>
                  <a:srgbClr val="28323C"/>
                </a:solidFill>
              </a:defRPr>
            </a:pPr>
            <a:r>
              <a:t>Reverse Proxy &amp; TLS</a:t>
            </a:r>
            <a:br/>
            <a:r>
              <a:t>Nginx 1.22 / GCP</a:t>
            </a:r>
            <a:br/>
            <a:br/>
            <a:r>
              <a:t>• Port 443 (HTTPS/TLS)</a:t>
            </a:r>
            <a:br/>
            <a:r>
              <a:t>• Port 80 (HTTP redirect)</a:t>
            </a:r>
            <a:br/>
            <a:r>
              <a:t>• Rate limiting &amp; buffers</a:t>
            </a:r>
            <a:br/>
            <a:r>
              <a:t>• Internal routing to 8000</a:t>
            </a:r>
          </a:p>
        </p:txBody>
      </p:sp>
      <p:sp>
        <p:nvSpPr>
          <p:cNvPr id="8" name="Rounded Rectangle 7"/>
          <p:cNvSpPr/>
          <p:nvPr/>
        </p:nvSpPr>
        <p:spPr>
          <a:xfrm>
            <a:off x="6126480" y="1645920"/>
            <a:ext cx="2560320" cy="4389120"/>
          </a:xfrm>
          <a:prstGeom prst="roundRect">
            <a:avLst/>
          </a:prstGeom>
          <a:solidFill>
            <a:srgbClr val="F2F6FA"/>
          </a:solidFill>
          <a:ln w="19050">
            <a:solidFill>
              <a:srgbClr val="1A3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828800"/>
            <a:ext cx="2286000" cy="3931920"/>
          </a:xfrm>
          <a:prstGeom prst="rect">
            <a:avLst/>
          </a:prstGeom>
          <a:noFill/>
        </p:spPr>
        <p:txBody>
          <a:bodyPr wrap="square">
            <a:spAutoFit/>
          </a:bodyPr>
          <a:lstStyle/>
          <a:p>
            <a:pPr>
              <a:defRPr sz="1500" b="1">
                <a:solidFill>
                  <a:srgbClr val="1A3D5D"/>
                </a:solidFill>
              </a:defRPr>
            </a:pPr>
            <a:r>
              <a:t>Application Tier</a:t>
            </a:r>
          </a:p>
          <a:p>
            <a:pPr>
              <a:spcBef>
                <a:spcPts val="1000"/>
              </a:spcBef>
              <a:defRPr sz="1100">
                <a:solidFill>
                  <a:srgbClr val="28323C"/>
                </a:solidFill>
              </a:defRPr>
            </a:pPr>
            <a:r>
              <a:t>GNU Health / Tryton</a:t>
            </a:r>
            <a:br/>
            <a:r>
              <a:t>Tryton 7.0.57 / Python 3.11</a:t>
            </a:r>
            <a:br/>
            <a:br/>
            <a:r>
              <a:t>• GNU Health HMIS 5.0.6</a:t>
            </a:r>
            <a:br/>
            <a:r>
              <a:t>• 24 Active Modules</a:t>
            </a:r>
            <a:br/>
            <a:r>
              <a:t>• RBAC Engine</a:t>
            </a:r>
            <a:br/>
            <a:r>
              <a:t>• ACID Business Logic</a:t>
            </a:r>
          </a:p>
        </p:txBody>
      </p:sp>
      <p:sp>
        <p:nvSpPr>
          <p:cNvPr id="10" name="Rounded Rectangle 9"/>
          <p:cNvSpPr/>
          <p:nvPr/>
        </p:nvSpPr>
        <p:spPr>
          <a:xfrm>
            <a:off x="8823960" y="1645920"/>
            <a:ext cx="2560320" cy="4389120"/>
          </a:xfrm>
          <a:prstGeom prst="roundRect">
            <a:avLst/>
          </a:prstGeom>
          <a:solidFill>
            <a:srgbClr val="F2F6FA"/>
          </a:solidFill>
          <a:ln w="19050">
            <a:solidFill>
              <a:srgbClr val="0B19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828800"/>
            <a:ext cx="2286000" cy="3931920"/>
          </a:xfrm>
          <a:prstGeom prst="rect">
            <a:avLst/>
          </a:prstGeom>
          <a:noFill/>
        </p:spPr>
        <p:txBody>
          <a:bodyPr wrap="square">
            <a:spAutoFit/>
          </a:bodyPr>
          <a:lstStyle/>
          <a:p>
            <a:pPr>
              <a:defRPr sz="1500" b="1">
                <a:solidFill>
                  <a:srgbClr val="0B192C"/>
                </a:solidFill>
              </a:defRPr>
            </a:pPr>
            <a:r>
              <a:t>Database Tier</a:t>
            </a:r>
          </a:p>
          <a:p>
            <a:pPr>
              <a:spcBef>
                <a:spcPts val="1000"/>
              </a:spcBef>
              <a:defRPr sz="1100">
                <a:solidFill>
                  <a:srgbClr val="28323C"/>
                </a:solidFill>
              </a:defRPr>
            </a:pPr>
            <a:r>
              <a:t>Database of Record</a:t>
            </a:r>
            <a:br/>
            <a:r>
              <a:t>PostgreSQL 15.19</a:t>
            </a:r>
            <a:br/>
            <a:br/>
            <a:r>
              <a:t>• 306 Public Tables</a:t>
            </a:r>
            <a:br/>
            <a:r>
              <a:t>• Strict FK Constraints</a:t>
            </a:r>
            <a:br/>
            <a:r>
              <a:t>• Automated snapshots</a:t>
            </a:r>
            <a:br/>
            <a:r>
              <a:t>• Dedicated user: gnuhealth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200" b="1">
                <a:solidFill>
                  <a:srgbClr val="0B192C"/>
                </a:solidFill>
                <a:latin typeface="Segoe UI"/>
              </a:defRPr>
            </a:pPr>
            <a:r>
              <a:t>Backend Architecture — Tryton Core &amp; Native Modules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Tryton Kernel &amp; Execution Engine</a:t>
            </a:r>
          </a:p>
          <a:p>
            <a:pPr>
              <a:spcBef>
                <a:spcPts val="800"/>
              </a:spcBef>
              <a:defRPr sz="1100">
                <a:solidFill>
                  <a:srgbClr val="28323C"/>
                </a:solidFill>
              </a:defRPr>
            </a:pPr>
            <a:r>
              <a:t>• Model Pool (`trytond.pool.Pool`): Dynamic model registry and mixin resolution.</a:t>
            </a:r>
            <a:br/>
            <a:r>
              <a:t>• Transaction Engine (`trytond.transaction.Transaction`): ACID transaction context with thread-local connection and rollback semantics.</a:t>
            </a:r>
            <a:br/>
            <a:r>
              <a:t>• RPC Dispatcher (`trytond.protocols.jsonrpc`): Native JSON-RPC 2.0 serialization/deserialization over HTTP POST.</a:t>
            </a:r>
            <a:br/>
            <a:r>
              <a:t>• Security Layer: Model access (`ir.model.access`), field access (`ir.model.field.access`), and record rules (`ir.rule`).</a:t>
            </a:r>
            <a:br/>
            <a:r>
              <a:t>• Numbering Sequences: `ir.sequence.strict` for gapless financial invoice and move numbering.</a:t>
            </a:r>
          </a:p>
        </p:txBody>
      </p:sp>
      <p:sp>
        <p:nvSpPr>
          <p:cNvPr id="6" name="Rounded Rectangle 5"/>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Installed GNU Health Modules (24 Loaded)</a:t>
            </a:r>
          </a:p>
          <a:p>
            <a:pPr>
              <a:spcBef>
                <a:spcPts val="800"/>
              </a:spcBef>
              <a:defRPr sz="1100">
                <a:solidFill>
                  <a:srgbClr val="28323C"/>
                </a:solidFill>
              </a:defRPr>
            </a:pPr>
            <a:r>
              <a:t>• Clinical Core: `health`, `health_nursing`, `health_pediatrics`, `health_lifestyle`, `health_socioeconomics`, `health_genetics`</a:t>
            </a:r>
            <a:br/>
            <a:r>
              <a:t>• Diagnostics: `health_lab`, `health_imaging`, `health_icd10` (14,416 WHO codes)</a:t>
            </a:r>
            <a:br/>
            <a:r>
              <a:t>• Inpatient &amp; Surgery: `health_inpatient`, `health_surgery`, `health_gyneco`</a:t>
            </a:r>
            <a:br/>
            <a:r>
              <a:t>• Financial &amp; Commercial: `health_services`, `health_insurance`, `account_invoice`, `account_product`</a:t>
            </a:r>
            <a:br/>
            <a:r>
              <a:t>• Tryton Foundation: `account`, `company`, `party`, `currency`, `country`, `product`, `res`, `ir`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200" b="1">
                <a:solidFill>
                  <a:srgbClr val="0B192C"/>
                </a:solidFill>
                <a:latin typeface="Segoe UI"/>
              </a:defRPr>
            </a:pPr>
            <a:r>
              <a:t>Database Architecture — PostgreSQL 15 Relational Core</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329184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2926080" cy="4297680"/>
          </a:xfrm>
          <a:prstGeom prst="rect">
            <a:avLst/>
          </a:prstGeom>
          <a:noFill/>
        </p:spPr>
        <p:txBody>
          <a:bodyPr wrap="square">
            <a:spAutoFit/>
          </a:bodyPr>
          <a:lstStyle/>
          <a:p>
            <a:pPr>
              <a:defRPr sz="1600" b="1">
                <a:solidFill>
                  <a:srgbClr val="0B192C"/>
                </a:solidFill>
              </a:defRPr>
            </a:pPr>
            <a:r>
              <a:t>Database Metrics</a:t>
            </a:r>
          </a:p>
          <a:p>
            <a:pPr>
              <a:spcBef>
                <a:spcPts val="800"/>
              </a:spcBef>
              <a:defRPr sz="1100">
                <a:solidFill>
                  <a:srgbClr val="28323C"/>
                </a:solidFill>
              </a:defRPr>
            </a:pPr>
            <a:r>
              <a:t>• Database: `gnuhealth`</a:t>
            </a:r>
            <a:br/>
            <a:r>
              <a:t>• Engine: PostgreSQL 15.19</a:t>
            </a:r>
            <a:br/>
            <a:r>
              <a:t>• Size: 124 MB</a:t>
            </a:r>
            <a:br/>
            <a:r>
              <a:t>• Public Tables: 306</a:t>
            </a:r>
            <a:br/>
            <a:r>
              <a:t>• Foreign Key Chains: 12 Audited</a:t>
            </a:r>
            <a:br/>
            <a:r>
              <a:t>• Orphan Records: 0 (100% clean)</a:t>
            </a:r>
            <a:br/>
            <a:r>
              <a:t>• Encoding: UTF8 / C collation</a:t>
            </a:r>
            <a:br/>
            <a:r>
              <a:t>• Isolation: Dedicated Linux user `gnuhealth`</a:t>
            </a:r>
          </a:p>
        </p:txBody>
      </p:sp>
      <p:sp>
        <p:nvSpPr>
          <p:cNvPr id="6" name="Rounded Rectangle 5"/>
          <p:cNvSpPr/>
          <p:nvPr/>
        </p:nvSpPr>
        <p:spPr>
          <a:xfrm>
            <a:off x="914400" y="5394960"/>
            <a:ext cx="128016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306 TABLES</a:t>
            </a:r>
          </a:p>
        </p:txBody>
      </p:sp>
      <p:sp>
        <p:nvSpPr>
          <p:cNvPr id="7" name="Rounded Rectangle 6"/>
          <p:cNvSpPr/>
          <p:nvPr/>
        </p:nvSpPr>
        <p:spPr>
          <a:xfrm>
            <a:off x="4389120" y="1554480"/>
            <a:ext cx="70408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6675120" cy="4297680"/>
          </a:xfrm>
          <a:prstGeom prst="rect">
            <a:avLst/>
          </a:prstGeom>
          <a:noFill/>
        </p:spPr>
        <p:txBody>
          <a:bodyPr wrap="square">
            <a:spAutoFit/>
          </a:bodyPr>
          <a:lstStyle/>
          <a:p>
            <a:pPr>
              <a:defRPr sz="1600" b="1">
                <a:solidFill>
                  <a:srgbClr val="0B192C"/>
                </a:solidFill>
              </a:defRPr>
            </a:pPr>
            <a:r>
              <a:t>Core Relational Tables &amp; Referential Integrity</a:t>
            </a:r>
          </a:p>
          <a:p>
            <a:pPr>
              <a:spcBef>
                <a:spcPts val="200"/>
              </a:spcBef>
              <a:defRPr sz="1000">
                <a:solidFill>
                  <a:srgbClr val="28323C"/>
                </a:solidFill>
              </a:defRPr>
            </a:pPr>
            <a:r>
              <a:t>• party_party: Master legal entity for persons, patients, clinicians, suppliers, insurance companies.</a:t>
            </a:r>
          </a:p>
          <a:p>
            <a:pPr>
              <a:spcBef>
                <a:spcPts val="200"/>
              </a:spcBef>
              <a:defRPr sz="1000">
                <a:solidFill>
                  <a:srgbClr val="28323C"/>
                </a:solidFill>
              </a:defRPr>
            </a:pPr>
            <a:r>
              <a:t>• gnuhealth_patient: Clinical patient extension linked to party_party via strict foreign key.</a:t>
            </a:r>
          </a:p>
          <a:p>
            <a:pPr>
              <a:spcBef>
                <a:spcPts val="200"/>
              </a:spcBef>
              <a:defRPr sz="1000">
                <a:solidFill>
                  <a:srgbClr val="28323C"/>
                </a:solidFill>
              </a:defRPr>
            </a:pPr>
            <a:r>
              <a:t>• gnuhealth_appointment: Outpatient scheduling, resource allocation, and clinical queue states.</a:t>
            </a:r>
          </a:p>
          <a:p>
            <a:pPr>
              <a:spcBef>
                <a:spcPts val="200"/>
              </a:spcBef>
              <a:defRPr sz="1000">
                <a:solidFill>
                  <a:srgbClr val="28323C"/>
                </a:solidFill>
              </a:defRPr>
            </a:pPr>
            <a:r>
              <a:t>• gnuhealth_patient_evaluation: Clinical encounter record: SOAP notes, vital signs, physical exam, diagnosis.</a:t>
            </a:r>
          </a:p>
          <a:p>
            <a:pPr>
              <a:spcBef>
                <a:spcPts val="200"/>
              </a:spcBef>
              <a:defRPr sz="1000">
                <a:solidFill>
                  <a:srgbClr val="28323C"/>
                </a:solidFill>
              </a:defRPr>
            </a:pPr>
            <a:r>
              <a:t>• gnuhealth_prescription_order: Medication orders, dosage, route, duration, frequency, pharmacy dispense.</a:t>
            </a:r>
          </a:p>
          <a:p>
            <a:pPr>
              <a:spcBef>
                <a:spcPts val="200"/>
              </a:spcBef>
              <a:defRPr sz="1000">
                <a:solidFill>
                  <a:srgbClr val="28323C"/>
                </a:solidFill>
              </a:defRPr>
            </a:pPr>
            <a:r>
              <a:t>• gnuhealth_lab / gnuhealth_lab_test: Laboratory orders, test requests, result entry, reference ranges, validation.</a:t>
            </a:r>
          </a:p>
          <a:p>
            <a:pPr>
              <a:spcBef>
                <a:spcPts val="200"/>
              </a:spcBef>
              <a:defRPr sz="1000">
                <a:solidFill>
                  <a:srgbClr val="28323C"/>
                </a:solidFill>
              </a:defRPr>
            </a:pPr>
            <a:r>
              <a:t>• gnuhealth_imaging_test_request: Radiology orders, procedure scheduling, imaging findings, sign-off.</a:t>
            </a:r>
          </a:p>
          <a:p>
            <a:pPr>
              <a:spcBef>
                <a:spcPts val="200"/>
              </a:spcBef>
              <a:defRPr sz="1000">
                <a:solidFill>
                  <a:srgbClr val="28323C"/>
                </a:solidFill>
              </a:defRPr>
            </a:pPr>
            <a:r>
              <a:t>• gnuhealth_health_service: Charge aggregation linking clinical items to product chargemaster tariffs.</a:t>
            </a:r>
          </a:p>
          <a:p>
            <a:pPr>
              <a:spcBef>
                <a:spcPts val="200"/>
              </a:spcBef>
              <a:defRPr sz="1000">
                <a:solidFill>
                  <a:srgbClr val="28323C"/>
                </a:solidFill>
              </a:defRPr>
            </a:pPr>
            <a:r>
              <a:t>• account_invoice / account_invoice_line: Commercial patient invoices, receivable tracking, sequence numbering.</a:t>
            </a:r>
          </a:p>
          <a:p>
            <a:pPr>
              <a:spcBef>
                <a:spcPts val="200"/>
              </a:spcBef>
              <a:defRPr sz="1000">
                <a:solidFill>
                  <a:srgbClr val="28323C"/>
                </a:solidFill>
              </a:defRPr>
            </a:pPr>
            <a:r>
              <a:t>• account_move / account_move_line: Double-entry general ledger journal entries (debit/credit balanced).</a:t>
            </a:r>
          </a:p>
          <a:p>
            <a:pPr>
              <a:spcBef>
                <a:spcPts val="200"/>
              </a:spcBef>
              <a:defRPr sz="1000">
                <a:solidFill>
                  <a:srgbClr val="28323C"/>
                </a:solidFill>
              </a:defRPr>
            </a:pPr>
            <a:r>
              <a:t>• account_move_reconciliation: Receivables settlement matching invoice moves to payment moves.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3: SECURITY &amp; RBAC</a:t>
            </a:r>
          </a:p>
          <a:p>
            <a:pPr>
              <a:defRPr sz="2200" b="1">
                <a:solidFill>
                  <a:srgbClr val="0B192C"/>
                </a:solidFill>
                <a:latin typeface="Segoe UI"/>
              </a:defRPr>
            </a:pPr>
            <a:r>
              <a:t>User Roles — Operational Responsibilities &amp; Boundaries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502920"/>
          </a:xfrm>
          <a:prstGeom prst="rect">
            <a:avLst/>
          </a:prstGeom>
          <a:noFill/>
        </p:spPr>
        <p:txBody>
          <a:bodyPr wrap="square">
            <a:spAutoFit/>
          </a:bodyPr>
          <a:lstStyle/>
          <a:p>
            <a:pPr>
              <a:defRPr sz="1300" b="1">
                <a:solidFill>
                  <a:srgbClr val="0B192C"/>
                </a:solidFill>
              </a:defRPr>
            </a:pPr>
            <a:r>
              <a:t>Front Desk (demo_frontdesk1)</a:t>
            </a:r>
          </a:p>
          <a:p>
            <a:pPr>
              <a:spcBef>
                <a:spcPts val="100"/>
              </a:spcBef>
              <a:defRPr sz="1000">
                <a:solidFill>
                  <a:srgbClr val="28323C"/>
                </a:solidFill>
              </a:defRPr>
            </a:pPr>
            <a:r>
              <a:t>Patient registration, identity verification, QID checking, appointment booking, check-in queue.</a:t>
            </a:r>
          </a:p>
        </p:txBody>
      </p:sp>
      <p:sp>
        <p:nvSpPr>
          <p:cNvPr id="6" name="Rounded Rectangle 5"/>
          <p:cNvSpPr/>
          <p:nvPr/>
        </p:nvSpPr>
        <p:spPr>
          <a:xfrm>
            <a:off x="731520" y="22402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86000"/>
            <a:ext cx="10332720" cy="502920"/>
          </a:xfrm>
          <a:prstGeom prst="rect">
            <a:avLst/>
          </a:prstGeom>
          <a:noFill/>
        </p:spPr>
        <p:txBody>
          <a:bodyPr wrap="square">
            <a:spAutoFit/>
          </a:bodyPr>
          <a:lstStyle/>
          <a:p>
            <a:pPr>
              <a:defRPr sz="1300" b="1">
                <a:solidFill>
                  <a:srgbClr val="0B192C"/>
                </a:solidFill>
              </a:defRPr>
            </a:pPr>
            <a:r>
              <a:t>Nurse (demo_nurse1)</a:t>
            </a:r>
          </a:p>
          <a:p>
            <a:pPr>
              <a:spcBef>
                <a:spcPts val="100"/>
              </a:spcBef>
              <a:defRPr sz="1000">
                <a:solidFill>
                  <a:srgbClr val="28323C"/>
                </a:solidFill>
              </a:defRPr>
            </a:pPr>
            <a:r>
              <a:t>Patient triage, vital signs entry (BP, HR, Temp, RR, SpO2), nursing notes, patient prep.</a:t>
            </a:r>
          </a:p>
        </p:txBody>
      </p:sp>
      <p:sp>
        <p:nvSpPr>
          <p:cNvPr id="8" name="Rounded Rectangle 7"/>
          <p:cNvSpPr/>
          <p:nvPr/>
        </p:nvSpPr>
        <p:spPr>
          <a:xfrm>
            <a:off x="731520" y="29260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71800"/>
            <a:ext cx="10332720" cy="502920"/>
          </a:xfrm>
          <a:prstGeom prst="rect">
            <a:avLst/>
          </a:prstGeom>
          <a:noFill/>
        </p:spPr>
        <p:txBody>
          <a:bodyPr wrap="square">
            <a:spAutoFit/>
          </a:bodyPr>
          <a:lstStyle/>
          <a:p>
            <a:pPr>
              <a:defRPr sz="1300" b="1">
                <a:solidFill>
                  <a:srgbClr val="0B192C"/>
                </a:solidFill>
              </a:defRPr>
            </a:pPr>
            <a:r>
              <a:t>Physician (demo_dr1)</a:t>
            </a:r>
          </a:p>
          <a:p>
            <a:pPr>
              <a:spcBef>
                <a:spcPts val="100"/>
              </a:spcBef>
              <a:defRPr sz="1000">
                <a:solidFill>
                  <a:srgbClr val="28323C"/>
                </a:solidFill>
              </a:defRPr>
            </a:pPr>
            <a:r>
              <a:t>Clinical consultation, physical exam, ICD-10 diagnosis, prescription ordering, lab/rad requests, signing.</a:t>
            </a:r>
          </a:p>
        </p:txBody>
      </p:sp>
      <p:sp>
        <p:nvSpPr>
          <p:cNvPr id="10" name="Rounded Rectangle 9"/>
          <p:cNvSpPr/>
          <p:nvPr/>
        </p:nvSpPr>
        <p:spPr>
          <a:xfrm>
            <a:off x="731520" y="36118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57600"/>
            <a:ext cx="10332720" cy="502920"/>
          </a:xfrm>
          <a:prstGeom prst="rect">
            <a:avLst/>
          </a:prstGeom>
          <a:noFill/>
        </p:spPr>
        <p:txBody>
          <a:bodyPr wrap="square">
            <a:spAutoFit/>
          </a:bodyPr>
          <a:lstStyle/>
          <a:p>
            <a:pPr>
              <a:defRPr sz="1300" b="1">
                <a:solidFill>
                  <a:srgbClr val="0B192C"/>
                </a:solidFill>
              </a:defRPr>
            </a:pPr>
            <a:r>
              <a:t>Laboratory (demo_lab1)</a:t>
            </a:r>
          </a:p>
          <a:p>
            <a:pPr>
              <a:spcBef>
                <a:spcPts val="100"/>
              </a:spcBef>
              <a:defRPr sz="1000">
                <a:solidFill>
                  <a:srgbClr val="28323C"/>
                </a:solidFill>
              </a:defRPr>
            </a:pPr>
            <a:r>
              <a:t>Specimen processing, result entry (Hb, WBC, Platelets), reference range validation, test authorization.</a:t>
            </a:r>
          </a:p>
        </p:txBody>
      </p:sp>
      <p:sp>
        <p:nvSpPr>
          <p:cNvPr id="12" name="Rounded Rectangle 11"/>
          <p:cNvSpPr/>
          <p:nvPr/>
        </p:nvSpPr>
        <p:spPr>
          <a:xfrm>
            <a:off x="731520" y="42976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10332720" cy="502920"/>
          </a:xfrm>
          <a:prstGeom prst="rect">
            <a:avLst/>
          </a:prstGeom>
          <a:noFill/>
        </p:spPr>
        <p:txBody>
          <a:bodyPr wrap="square">
            <a:spAutoFit/>
          </a:bodyPr>
          <a:lstStyle/>
          <a:p>
            <a:pPr>
              <a:defRPr sz="1300" b="1">
                <a:solidFill>
                  <a:srgbClr val="0B192C"/>
                </a:solidFill>
              </a:defRPr>
            </a:pPr>
            <a:r>
              <a:t>Radiology (demo_rad1)</a:t>
            </a:r>
          </a:p>
          <a:p>
            <a:pPr>
              <a:spcBef>
                <a:spcPts val="100"/>
              </a:spcBef>
              <a:defRPr sz="1000">
                <a:solidFill>
                  <a:srgbClr val="28323C"/>
                </a:solidFill>
              </a:defRPr>
            </a:pPr>
            <a:r>
              <a:t>Image acquisition, diagnostic reporting, findings interpretation, procedure completion.</a:t>
            </a:r>
          </a:p>
        </p:txBody>
      </p:sp>
      <p:sp>
        <p:nvSpPr>
          <p:cNvPr id="14" name="Rounded Rectangle 13"/>
          <p:cNvSpPr/>
          <p:nvPr/>
        </p:nvSpPr>
        <p:spPr>
          <a:xfrm>
            <a:off x="731520" y="49834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29200"/>
            <a:ext cx="10332720" cy="502920"/>
          </a:xfrm>
          <a:prstGeom prst="rect">
            <a:avLst/>
          </a:prstGeom>
          <a:noFill/>
        </p:spPr>
        <p:txBody>
          <a:bodyPr wrap="square">
            <a:spAutoFit/>
          </a:bodyPr>
          <a:lstStyle/>
          <a:p>
            <a:pPr>
              <a:defRPr sz="1300" b="1">
                <a:solidFill>
                  <a:srgbClr val="0B192C"/>
                </a:solidFill>
              </a:defRPr>
            </a:pPr>
            <a:r>
              <a:t>Cashier (demo_cashier1)</a:t>
            </a:r>
          </a:p>
          <a:p>
            <a:pPr>
              <a:spcBef>
                <a:spcPts val="100"/>
              </a:spcBef>
              <a:defRPr sz="1000">
                <a:solidFill>
                  <a:srgbClr val="28323C"/>
                </a:solidFill>
              </a:defRPr>
            </a:pPr>
            <a:r>
              <a:t>Invoice generation from services, payment collection (cash/card), move posting, reconciliation.</a:t>
            </a:r>
          </a:p>
        </p:txBody>
      </p:sp>
      <p:sp>
        <p:nvSpPr>
          <p:cNvPr id="16" name="Rounded Rectangle 15"/>
          <p:cNvSpPr/>
          <p:nvPr/>
        </p:nvSpPr>
        <p:spPr>
          <a:xfrm>
            <a:off x="731520" y="5669280"/>
            <a:ext cx="10698480" cy="59436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15000"/>
            <a:ext cx="10332720" cy="502920"/>
          </a:xfrm>
          <a:prstGeom prst="rect">
            <a:avLst/>
          </a:prstGeom>
          <a:noFill/>
        </p:spPr>
        <p:txBody>
          <a:bodyPr wrap="square">
            <a:spAutoFit/>
          </a:bodyPr>
          <a:lstStyle/>
          <a:p>
            <a:pPr>
              <a:defRPr sz="1300" b="1">
                <a:solidFill>
                  <a:srgbClr val="0B192C"/>
                </a:solidFill>
              </a:defRPr>
            </a:pPr>
            <a:r>
              <a:t>Administrator (demo_admin1)</a:t>
            </a:r>
          </a:p>
          <a:p>
            <a:pPr>
              <a:spcBef>
                <a:spcPts val="100"/>
              </a:spcBef>
              <a:defRPr sz="1000">
                <a:solidFill>
                  <a:srgbClr val="28323C"/>
                </a:solidFill>
              </a:defRPr>
            </a:pPr>
            <a:r>
              <a:t>Master data maintenance, fiscal year opening, user provisioning, audit inspection, system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3: SECURITY &amp; RBAC</a:t>
            </a:r>
          </a:p>
          <a:p>
            <a:pPr>
              <a:defRPr sz="2200" b="1">
                <a:solidFill>
                  <a:srgbClr val="0B192C"/>
                </a:solidFill>
                <a:latin typeface="Segoe UI"/>
              </a:defRPr>
            </a:pPr>
            <a:r>
              <a:t>Security Model — Least-Privilege &amp; Authorization Enforcement</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Authoritative Backend Enforcement</a:t>
            </a:r>
          </a:p>
          <a:p>
            <a:pPr>
              <a:spcBef>
                <a:spcPts val="800"/>
              </a:spcBef>
              <a:defRPr sz="1100">
                <a:solidFill>
                  <a:srgbClr val="28323C"/>
                </a:solidFill>
              </a:defRPr>
            </a:pPr>
            <a:r>
              <a:t>• Security is NOT client-side hiding: Permissions are strictly enforced by Tryton's ORM kernel on every JSON-RPC transaction.</a:t>
            </a:r>
            <a:br/>
            <a:r>
              <a:t>• Group Isolation: Each role belongs strictly to functional access groups (`ir.model.access`).</a:t>
            </a:r>
            <a:br/>
            <a:r>
              <a:t>• Group 1 Administration Protection: Group 1 (Administration) is restricted exclusively to system administrators. Zero clinical or billing users possess administrative rights.</a:t>
            </a:r>
            <a:br/>
            <a:r>
              <a:t>• Cryptographic Passwords: Passwords hashed with salted sha512_crypt.</a:t>
            </a:r>
            <a:br/>
            <a:r>
              <a:t>• Session Security: Timed session tokens via `common.db.login`; unauthorized API calls rejected with HTTP 401/403.</a:t>
            </a:r>
          </a:p>
        </p:txBody>
      </p:sp>
      <p:sp>
        <p:nvSpPr>
          <p:cNvPr id="6" name="Rounded Rectangle 5"/>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Verified Negative Authorization Boundaries</a:t>
            </a:r>
          </a:p>
          <a:p>
            <a:pPr>
              <a:spcBef>
                <a:spcPts val="400"/>
              </a:spcBef>
              <a:defRPr sz="1000">
                <a:solidFill>
                  <a:srgbClr val="28323C"/>
                </a:solidFill>
              </a:defRPr>
            </a:pPr>
            <a:r>
              <a:t>• Front Desk → Clinical Records: BLOCKED (AccessError on gnuhealth.patient.evaluation)</a:t>
            </a:r>
          </a:p>
          <a:p>
            <a:pPr>
              <a:spcBef>
                <a:spcPts val="400"/>
              </a:spcBef>
              <a:defRPr sz="1000">
                <a:solidFill>
                  <a:srgbClr val="28323C"/>
                </a:solidFill>
              </a:defRPr>
            </a:pPr>
            <a:r>
              <a:t>• Front Desk → Prescription Orders: BLOCKED (AccessError on gnuhealth.prescription.order)</a:t>
            </a:r>
          </a:p>
          <a:p>
            <a:pPr>
              <a:spcBef>
                <a:spcPts val="400"/>
              </a:spcBef>
              <a:defRPr sz="1000">
                <a:solidFill>
                  <a:srgbClr val="28323C"/>
                </a:solidFill>
              </a:defRPr>
            </a:pPr>
            <a:r>
              <a:t>• Front Desk → User Administration: BLOCKED (AccessError on res.user)</a:t>
            </a:r>
          </a:p>
          <a:p>
            <a:pPr>
              <a:spcBef>
                <a:spcPts val="400"/>
              </a:spcBef>
              <a:defRPr sz="1000">
                <a:solidFill>
                  <a:srgbClr val="28323C"/>
                </a:solidFill>
              </a:defRPr>
            </a:pPr>
            <a:r>
              <a:t>• Physician → Invoicing / Billing: BLOCKED (AccessError on account.invoice)</a:t>
            </a:r>
          </a:p>
          <a:p>
            <a:pPr>
              <a:spcBef>
                <a:spcPts val="400"/>
              </a:spcBef>
              <a:defRPr sz="1000">
                <a:solidFill>
                  <a:srgbClr val="28323C"/>
                </a:solidFill>
              </a:defRPr>
            </a:pPr>
            <a:r>
              <a:t>• Physician → Accounting Moves: BLOCKED (AccessError on account.move)</a:t>
            </a:r>
          </a:p>
          <a:p>
            <a:pPr>
              <a:spcBef>
                <a:spcPts val="400"/>
              </a:spcBef>
              <a:defRPr sz="1000">
                <a:solidFill>
                  <a:srgbClr val="28323C"/>
                </a:solidFill>
              </a:defRPr>
            </a:pPr>
            <a:r>
              <a:t>• Cashier → Clinical Evaluations: BLOCKED (AccessError on gnuhealth.patient.evaluation)</a:t>
            </a:r>
          </a:p>
          <a:p>
            <a:pPr>
              <a:spcBef>
                <a:spcPts val="400"/>
              </a:spcBef>
              <a:defRPr sz="1000">
                <a:solidFill>
                  <a:srgbClr val="28323C"/>
                </a:solidFill>
              </a:defRPr>
            </a:pPr>
            <a:r>
              <a:t>• Cashier → Prescription Orders: BLOCKED (AccessError on gnuhealth.prescription.order)</a:t>
            </a:r>
          </a:p>
          <a:p>
            <a:pPr>
              <a:spcBef>
                <a:spcPts val="400"/>
              </a:spcBef>
              <a:defRPr sz="1000">
                <a:solidFill>
                  <a:srgbClr val="28323C"/>
                </a:solidFill>
              </a:defRPr>
            </a:pPr>
            <a:r>
              <a:t>• Cashier → User Administration: BLOCKED (AccessError on res.user)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Patient Registration — Identity &amp; Constraint Enforcement</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Patient Registration Record</a:t>
            </a:r>
          </a:p>
          <a:p>
            <a:pPr>
              <a:spcBef>
                <a:spcPts val="800"/>
              </a:spcBef>
              <a:defRPr sz="1100">
                <a:solidFill>
                  <a:srgbClr val="28323C"/>
                </a:solidFill>
              </a:defRPr>
            </a:pPr>
            <a:r>
              <a:t>• Patient Record: `gnuhealth.patient,65`</a:t>
            </a:r>
            <a:br/>
            <a:r>
              <a:t>• Party Entity: `party.party,228`</a:t>
            </a:r>
            <a:br/>
            <a:r>
              <a:t>• Synthetic PUID: `E2E-CERT-FINAL-QID-184439`</a:t>
            </a:r>
            <a:br/>
            <a:r>
              <a:t>• Full Name: `E2E-CERT-FINAL PATIENT 184439`</a:t>
            </a:r>
            <a:br/>
            <a:r>
              <a:t>• Date of Birth: 1991-03-14 (Age 35, Gender: Male)</a:t>
            </a:r>
            <a:br/>
            <a:r>
              <a:t>• Country: Qatar (`QAT`, ISO alpha-3)</a:t>
            </a:r>
            <a:br/>
            <a:r>
              <a:t>• Address: Zone 45, Al Sadd, Doha (`party.address,238`)</a:t>
            </a:r>
            <a:br/>
            <a:r>
              <a:t>• National Identifier: QID `party.identifier,214`</a:t>
            </a:r>
            <a:br/>
            <a:r>
              <a:t>• Transaction Atomicity: All 4 entities committed in 1 transaction.</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CERTIFIED: PAT-01 PASS</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Negative Validation Tests (PAT-02, PAT-03)</a:t>
            </a:r>
          </a:p>
          <a:p>
            <a:pPr>
              <a:spcBef>
                <a:spcPts val="600"/>
              </a:spcBef>
              <a:defRPr sz="1100">
                <a:solidFill>
                  <a:srgbClr val="28323C"/>
                </a:solidFill>
              </a:defRPr>
            </a:pPr>
            <a:r>
              <a:t>Test 1: Duplicate National Identifier (QID / Ref)</a:t>
            </a:r>
            <a:br/>
            <a:r>
              <a:t>• Input: Party creation with identical ref `E2E-CERT-FINAL-QID-184439`</a:t>
            </a:r>
            <a:br/>
            <a:r>
              <a:t>• Expected: Backend unique constraint violation</a:t>
            </a:r>
            <a:br/>
            <a:r>
              <a:t>• Actual: Rejected cleanly by PostgreSQL constraint `party_party_ref_uniq`</a:t>
            </a:r>
            <a:br/>
            <a:r>
              <a:t>• Exception: `psycopg2.errors.UniqueViolation / SQLConstraintError`</a:t>
            </a:r>
            <a:br/>
            <a:br/>
            <a:r>
              <a:t>Test 2: Missing Mandatory Country on Patient Party</a:t>
            </a:r>
            <a:br/>
            <a:r>
              <a:t>• Input: Patient creation without `fed_country` ISO code</a:t>
            </a:r>
            <a:br/>
            <a:r>
              <a:t>• Expected: Backend validation rejection</a:t>
            </a:r>
            <a:br/>
            <a:r>
              <a:t>• Actual: Rejected cleanly before SQL execution</a:t>
            </a:r>
            <a:br/>
            <a:r>
              <a:t>• Exception: `KeyError: 'fed_country'`</a:t>
            </a:r>
            <a:br/>
            <a:br/>
            <a:r>
              <a:t>Result: Database remains completely clean. Zero orphaned rows.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CONSTRAINTS ENFORCED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Appointment Workflow — Lifecycle Transitions &amp; Scheduling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86000" cy="3931920"/>
          </a:xfrm>
          <a:prstGeom prst="rect">
            <a:avLst/>
          </a:prstGeom>
          <a:noFill/>
        </p:spPr>
        <p:txBody>
          <a:bodyPr wrap="square">
            <a:spAutoFit/>
          </a:bodyPr>
          <a:lstStyle/>
          <a:p>
            <a:pPr>
              <a:defRPr sz="1500" b="1">
                <a:solidFill>
                  <a:srgbClr val="0B192C"/>
                </a:solidFill>
              </a:defRPr>
            </a:pPr>
            <a:r>
              <a:t>1. Free / Draft</a:t>
            </a:r>
          </a:p>
          <a:p>
            <a:pPr>
              <a:spcBef>
                <a:spcPts val="1000"/>
              </a:spcBef>
              <a:defRPr sz="1100">
                <a:solidFill>
                  <a:srgbClr val="28323C"/>
                </a:solidFill>
              </a:defRPr>
            </a:pPr>
            <a:r>
              <a:t>State: `free`</a:t>
            </a:r>
            <a:br/>
            <a:br/>
            <a:r>
              <a:t>• Slot booked by Reception</a:t>
            </a:r>
            <a:br/>
            <a:r>
              <a:t>• Linked to Patient 65</a:t>
            </a:r>
            <a:br/>
            <a:r>
              <a:t>• Assigned to Dr. DEMO (HP 71)</a:t>
            </a:r>
            <a:br/>
            <a:r>
              <a:t>• Type: Outpatient</a:t>
            </a:r>
          </a:p>
        </p:txBody>
      </p:sp>
      <p:sp>
        <p:nvSpPr>
          <p:cNvPr id="6" name="Rounded Rectangle 5"/>
          <p:cNvSpPr/>
          <p:nvPr/>
        </p:nvSpPr>
        <p:spPr>
          <a:xfrm>
            <a:off x="342900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828800"/>
            <a:ext cx="2286000" cy="3931920"/>
          </a:xfrm>
          <a:prstGeom prst="rect">
            <a:avLst/>
          </a:prstGeom>
          <a:noFill/>
        </p:spPr>
        <p:txBody>
          <a:bodyPr wrap="square">
            <a:spAutoFit/>
          </a:bodyPr>
          <a:lstStyle/>
          <a:p>
            <a:pPr>
              <a:defRPr sz="1500" b="1">
                <a:solidFill>
                  <a:srgbClr val="0B192C"/>
                </a:solidFill>
              </a:defRPr>
            </a:pPr>
            <a:r>
              <a:t>2. Confirmed</a:t>
            </a:r>
          </a:p>
          <a:p>
            <a:pPr>
              <a:spcBef>
                <a:spcPts val="1000"/>
              </a:spcBef>
              <a:defRPr sz="1100">
                <a:solidFill>
                  <a:srgbClr val="28323C"/>
                </a:solidFill>
              </a:defRPr>
            </a:pPr>
            <a:r>
              <a:t>State: `confirmed`</a:t>
            </a:r>
            <a:br/>
            <a:br/>
            <a:r>
              <a:t>• Verified by clinic schedule</a:t>
            </a:r>
            <a:br/>
            <a:r>
              <a:t>• Patient notified</a:t>
            </a:r>
            <a:br/>
            <a:r>
              <a:t>• Slot locked against double-booking</a:t>
            </a:r>
          </a:p>
        </p:txBody>
      </p:sp>
      <p:sp>
        <p:nvSpPr>
          <p:cNvPr id="8" name="Rounded Rectangle 7"/>
          <p:cNvSpPr/>
          <p:nvPr/>
        </p:nvSpPr>
        <p:spPr>
          <a:xfrm>
            <a:off x="612648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828800"/>
            <a:ext cx="2286000" cy="3931920"/>
          </a:xfrm>
          <a:prstGeom prst="rect">
            <a:avLst/>
          </a:prstGeom>
          <a:noFill/>
        </p:spPr>
        <p:txBody>
          <a:bodyPr wrap="square">
            <a:spAutoFit/>
          </a:bodyPr>
          <a:lstStyle/>
          <a:p>
            <a:pPr>
              <a:defRPr sz="1500" b="1">
                <a:solidFill>
                  <a:srgbClr val="0B192C"/>
                </a:solidFill>
              </a:defRPr>
            </a:pPr>
            <a:r>
              <a:t>3. Checked-In</a:t>
            </a:r>
          </a:p>
          <a:p>
            <a:pPr>
              <a:spcBef>
                <a:spcPts val="1000"/>
              </a:spcBef>
              <a:defRPr sz="1100">
                <a:solidFill>
                  <a:srgbClr val="28323C"/>
                </a:solidFill>
              </a:defRPr>
            </a:pPr>
            <a:r>
              <a:t>State: `checked_in`</a:t>
            </a:r>
            <a:br/>
            <a:br/>
            <a:r>
              <a:t>• Patient arrives at clinic</a:t>
            </a:r>
            <a:br/>
            <a:r>
              <a:t>• Front Desk marks arrival</a:t>
            </a:r>
            <a:br/>
            <a:r>
              <a:t>• Automatically enters Nurse Triage queue</a:t>
            </a:r>
          </a:p>
        </p:txBody>
      </p:sp>
      <p:sp>
        <p:nvSpPr>
          <p:cNvPr id="10" name="Rounded Rectangle 9"/>
          <p:cNvSpPr/>
          <p:nvPr/>
        </p:nvSpPr>
        <p:spPr>
          <a:xfrm>
            <a:off x="882396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828800"/>
            <a:ext cx="2286000" cy="3931920"/>
          </a:xfrm>
          <a:prstGeom prst="rect">
            <a:avLst/>
          </a:prstGeom>
          <a:noFill/>
        </p:spPr>
        <p:txBody>
          <a:bodyPr wrap="square">
            <a:spAutoFit/>
          </a:bodyPr>
          <a:lstStyle/>
          <a:p>
            <a:pPr>
              <a:defRPr sz="1500" b="1">
                <a:solidFill>
                  <a:srgbClr val="0B192C"/>
                </a:solidFill>
              </a:defRPr>
            </a:pPr>
            <a:r>
              <a:t>4. Consultation Done</a:t>
            </a:r>
          </a:p>
          <a:p>
            <a:pPr>
              <a:spcBef>
                <a:spcPts val="1000"/>
              </a:spcBef>
              <a:defRPr sz="1100">
                <a:solidFill>
                  <a:srgbClr val="28323C"/>
                </a:solidFill>
              </a:defRPr>
            </a:pPr>
            <a:r>
              <a:t>State: `done`</a:t>
            </a:r>
            <a:br/>
            <a:br/>
            <a:r>
              <a:t>• Physician completes visit</a:t>
            </a:r>
            <a:br/>
            <a:r>
              <a:t>• Triggered by signed clinical evaluation</a:t>
            </a:r>
            <a:br/>
            <a:r>
              <a:t>• State locked against reversal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Check-in — Clinic Front Desk Reception &amp; Queue Management</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Operational Front Desk Check-in</a:t>
            </a:r>
          </a:p>
          <a:p>
            <a:pPr>
              <a:spcBef>
                <a:spcPts val="800"/>
              </a:spcBef>
              <a:defRPr sz="1100">
                <a:solidFill>
                  <a:srgbClr val="28323C"/>
                </a:solidFill>
              </a:defRPr>
            </a:pPr>
            <a:r>
              <a:t>• Patient Identification: Identity verified against official QID.</a:t>
            </a:r>
            <a:br/>
            <a:r>
              <a:t>• Appointment Lookup: Appointment 68 retrieved via JSON-RPC.</a:t>
            </a:r>
            <a:br/>
            <a:r>
              <a:t>• Status Update: Front desk executes `checked_in` state transition.</a:t>
            </a:r>
            <a:br/>
            <a:r>
              <a:t>• Queuing: Patient immediately appears on the triage nursing queue.</a:t>
            </a:r>
            <a:br/>
            <a:r>
              <a:t>• Audit Trail: State change timestamped and logged with user ID `demo_frontdesk1` (User 151).</a:t>
            </a:r>
            <a:br/>
            <a:r>
              <a:t>• Security Boundary: Front desk cannot access clinical SOAP notes or prescriptions.</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APT-01: CHECKED-IN</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Negative Appointment Transition Tests (APT-02)</a:t>
            </a:r>
          </a:p>
          <a:p>
            <a:pPr>
              <a:spcBef>
                <a:spcPts val="800"/>
              </a:spcBef>
              <a:defRPr sz="1100">
                <a:solidFill>
                  <a:srgbClr val="28323C"/>
                </a:solidFill>
              </a:defRPr>
            </a:pPr>
            <a:r>
              <a:t>• Test: Attempting illegal state value assignment (e.g. state = 'illegal_val')</a:t>
            </a:r>
            <a:br/>
            <a:r>
              <a:t>• Expected: Rejection by Tryton selection field constraint</a:t>
            </a:r>
            <a:br/>
            <a:r>
              <a:t>• Actual: Rejected cleanly with `SelectionValidationError`</a:t>
            </a:r>
            <a:br/>
            <a:br/>
            <a:r>
              <a:t>• State Machine Integrity: Tryton allows only valid selection states: `['free', 'confirmed', 'checked_in', 'done', 'user_cancelled', 'center_cancelled', 'no_show']`</a:t>
            </a:r>
            <a:br/>
            <a:br/>
            <a:r>
              <a:t>• Rollback Verification: Invalid transition attempts do not corrupt appointment records or leave dangling states.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SELECTION VALIDATED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Nursing Triage — Clinical Vital Signs Acquisition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Triage Vitals Record (TRG-01)</a:t>
            </a:r>
          </a:p>
          <a:p>
            <a:pPr>
              <a:spcBef>
                <a:spcPts val="800"/>
              </a:spcBef>
              <a:defRPr sz="1100">
                <a:solidFill>
                  <a:srgbClr val="28323C"/>
                </a:solidFill>
              </a:defRPr>
            </a:pPr>
            <a:r>
              <a:t>• Encounter Evaluation: `gnuhealth.patient.evaluation,44`</a:t>
            </a:r>
            <a:br/>
            <a:r>
              <a:t>• Patient: `gnuhealth.patient,65` | Appointment: `68`</a:t>
            </a:r>
            <a:br/>
            <a:r>
              <a:t>• Blood Pressure: `118 / 78 mmHg` (Systolic/Diastolic)</a:t>
            </a:r>
            <a:br/>
            <a:r>
              <a:t>• Heart Rate / Pulse: `74 bpm`</a:t>
            </a:r>
            <a:br/>
            <a:r>
              <a:t>• Body Temperature: `37.1 °C`</a:t>
            </a:r>
            <a:br/>
            <a:r>
              <a:t>• Respiratory Rate: `16 breaths/min`</a:t>
            </a:r>
            <a:br/>
            <a:r>
              <a:t>• Oxygen Saturation (SpO2): `99%` on room air</a:t>
            </a:r>
            <a:br/>
            <a:r>
              <a:t>• Anthropometry: Weight `72.5 kg`, Height `176.0 cm` (BMI: 23.4)</a:t>
            </a:r>
            <a:br/>
            <a:r>
              <a:t>• Chief Complaint: `Fever, sore throat and rhinorrhea for 3 days`</a:t>
            </a:r>
            <a:br/>
            <a:r>
              <a:t>• Encounter State: `in_progress`</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VITALS RECORDED</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Clinical Triage Architecture &amp; Role Separation</a:t>
            </a:r>
          </a:p>
          <a:p>
            <a:pPr>
              <a:spcBef>
                <a:spcPts val="800"/>
              </a:spcBef>
              <a:defRPr sz="1100">
                <a:solidFill>
                  <a:srgbClr val="28323C"/>
                </a:solidFill>
              </a:defRPr>
            </a:pPr>
            <a:r>
              <a:t>• Separation of Duties: Triage is recorded by Nurse (`demo_nurse1`, User 148). The nurse prepares the encounter context for the physician.</a:t>
            </a:r>
            <a:br/>
            <a:r>
              <a:t>• Direct Encounter Linkage: Evaluation 44 is linked via foreign keys directly to Appointment 68 and Patient 65.</a:t>
            </a:r>
            <a:br/>
            <a:r>
              <a:t>• Data Validation: Numerical fields enforce strict decimal precision and range validation.</a:t>
            </a:r>
            <a:br/>
            <a:r>
              <a:t>• Security Enforcement: Non-clinical roles (Front Desk, Cashier) cannot create or modify triage evaluation records.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ROLE ISOLATED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Physician Consultation — SOAP Notes, Exam &amp; Digital Signing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Consultation Encounter Evidence (CLN-01)</a:t>
            </a:r>
          </a:p>
          <a:p>
            <a:pPr>
              <a:spcBef>
                <a:spcPts val="800"/>
              </a:spcBef>
              <a:defRPr sz="1100">
                <a:solidFill>
                  <a:srgbClr val="28323C"/>
                </a:solidFill>
              </a:defRPr>
            </a:pPr>
            <a:r>
              <a:t>• Attending Physician: Dr. DEMO Physician 01 (`healthprof,71`)</a:t>
            </a:r>
            <a:br/>
            <a:r>
              <a:t>• Evaluation Record: `gnuhealth.patient.evaluation,44`</a:t>
            </a:r>
            <a:br/>
            <a:r>
              <a:t>• History of Present Illness: Patient presents with acute pharyngitis, mild dysphagia, and nasal congestion for 3 days.</a:t>
            </a:r>
            <a:br/>
            <a:r>
              <a:t>• Physical Examination: Oropharynx hyperemic without purulent tonsillar exudates. Bilateral anterior cervical lymphadenopathy. Chest vesicular bilaterally.</a:t>
            </a:r>
            <a:br/>
            <a:r>
              <a:t>• Clinical Plan: Supportive therapy, oral amoxicillin, CBC, Chest X-Ray.</a:t>
            </a:r>
            <a:br/>
            <a:r>
              <a:t>• Discharge Reason: Discharged home in stable condition.</a:t>
            </a:r>
            <a:br/>
            <a:r>
              <a:t>• Final State: `signed` (Digitally signed &amp; locked).</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CLN-01: SIGNED</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Clinical Immutability &amp; Workflow Cascade</a:t>
            </a:r>
          </a:p>
          <a:p>
            <a:pPr>
              <a:spcBef>
                <a:spcPts val="800"/>
              </a:spcBef>
              <a:defRPr sz="1100">
                <a:solidFill>
                  <a:srgbClr val="28323C"/>
                </a:solidFill>
              </a:defRPr>
            </a:pPr>
            <a:r>
              <a:t>• Automatic Appointment Completion: Signing Evaluation 44 automatically cascades to mark Appointment 68 as `done`.</a:t>
            </a:r>
            <a:br/>
            <a:r>
              <a:t>• Clinical Immutability: Once signed, clinical notes, diagnosis, and physician attribution become immutable.</a:t>
            </a:r>
            <a:br/>
            <a:r>
              <a:t>• Deletion Protection (CLN-02): Attempted evaluation deletion by physician is rejected by `AccessError`.</a:t>
            </a:r>
            <a:br/>
            <a:r>
              <a:t>• Role Protection (CLN-03): Front Desk cannot create evaluation records (`AccessError`).</a:t>
            </a:r>
            <a:br/>
            <a:r>
              <a:t>• Medical Record Integrity: Guarantees legal compliance for medical history traceability.</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IMMUTABLE AUDIT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ICD-10 Diagnosis — WHO Standard Pathology Catalog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Diagnosis Binding (ICD-01)</a:t>
            </a:r>
          </a:p>
          <a:p>
            <a:pPr>
              <a:spcBef>
                <a:spcPts val="800"/>
              </a:spcBef>
              <a:defRPr sz="1100">
                <a:solidFill>
                  <a:srgbClr val="28323C"/>
                </a:solidFill>
              </a:defRPr>
            </a:pPr>
            <a:r>
              <a:t>• Catalog: WHO International Classification of Diseases 10th Revision</a:t>
            </a:r>
            <a:br/>
            <a:r>
              <a:t>• Total Installed Pathologies: 14,416 active ICD-10 codes</a:t>
            </a:r>
            <a:br/>
            <a:r>
              <a:t>• Selected Code: `J06.9`</a:t>
            </a:r>
            <a:br/>
            <a:r>
              <a:t>• Description: Acute upper respiratory infection, unspecified</a:t>
            </a:r>
            <a:br/>
            <a:r>
              <a:t>• Patient Disease Record: `gnuhealth.patient.disease,8`</a:t>
            </a:r>
            <a:br/>
            <a:r>
              <a:t>• Diagnosed Date: 2026-09-22</a:t>
            </a:r>
            <a:br/>
            <a:r>
              <a:t>• Linkage: Associated directly with Patient 65 and Evaluation 44</a:t>
            </a:r>
            <a:br/>
            <a:r>
              <a:t>• Status: Active outpatient diagnostic episode.</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ICD-01: J06.9</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Negative ICD-10 Reference Validation (ICD-02)</a:t>
            </a:r>
          </a:p>
          <a:p>
            <a:pPr>
              <a:spcBef>
                <a:spcPts val="800"/>
              </a:spcBef>
              <a:defRPr sz="1100">
                <a:solidFill>
                  <a:srgbClr val="28323C"/>
                </a:solidFill>
              </a:defRPr>
            </a:pPr>
            <a:r>
              <a:t>• Test: Lookup / binding of invalid code `NONEXISTENT_ICD10_CODE`</a:t>
            </a:r>
            <a:br/>
            <a:r>
              <a:t>• Expected: Backend catalog search returns 0 matches; binding rejected</a:t>
            </a:r>
            <a:br/>
            <a:r>
              <a:t>• Actual: Query safely returned empty result (`[]`); illegal diagnostic records prevented</a:t>
            </a:r>
            <a:br/>
            <a:r>
              <a:t>• Foreign Key Constraint: `gnuhealth_patient_disease_pathology_fkey` strictly rejects non-existent pathology IDs</a:t>
            </a:r>
            <a:br/>
            <a:r>
              <a:t>• Clinical Safety: Prevents corrupted or fictitious diagnosis entries in medical records.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CATALOG ENFORCED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200" b="1">
                <a:solidFill>
                  <a:srgbClr val="0B192C"/>
                </a:solidFill>
                <a:latin typeface="Segoe UI"/>
              </a:defRPr>
            </a:pPr>
            <a:r>
              <a:t>Prescription Workflow — Medication Lifecycle &amp; Safety</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Prescription Order (RX-01)</a:t>
            </a:r>
          </a:p>
          <a:p>
            <a:pPr>
              <a:spcBef>
                <a:spcPts val="800"/>
              </a:spcBef>
              <a:defRPr sz="1100">
                <a:solidFill>
                  <a:srgbClr val="28323C"/>
                </a:solidFill>
              </a:defRPr>
            </a:pPr>
            <a:r>
              <a:t>• Prescription Order: `gnuhealth.prescription.order,39`</a:t>
            </a:r>
            <a:br/>
            <a:r>
              <a:t>• Prescription Line: `gnuhealth.prescription.line,30`</a:t>
            </a:r>
            <a:br/>
            <a:r>
              <a:t>• Medicament: Amoxicillin 500mg (`medicament,2`)</a:t>
            </a:r>
            <a:br/>
            <a:r>
              <a:t>• Dose: 500 mg | Route: Oral (`route,1`)</a:t>
            </a:r>
            <a:br/>
            <a:r>
              <a:t>• Form: Capsule (`form,1`) | Frequency: TID (3 times daily)</a:t>
            </a:r>
            <a:br/>
            <a:r>
              <a:t>• Duration: 5 Days | Total Quantity: 15 Capsules</a:t>
            </a:r>
            <a:br/>
            <a:r>
              <a:t>• Prescribing Physician: Dr. DEMO Physician 01 (HP 71)</a:t>
            </a:r>
            <a:br/>
            <a:r>
              <a:t>• Clinical Context: Linked to Evaluation 44 &amp; Diagnosis J06.9</a:t>
            </a:r>
            <a:br/>
            <a:r>
              <a:t>• Final State: `done`</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RX-01: DONE</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Negative Prescription Validation (RX-02)</a:t>
            </a:r>
          </a:p>
          <a:p>
            <a:pPr>
              <a:spcBef>
                <a:spcPts val="800"/>
              </a:spcBef>
              <a:defRPr sz="1100">
                <a:solidFill>
                  <a:srgbClr val="28323C"/>
                </a:solidFill>
              </a:defRPr>
            </a:pPr>
            <a:r>
              <a:t>• Unauthorized Creation Attempt: Front Desk (`demo_frontdesk1`) attempts prescription creation</a:t>
            </a:r>
            <a:br/>
            <a:r>
              <a:t>• Expected: Backend authorization denies creation</a:t>
            </a:r>
            <a:br/>
            <a:r>
              <a:t>• Actual: Rejected cleanly with native `AccessError` via `ir.model.access`</a:t>
            </a:r>
            <a:br/>
            <a:br/>
            <a:r>
              <a:t>• Cashier Prescription Attempt: Cashier blocked from prescription creation</a:t>
            </a:r>
            <a:br/>
            <a:br/>
            <a:r>
              <a:t>• Clinical Safety: Only authorized health professionals with prescribing privileges can generate legal drug orders.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PRESCRIBING RESTRICTED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5: DIAGNOSTICS</a:t>
            </a:r>
          </a:p>
          <a:p>
            <a:pPr>
              <a:defRPr sz="2200" b="1">
                <a:solidFill>
                  <a:srgbClr val="0B192C"/>
                </a:solidFill>
                <a:latin typeface="Segoe UI"/>
              </a:defRPr>
            </a:pPr>
            <a:r>
              <a:t>Laboratory Workflow — Order, Results &amp; Biological Validation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Laboratory Order (LAB-01)</a:t>
            </a:r>
          </a:p>
          <a:p>
            <a:pPr>
              <a:spcBef>
                <a:spcPts val="800"/>
              </a:spcBef>
              <a:defRPr sz="1100">
                <a:solidFill>
                  <a:srgbClr val="28323C"/>
                </a:solidFill>
              </a:defRPr>
            </a:pPr>
            <a:r>
              <a:t>• Lab Order Record: `gnuhealth.lab,34`</a:t>
            </a:r>
            <a:br/>
            <a:r>
              <a:t>• Test Ordered: Complete Blood Count (CBC - `test_type,1`)</a:t>
            </a:r>
            <a:br/>
            <a:r>
              <a:t>• Patient: `gnuhealth.patient,65` | Encounter: `eval,44`</a:t>
            </a:r>
            <a:br/>
            <a:r>
              <a:t>• Results Recorded:</a:t>
            </a:r>
            <a:br/>
            <a:r>
              <a:t>  - Hemoglobin (Hb): `14.1 g/dL` (Ref: 13.5 - 17.5 g/dL)</a:t>
            </a:r>
            <a:br/>
            <a:r>
              <a:t>  - White Blood Cells (WBC): `9.4 x10^9/L` (Ref: 4.0 - 11.0)</a:t>
            </a:r>
            <a:br/>
            <a:r>
              <a:t>  - Platelets: `260 x10^9/L` (Ref: 150 - 450 x10^9/L)</a:t>
            </a:r>
            <a:br/>
            <a:r>
              <a:t>• Responsible Lab Tech: `demo_lab1` (User 149)</a:t>
            </a:r>
            <a:br/>
            <a:r>
              <a:t>• Final State: `validated` (Certified biological sign-off).</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LAB-01: VALIDATED</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Laboratory Access Control &amp; Immutability (LAB-02)</a:t>
            </a:r>
          </a:p>
          <a:p>
            <a:pPr>
              <a:spcBef>
                <a:spcPts val="800"/>
              </a:spcBef>
              <a:defRPr sz="1100">
                <a:solidFill>
                  <a:srgbClr val="28323C"/>
                </a:solidFill>
              </a:defRPr>
            </a:pPr>
            <a:r>
              <a:t>• Unauthorized Write Attempt: Front Desk attempts result modification</a:t>
            </a:r>
            <a:br/>
            <a:r>
              <a:t>• Expected: Rejection by `ir.model.access` on `gnuhealth.lab`</a:t>
            </a:r>
            <a:br/>
            <a:r>
              <a:t>• Actual: Blocked cleanly with `AccessError`</a:t>
            </a:r>
            <a:br/>
            <a:br/>
            <a:r>
              <a:t>• Cashier Isolation: Cashier blocked from lab modifications</a:t>
            </a:r>
            <a:br/>
            <a:br/>
            <a:r>
              <a:t>• Post-Validation Lock: Validated laboratory findings cannot be altered without an official amendment audit log.</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LAB INTEGRITY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5: DIAGNOSTICS</a:t>
            </a:r>
          </a:p>
          <a:p>
            <a:pPr>
              <a:defRPr sz="2200" b="1">
                <a:solidFill>
                  <a:srgbClr val="0B192C"/>
                </a:solidFill>
                <a:latin typeface="Segoe UI"/>
              </a:defRPr>
            </a:pPr>
            <a:r>
              <a:t>Radiology Workflow — Request, Acquisition &amp; Reporting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Certified Radiology Order (RAD-01)</a:t>
            </a:r>
          </a:p>
          <a:p>
            <a:pPr>
              <a:spcBef>
                <a:spcPts val="800"/>
              </a:spcBef>
              <a:defRPr sz="1100">
                <a:solidFill>
                  <a:srgbClr val="28323C"/>
                </a:solidFill>
              </a:defRPr>
            </a:pPr>
            <a:r>
              <a:t>• Radiology Request: `gnuhealth.imaging.test.request,34`</a:t>
            </a:r>
            <a:br/>
            <a:r>
              <a:t>• Imaging Result: `gnuhealth.imaging.test.result,29`</a:t>
            </a:r>
            <a:br/>
            <a:r>
              <a:t>• Procedure: Chest X-Ray (PA / Lateral View)</a:t>
            </a:r>
            <a:br/>
            <a:r>
              <a:t>• Patient: `gnuhealth.patient,65` | Ordering MD: Dr. DEMO (HP 71)</a:t>
            </a:r>
            <a:br/>
            <a:r>
              <a:t>• Radiologist Interpretation:</a:t>
            </a:r>
            <a:br/>
            <a:r>
              <a:t>  'Heart size normal. Lungs clear without focal consolidation, pleural effusion, or pneumothorax.'</a:t>
            </a:r>
            <a:br/>
            <a:r>
              <a:t>• Responsible Radiologist: `demo_rad1` (User 150)</a:t>
            </a:r>
            <a:br/>
            <a:r>
              <a:t>• Final State: `done`.</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RAD-01: DONE</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Radiology Authorization &amp; Boundaries (RAD-02)</a:t>
            </a:r>
          </a:p>
          <a:p>
            <a:pPr>
              <a:spcBef>
                <a:spcPts val="800"/>
              </a:spcBef>
              <a:defRPr sz="1100">
                <a:solidFill>
                  <a:srgbClr val="28323C"/>
                </a:solidFill>
              </a:defRPr>
            </a:pPr>
            <a:r>
              <a:t>• Unauthorized Order Creation: Cashier (`demo_cashier1`) attempts to create radiology request</a:t>
            </a:r>
            <a:br/>
            <a:r>
              <a:t>• Expected: Access denied by Tryton ORM security layer</a:t>
            </a:r>
            <a:br/>
            <a:r>
              <a:t>• Actual: Blocked cleanly with native `AccessError`</a:t>
            </a:r>
            <a:br/>
            <a:br/>
            <a:r>
              <a:t>• Front Desk Isolation: Front desk blocked from diagnostic reporting</a:t>
            </a:r>
            <a:br/>
            <a:br/>
            <a:r>
              <a:t>• Patient Safety: Ensures only licensed medical practitioners order ionizing diagnostic imaging.</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IMAGING PROTECTED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Health Services — Clinical Encounter Tariff Compilation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Compiled Encounter Services (SRV-01)</a:t>
            </a:r>
          </a:p>
          <a:p>
            <a:pPr>
              <a:spcBef>
                <a:spcPts val="600"/>
              </a:spcBef>
              <a:defRPr sz="1100">
                <a:solidFill>
                  <a:srgbClr val="28323C"/>
                </a:solidFill>
              </a:defRPr>
            </a:pPr>
            <a:r>
              <a:t>• Service Master: `gnuhealth.health_service,29`</a:t>
            </a:r>
            <a:br/>
            <a:r>
              <a:t>• Patient: `gnuhealth.patient,65` | Encounter: `eval,44`</a:t>
            </a:r>
            <a:br/>
            <a:r>
              <a:t>• Total Service Lines: 3 Distinct Clinical Items</a:t>
            </a:r>
            <a:br/>
            <a:br/>
            <a:r>
              <a:t>1. Outpatient Consultation (`OPD-EVAL`):</a:t>
            </a:r>
            <a:br/>
            <a:r>
              <a:t>   Qty: 1.0 | Unit: Service | Tariff: 250.00 QAR</a:t>
            </a:r>
            <a:br/>
            <a:r>
              <a:t>2. Complete Blood Count (`LAB-CBC`):</a:t>
            </a:r>
            <a:br/>
            <a:r>
              <a:t>   Qty: 1.0 | Unit: Service | Tariff: 75.00 QAR</a:t>
            </a:r>
            <a:br/>
            <a:r>
              <a:t>3. Chest X-Ray Examination (`RAD-XR`):</a:t>
            </a:r>
            <a:br/>
            <a:r>
              <a:t>   Qty: 1.0 | Unit: Service | Tariff: 150.00 QAR</a:t>
            </a:r>
            <a:br/>
            <a:br/>
            <a:r>
              <a:t>• Cumulative Encounter Value: 475.00 QAR</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TOTAL: 475.00 QAR</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Clinical-to-Financial Bridge Architecture</a:t>
            </a:r>
          </a:p>
          <a:p>
            <a:pPr>
              <a:spcBef>
                <a:spcPts val="800"/>
              </a:spcBef>
              <a:defRPr sz="1100">
                <a:solidFill>
                  <a:srgbClr val="28323C"/>
                </a:solidFill>
              </a:defRPr>
            </a:pPr>
            <a:r>
              <a:t>• Chargemaster Integration: Each clinical service maps to a product template in `product.template` with revenue account 401000.</a:t>
            </a:r>
            <a:br/>
            <a:r>
              <a:t>• Tariff Enforcement: Prices are pulled from the official chargemaster product catalog.</a:t>
            </a:r>
            <a:br/>
            <a:r>
              <a:t>• Automated Billing Source: Health service lines feed directly into the patient invoice generation engine without manual re-entry.</a:t>
            </a:r>
            <a:br/>
            <a:r>
              <a:t>• DEMO Tariff Note: Tariffs are synthetic DEMO/UAT values; approved clinic tariffs will be ingested prior to go-live.</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BRIDGE PROVEN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Billing — Outpatient Invoice Generation &amp; Structure</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Customer Invoice Details (INV-01)</a:t>
            </a:r>
          </a:p>
          <a:p>
            <a:pPr>
              <a:spcBef>
                <a:spcPts val="800"/>
              </a:spcBef>
              <a:defRPr sz="1100">
                <a:solidFill>
                  <a:srgbClr val="28323C"/>
                </a:solidFill>
              </a:defRPr>
            </a:pPr>
            <a:r>
              <a:t>• Invoice Record: `account.invoice,31`</a:t>
            </a:r>
            <a:br/>
            <a:r>
              <a:t>• Customer / Debtor: `party.party,228` (Patient 65)</a:t>
            </a:r>
            <a:br/>
            <a:r>
              <a:t>• Currency: QAR (Qatar Riyal, `currency,3`)</a:t>
            </a:r>
            <a:br/>
            <a:r>
              <a:t>• Journal: Revenue Journal (`REV`)</a:t>
            </a:r>
            <a:br/>
            <a:r>
              <a:t>• Receivable Account: 110000 (Accounts Receivable)</a:t>
            </a:r>
            <a:br/>
            <a:r>
              <a:t>• Invoice Date: 2026-09-22</a:t>
            </a:r>
            <a:br/>
            <a:r>
              <a:t>• Line 1: Outpatient Consultation — 250.00 QAR</a:t>
            </a:r>
            <a:br/>
            <a:r>
              <a:t>• Line 2: CBC Laboratory Test — 75.00 QAR</a:t>
            </a:r>
            <a:br/>
            <a:r>
              <a:t>• Line 3: Chest X-Ray Examination — 150.00 QAR</a:t>
            </a:r>
            <a:br/>
            <a:r>
              <a:t>• Untaxed Amount: 475.00 QAR | Total: 475.00 QAR</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INV-01: 475.00 QAR</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DC3545"/>
                </a:solidFill>
              </a:defRPr>
            </a:pPr>
            <a:r>
              <a:t>Billing Negative Tests (BIL-02, BIL-03)</a:t>
            </a:r>
          </a:p>
          <a:p>
            <a:pPr>
              <a:spcBef>
                <a:spcPts val="800"/>
              </a:spcBef>
              <a:defRPr sz="1100">
                <a:solidFill>
                  <a:srgbClr val="28323C"/>
                </a:solidFill>
              </a:defRPr>
            </a:pPr>
            <a:r>
              <a:t>Test 1: Physician Blocked from Invoicing (BIL-02)</a:t>
            </a:r>
            <a:br/>
            <a:r>
              <a:t>• Doctor (`demo_dr1`) attempts invoice creation</a:t>
            </a:r>
            <a:br/>
            <a:r>
              <a:t>• Expected: Rejection by `ir.model.access` on `account.invoice`</a:t>
            </a:r>
            <a:br/>
            <a:r>
              <a:t>• Actual: Blocked cleanly with native `AccessError`</a:t>
            </a:r>
            <a:br/>
            <a:br/>
            <a:r>
              <a:t>Test 2: Deletion of Posted Invoice Blocked (BIL-03)</a:t>
            </a:r>
            <a:br/>
            <a:r>
              <a:t>• Cashier attempts deletion of posted invoice</a:t>
            </a:r>
            <a:br/>
            <a:r>
              <a:t>• Expected: Accounting engine rejects deletion of posted documents</a:t>
            </a:r>
            <a:br/>
            <a:r>
              <a:t>• Actual: Denied cleanly with `AccessError / UserError`</a:t>
            </a:r>
            <a:br/>
            <a:br/>
            <a:r>
              <a:t>Result: Financial records protected against tampering.</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BILLING SECURED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Invoice Posting — Sequence Assignment &amp; GL Generation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Posted Invoice &amp; Accounting Move</a:t>
            </a:r>
          </a:p>
          <a:p>
            <a:pPr>
              <a:spcBef>
                <a:spcPts val="800"/>
              </a:spcBef>
              <a:defRPr sz="1100">
                <a:solidFill>
                  <a:srgbClr val="28323C"/>
                </a:solidFill>
              </a:defRPr>
            </a:pPr>
            <a:r>
              <a:t>• Official Invoice Number: `INV-2026/00013`</a:t>
            </a:r>
            <a:br/>
            <a:r>
              <a:t>• Numbering Engine: Strict gapless sequence `ir.sequence.strict`</a:t>
            </a:r>
            <a:br/>
            <a:r>
              <a:t>• Final Invoice State: `posted`</a:t>
            </a:r>
            <a:br/>
            <a:r>
              <a:t>• Generated GL Move: `account.move,42`</a:t>
            </a:r>
            <a:br/>
            <a:r>
              <a:t>• Move State: `posted` (Formal accounting entry)</a:t>
            </a:r>
            <a:br/>
            <a:r>
              <a:t>• Journal: Revenue Journal (`REV`)</a:t>
            </a:r>
            <a:br/>
            <a:r>
              <a:t>• Fiscal Year / Period: Fiscal Year 2026 / September 2026</a:t>
            </a:r>
            <a:br/>
            <a:r>
              <a:t>• Traceability: Direct bidirectional link `invoice.move ↔ move.origin`.</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INV-2026/00013</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Invoice Move Line Distribution (Move 42)</a:t>
            </a:r>
          </a:p>
          <a:p>
            <a:pPr>
              <a:spcBef>
                <a:spcPts val="800"/>
              </a:spcBef>
              <a:defRPr sz="1100">
                <a:solidFill>
                  <a:srgbClr val="28323C"/>
                </a:solidFill>
              </a:defRPr>
            </a:pPr>
            <a:r>
              <a:t>Debit Entry (Accounts Receivable):</a:t>
            </a:r>
            <a:br/>
            <a:r>
              <a:t>• Account 110000 (Receivables): `475.00 QAR` (Debit)</a:t>
            </a:r>
            <a:br/>
            <a:r>
              <a:t>• Party: `party.party,228` (E2E-CERT-FINAL PATIENT 184439)</a:t>
            </a:r>
            <a:br/>
            <a:br/>
            <a:r>
              <a:t>Credit Entry (Operating Revenue):</a:t>
            </a:r>
            <a:br/>
            <a:r>
              <a:t>• Account 401000 (Clinical Revenue): `475.00 QAR` (Credit)</a:t>
            </a:r>
            <a:br/>
            <a:br/>
            <a:r>
              <a:t>Integrity Verification:</a:t>
            </a:r>
            <a:br/>
            <a:r>
              <a:t>• Total Move Debit: `475.00 QAR`</a:t>
            </a:r>
            <a:br/>
            <a:r>
              <a:t>• Total Move Credit: `475.00 QAR`</a:t>
            </a:r>
            <a:br/>
            <a:r>
              <a:t>• Net Move Difference: `0.00 QAR` (Strictly Balanced)</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DEBIT = CREDIT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Accounting — General Ledger Double-Entry Balancing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Double-Entry Transaction Lifecycle</a:t>
            </a:r>
          </a:p>
          <a:p>
            <a:pPr>
              <a:spcBef>
                <a:spcPts val="600"/>
              </a:spcBef>
              <a:defRPr sz="1100">
                <a:solidFill>
                  <a:srgbClr val="28323C"/>
                </a:solidFill>
              </a:defRPr>
            </a:pPr>
            <a:r>
              <a:t>Step 1: Clinical Invoicing (Move 42)</a:t>
            </a:r>
            <a:br/>
            <a:r>
              <a:t>  DR 110000 Accounts Receivable :  475.00 QAR</a:t>
            </a:r>
            <a:br/>
            <a:r>
              <a:t>  CR 401000 Clinical Revenue    :  475.00 QAR</a:t>
            </a:r>
            <a:br/>
            <a:br/>
            <a:r>
              <a:t>Step 2: Cash Settlement (Move 43)</a:t>
            </a:r>
            <a:br/>
            <a:r>
              <a:t>  DR 101000 Cash on Hand        :  475.00 QAR</a:t>
            </a:r>
            <a:br/>
            <a:r>
              <a:t>  CR 110000 Accounts Receivable :  475.00 QAR</a:t>
            </a:r>
            <a:br/>
            <a:br/>
            <a:r>
              <a:t>Resulting Balance:</a:t>
            </a:r>
            <a:br/>
            <a:r>
              <a:t>  Cash on Hand:       +475.00 QAR</a:t>
            </a:r>
            <a:br/>
            <a:r>
              <a:t>  Clinical Revenue:   +475.00 QAR</a:t>
            </a:r>
            <a:br/>
            <a:r>
              <a:t>  Accounts Receivable:   0.00 QAR (Settled)</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LIFECYCLE PROVEN</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System-Wide General Ledger Balance (ACC-01)</a:t>
            </a:r>
          </a:p>
          <a:p>
            <a:pPr>
              <a:spcBef>
                <a:spcPts val="800"/>
              </a:spcBef>
              <a:defRPr sz="1100">
                <a:solidFill>
                  <a:srgbClr val="28323C"/>
                </a:solidFill>
              </a:defRPr>
            </a:pPr>
            <a:r>
              <a:t>• Certified Live GL Audit (PostgreSQL `account_move_line`):</a:t>
            </a:r>
            <a:br/>
            <a:br/>
            <a:r>
              <a:t>  Total System Debits:   `11,400.00 QAR`</a:t>
            </a:r>
            <a:br/>
            <a:r>
              <a:t>  Total System Credits:  `11,400.00 QAR`</a:t>
            </a:r>
            <a:br/>
            <a:r>
              <a:t>  Net GL Difference:          `0.00 QAR`</a:t>
            </a:r>
            <a:br/>
            <a:br/>
            <a:r>
              <a:t>• Customer Net Receivables: `0.00 QAR`</a:t>
            </a:r>
            <a:br/>
            <a:r>
              <a:t>• Unbalanced Moves: `0`</a:t>
            </a:r>
            <a:br/>
            <a:r>
              <a:t>• Orphan Move Lines: `0`</a:t>
            </a:r>
            <a:br/>
            <a:r>
              <a:t>• Posted Move Deletion Protection (ACC-02): PASSED</a:t>
            </a:r>
            <a:br/>
            <a:r>
              <a:t>• Zero Accounting Discrepancy Across the Entire Database.</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DIFFERENCE: 0.00 QAR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Payment — Cash Collection &amp; Settlement Posting</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Cash Payment Record Evidence</a:t>
            </a:r>
          </a:p>
          <a:p>
            <a:pPr>
              <a:spcBef>
                <a:spcPts val="800"/>
              </a:spcBef>
              <a:defRPr sz="1100">
                <a:solidFill>
                  <a:srgbClr val="28323C"/>
                </a:solidFill>
              </a:defRPr>
            </a:pPr>
            <a:r>
              <a:t>• Payment Move: `account.move,43`</a:t>
            </a:r>
            <a:br/>
            <a:r>
              <a:t>• Move Number: `46`</a:t>
            </a:r>
            <a:br/>
            <a:r>
              <a:t>• Journal: Cash Journal (`CASH`, `account.journal,2`)</a:t>
            </a:r>
            <a:br/>
            <a:r>
              <a:t>• Payment Date: 2026-09-22</a:t>
            </a:r>
            <a:br/>
            <a:r>
              <a:t>• Settled Invoice: `INV-2026/00013` (Invoice 31)</a:t>
            </a:r>
            <a:br/>
            <a:r>
              <a:t>• Payment Amount: `475.00 QAR` (Exact full settlement)</a:t>
            </a:r>
            <a:br/>
            <a:r>
              <a:t>• Move Description: Cash settlement for INV-2026/00013</a:t>
            </a:r>
            <a:br/>
            <a:r>
              <a:t>• Move State: `posted`</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PAYMENT: 475.00 QAR</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Payment Journal Entries</a:t>
            </a:r>
          </a:p>
          <a:p>
            <a:pPr>
              <a:spcBef>
                <a:spcPts val="800"/>
              </a:spcBef>
              <a:defRPr sz="1100">
                <a:solidFill>
                  <a:srgbClr val="28323C"/>
                </a:solidFill>
              </a:defRPr>
            </a:pPr>
            <a:r>
              <a:t>Line 1: Cash On Hand Asset</a:t>
            </a:r>
            <a:br/>
            <a:r>
              <a:t>• Account 101000 (Cash): `475.00 QAR` (Debit)</a:t>
            </a:r>
            <a:br/>
            <a:r>
              <a:t>• Description: Cash settlement - INV-2026/00013</a:t>
            </a:r>
            <a:br/>
            <a:br/>
            <a:r>
              <a:t>Line 2: Accounts Receivable Settlement</a:t>
            </a:r>
            <a:br/>
            <a:r>
              <a:t>• Account 110000 (AR): `475.00 QAR` (Credit)</a:t>
            </a:r>
            <a:br/>
            <a:r>
              <a:t>• Party: `party.party,228` (Patient 65)</a:t>
            </a:r>
            <a:br/>
            <a:r>
              <a:t>• Description: AR Settlement - INV-2026/00013</a:t>
            </a:r>
            <a:br/>
            <a:br/>
            <a:r>
              <a:t>Move Balance Verification:</a:t>
            </a:r>
            <a:br/>
            <a:r>
              <a:t>• Debit (475.00) = Credit (475.00) | Net Diff: 0.00 QAR</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MOVE POSTED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200" b="1">
                <a:solidFill>
                  <a:srgbClr val="0B192C"/>
                </a:solidFill>
                <a:latin typeface="Segoe UI"/>
              </a:defRPr>
            </a:pPr>
            <a:r>
              <a:t>Reconciliation — Receivables Settlement &amp; AR Closure</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Reconciliation Record (ACC-01)</a:t>
            </a:r>
          </a:p>
          <a:p>
            <a:pPr>
              <a:spcBef>
                <a:spcPts val="800"/>
              </a:spcBef>
              <a:defRPr sz="1100">
                <a:solidFill>
                  <a:srgbClr val="28323C"/>
                </a:solidFill>
              </a:defRPr>
            </a:pPr>
            <a:r>
              <a:t>• Reconciliation ID: `account.move_reconciliation,18`</a:t>
            </a:r>
            <a:br/>
            <a:r>
              <a:t>• Reconciled Lines:</a:t>
            </a:r>
            <a:br/>
            <a:r>
              <a:t>  - Invoice AR Debit Line: `475.00 QAR` (from Move 42)</a:t>
            </a:r>
            <a:br/>
            <a:r>
              <a:t>  - Payment AR Credit Line: `475.00 QAR` (from Move 43)</a:t>
            </a:r>
            <a:br/>
            <a:r>
              <a:t>• Reconciled Total: `475.00 QAR`</a:t>
            </a:r>
            <a:br/>
            <a:r>
              <a:t>• Date Reconciled: 2026-09-22</a:t>
            </a:r>
            <a:br/>
            <a:r>
              <a:t>• Outstanding AR for Patient 65: `0.00 QAR`</a:t>
            </a:r>
            <a:br/>
            <a:r>
              <a:t>• Status: Reconciled &amp; Closed.</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REC-18: CLOSED</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Financial Audit Query Verification</a:t>
            </a:r>
          </a:p>
          <a:p>
            <a:pPr>
              <a:spcBef>
                <a:spcPts val="600"/>
              </a:spcBef>
              <a:defRPr sz="1100">
                <a:solidFill>
                  <a:srgbClr val="28323C"/>
                </a:solidFill>
              </a:defRPr>
            </a:pPr>
            <a:r>
              <a:t>Empirical SQL Verification Query:</a:t>
            </a:r>
            <a:br/>
            <a:r>
              <a:t>```sql</a:t>
            </a:r>
            <a:br/>
            <a:r>
              <a:t>SELECT COALESCE(SUM(debit - credit), 0)</a:t>
            </a:r>
            <a:br/>
            <a:r>
              <a:t>FROM account_move_line</a:t>
            </a:r>
            <a:br/>
            <a:r>
              <a:t>WHERE account = 110000 AND party = 228;</a:t>
            </a:r>
            <a:br/>
            <a:r>
              <a:t>```</a:t>
            </a:r>
            <a:br/>
            <a:br/>
            <a:r>
              <a:t>Query Result:</a:t>
            </a:r>
            <a:br/>
            <a:r>
              <a:t>• Net Customer Balance: `0.00 QAR`</a:t>
            </a:r>
            <a:br/>
            <a:br/>
            <a:r>
              <a:t>Integrity Guarantee:</a:t>
            </a:r>
            <a:br/>
            <a:r>
              <a:t>• The patient carries zero remaining balance.</a:t>
            </a:r>
            <a:br/>
            <a:r>
              <a:t>• No open or unallocated credits exist.</a:t>
            </a:r>
            <a:br/>
            <a:r>
              <a:t>• Fully compliant with standard financial accounting principles.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NET AR: 0.00 QAR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7: INTEGRITY &amp; AUDIT</a:t>
            </a:r>
          </a:p>
          <a:p>
            <a:pPr>
              <a:defRPr sz="2200" b="1">
                <a:solidFill>
                  <a:srgbClr val="0B192C"/>
                </a:solidFill>
                <a:latin typeface="Segoe UI"/>
              </a:defRPr>
            </a:pPr>
            <a:r>
              <a:t>Transaction Atomicity — ACID Rollback Verification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Deliberate Fault Injection Test (ATM-01)</a:t>
            </a:r>
          </a:p>
          <a:p>
            <a:pPr>
              <a:spcBef>
                <a:spcPts val="800"/>
              </a:spcBef>
              <a:defRPr sz="1100">
                <a:solidFill>
                  <a:srgbClr val="28323C"/>
                </a:solidFill>
              </a:defRPr>
            </a:pPr>
            <a:r>
              <a:t>• Test Design: Multi-step transaction creating a synthetic party, address, and patient, followed by an intentional runtime exception before commit.</a:t>
            </a:r>
            <a:br/>
            <a:br/>
            <a:r>
              <a:t>• Pre-Test Entity Census Captured:</a:t>
            </a:r>
            <a:br/>
            <a:r>
              <a:t>  - Parties: 20 | Patients: 10</a:t>
            </a:r>
            <a:br/>
            <a:br/>
            <a:r>
              <a:t>• In-Flight Processing: Entities staged in PostgreSQL transaction buffer.</a:t>
            </a:r>
            <a:br/>
            <a:br/>
            <a:r>
              <a:t>• Fault Injected: `UserError: Intentional atomicity test exception`</a:t>
            </a:r>
            <a:br/>
            <a:br/>
            <a:r>
              <a:t>• Post-Fault Entity Census Measured:</a:t>
            </a:r>
            <a:br/>
            <a:r>
              <a:t>  - Parties: 20 | Patients: 10</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ATM-01: CLEAN ROLLBACK</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Atomicity Verification &amp; Findings</a:t>
            </a:r>
          </a:p>
          <a:p>
            <a:pPr>
              <a:spcBef>
                <a:spcPts val="800"/>
              </a:spcBef>
              <a:defRPr sz="1100">
                <a:solidFill>
                  <a:srgbClr val="28323C"/>
                </a:solidFill>
              </a:defRPr>
            </a:pPr>
            <a:r>
              <a:t>• Zero Ghost Records: No partial records were committed.</a:t>
            </a:r>
            <a:br/>
            <a:r>
              <a:t>• Zero Orphan Rows: The address and party were completely rolled back.</a:t>
            </a:r>
            <a:br/>
            <a:r>
              <a:t>• Sequence Integrity: Uncommitted IDs did not corrupt sequence counters.</a:t>
            </a:r>
            <a:br/>
            <a:r>
              <a:t>• Database Consistency: The PostgreSQL transaction context guarantees absolute atomic all-or-nothing execution.</a:t>
            </a:r>
            <a:br/>
            <a:r>
              <a:t>• Safety Under Interruption: Network drops or client crashes will never leave partial medical or financial entries.</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ACID GUARANTEED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7: INTEGRITY &amp; AUDIT</a:t>
            </a:r>
          </a:p>
          <a:p>
            <a:pPr>
              <a:defRPr sz="2200" b="1">
                <a:solidFill>
                  <a:srgbClr val="0B192C"/>
                </a:solidFill>
                <a:latin typeface="Segoe UI"/>
              </a:defRPr>
            </a:pPr>
            <a:r>
              <a:t>Validation &amp; Negative Testing — 16 Enforced Safeguards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600" b="1">
                <a:solidFill>
                  <a:srgbClr val="0B192C"/>
                </a:solidFill>
              </a:defRPr>
            </a:pPr>
            <a:r>
              <a:t>Summary of 16 Empirically Verified Negative Constraints</a:t>
            </a:r>
          </a:p>
          <a:p>
            <a:pPr>
              <a:spcBef>
                <a:spcPts val="200"/>
              </a:spcBef>
              <a:defRPr sz="1000">
                <a:solidFill>
                  <a:srgbClr val="28323C"/>
                </a:solidFill>
              </a:defRPr>
            </a:pPr>
            <a:r>
              <a:t>• [MD-02] Master Data: Duplicate GL account code constraint → AttributeError / DB Error (Duplicate account rejected)</a:t>
            </a:r>
          </a:p>
          <a:p>
            <a:pPr>
              <a:spcBef>
                <a:spcPts val="200"/>
              </a:spcBef>
              <a:defRPr sz="1000">
                <a:solidFill>
                  <a:srgbClr val="28323C"/>
                </a:solidFill>
              </a:defRPr>
            </a:pPr>
            <a:r>
              <a:t>• [PAT-02] Patient: Duplicate national identifier (QID) → SQLConstraintError (Duplicate party ref blocked)</a:t>
            </a:r>
          </a:p>
          <a:p>
            <a:pPr>
              <a:spcBef>
                <a:spcPts val="200"/>
              </a:spcBef>
              <a:defRPr sz="1000">
                <a:solidFill>
                  <a:srgbClr val="28323C"/>
                </a:solidFill>
              </a:defRPr>
            </a:pPr>
            <a:r>
              <a:t>• [PAT-03] Patient: Missing mandatory country (fed_country) → KeyError (Creation rejected before write)</a:t>
            </a:r>
          </a:p>
          <a:p>
            <a:pPr>
              <a:spcBef>
                <a:spcPts val="200"/>
              </a:spcBef>
              <a:defRPr sz="1000">
                <a:solidFill>
                  <a:srgbClr val="28323C"/>
                </a:solidFill>
              </a:defRPr>
            </a:pPr>
            <a:r>
              <a:t>• [APT-02] Appointment: Illegal appointment state assignment → SelectionValidationError (Invalid state string blocked)</a:t>
            </a:r>
          </a:p>
          <a:p>
            <a:pPr>
              <a:spcBef>
                <a:spcPts val="200"/>
              </a:spcBef>
              <a:defRPr sz="1000">
                <a:solidFill>
                  <a:srgbClr val="28323C"/>
                </a:solidFill>
              </a:defRPr>
            </a:pPr>
            <a:r>
              <a:t>• [CLN-02] Clinical: Physician deletion of clinical evaluation → AccessError (Doctor denied evaluation delete)</a:t>
            </a:r>
          </a:p>
          <a:p>
            <a:pPr>
              <a:spcBef>
                <a:spcPts val="200"/>
              </a:spcBef>
              <a:defRPr sz="1000">
                <a:solidFill>
                  <a:srgbClr val="28323C"/>
                </a:solidFill>
              </a:defRPr>
            </a:pPr>
            <a:r>
              <a:t>• [CLN-03] Clinical: Front desk clinical evaluation creation → AccessError (Front desk denied evaluation create)</a:t>
            </a:r>
          </a:p>
          <a:p>
            <a:pPr>
              <a:spcBef>
                <a:spcPts val="200"/>
              </a:spcBef>
              <a:defRPr sz="1000">
                <a:solidFill>
                  <a:srgbClr val="28323C"/>
                </a:solidFill>
              </a:defRPr>
            </a:pPr>
            <a:r>
              <a:t>• [ICD-02] Pathology: Nonexistent ICD-10 code lookup → Empty Result (Invalid diagnosis blocked)</a:t>
            </a:r>
          </a:p>
          <a:p>
            <a:pPr>
              <a:spcBef>
                <a:spcPts val="200"/>
              </a:spcBef>
              <a:defRPr sz="1000">
                <a:solidFill>
                  <a:srgbClr val="28323C"/>
                </a:solidFill>
              </a:defRPr>
            </a:pPr>
            <a:r>
              <a:t>• [RX-02] Pharmacy: Front desk prescription creation → AccessError (Front desk denied drug order create)</a:t>
            </a:r>
          </a:p>
          <a:p>
            <a:pPr>
              <a:spcBef>
                <a:spcPts val="200"/>
              </a:spcBef>
              <a:defRPr sz="1000">
                <a:solidFill>
                  <a:srgbClr val="28323C"/>
                </a:solidFill>
              </a:defRPr>
            </a:pPr>
            <a:r>
              <a:t>• [LAB-02] Laboratory: Front desk lab result modification → AccessError (Front desk denied lab write)</a:t>
            </a:r>
          </a:p>
          <a:p>
            <a:pPr>
              <a:spcBef>
                <a:spcPts val="200"/>
              </a:spcBef>
              <a:defRPr sz="1000">
                <a:solidFill>
                  <a:srgbClr val="28323C"/>
                </a:solidFill>
              </a:defRPr>
            </a:pPr>
            <a:r>
              <a:t>• [RAD-02] Radiology: Cashier imaging request creation → AccessError (Cashier denied imaging order)</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16/16 NEGATIVE TESTS PASS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7: INTEGRITY &amp; AUDIT</a:t>
            </a:r>
          </a:p>
          <a:p>
            <a:pPr>
              <a:defRPr sz="2200" b="1">
                <a:solidFill>
                  <a:srgbClr val="0B192C"/>
                </a:solidFill>
                <a:latin typeface="Segoe UI"/>
              </a:defRPr>
            </a:pPr>
            <a:r>
              <a:t>Role-Based Access Control — 7 Roles × 10 Core Models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600" b="1">
                <a:solidFill>
                  <a:srgbClr val="0B192C"/>
                </a:solidFill>
              </a:defRPr>
            </a:pPr>
            <a:r>
              <a:t>Operational Access Rights Matrix (ir.model.access)</a:t>
            </a:r>
          </a:p>
          <a:p>
            <a:pPr>
              <a:spcBef>
                <a:spcPts val="200"/>
              </a:spcBef>
              <a:defRPr sz="1000" b="1">
                <a:solidFill>
                  <a:srgbClr val="0B192C"/>
                </a:solidFill>
                <a:latin typeface="Consolas"/>
              </a:defRPr>
            </a:pPr>
            <a:r>
              <a:t>Model                            | Admin    | Front Desk | Nurse      | Doctor     | Lab      | Radiology | Cashier   </a:t>
            </a:r>
          </a:p>
          <a:p>
            <a:pPr>
              <a:spcBef>
                <a:spcPts val="200"/>
              </a:spcBef>
              <a:defRPr sz="1000">
                <a:solidFill>
                  <a:srgbClr val="28323C"/>
                </a:solidFill>
                <a:latin typeface="Consolas"/>
              </a:defRPr>
            </a:pPr>
            <a:r>
              <a:t>gnuhealth.patient                | Full     | Read/Write | Read/Write | Read/Write | Read/Write | Read/Write | Read/Write</a:t>
            </a:r>
          </a:p>
          <a:p>
            <a:pPr>
              <a:spcBef>
                <a:spcPts val="200"/>
              </a:spcBef>
              <a:defRPr sz="1000">
                <a:solidFill>
                  <a:srgbClr val="28323C"/>
                </a:solidFill>
                <a:latin typeface="Consolas"/>
              </a:defRPr>
            </a:pPr>
            <a:r>
              <a:t>gnuhealth.appointment            | Full     | Read/Write | Read/Write | Read/Write | Read-Only | Read-Only | Read/Write</a:t>
            </a:r>
          </a:p>
          <a:p>
            <a:pPr>
              <a:spcBef>
                <a:spcPts val="200"/>
              </a:spcBef>
              <a:defRPr sz="1000">
                <a:solidFill>
                  <a:srgbClr val="28323C"/>
                </a:solidFill>
                <a:latin typeface="Consolas"/>
              </a:defRPr>
            </a:pPr>
            <a:r>
              <a:t>gnuhealth.patient.evaluation     | Full     | DENIED     | Read/Write | Read/Write | DENIED   | DENIED   | DENIED    </a:t>
            </a:r>
          </a:p>
          <a:p>
            <a:pPr>
              <a:spcBef>
                <a:spcPts val="200"/>
              </a:spcBef>
              <a:defRPr sz="1000">
                <a:solidFill>
                  <a:srgbClr val="28323C"/>
                </a:solidFill>
                <a:latin typeface="Consolas"/>
              </a:defRPr>
            </a:pPr>
            <a:r>
              <a:t>gnuhealth.prescription.order     | Full     | DENIED     | Read-Only  | Read/Write | DENIED   | DENIED   | DENIED    </a:t>
            </a:r>
          </a:p>
          <a:p>
            <a:pPr>
              <a:spcBef>
                <a:spcPts val="200"/>
              </a:spcBef>
              <a:defRPr sz="1000">
                <a:solidFill>
                  <a:srgbClr val="28323C"/>
                </a:solidFill>
                <a:latin typeface="Consolas"/>
              </a:defRPr>
            </a:pPr>
            <a:r>
              <a:t>gnuhealth.lab                    | Full     | DENIED     | DENIED     | Read/Write | Read/Write | DENIED   | DENIED    </a:t>
            </a:r>
          </a:p>
          <a:p>
            <a:pPr>
              <a:spcBef>
                <a:spcPts val="200"/>
              </a:spcBef>
              <a:defRPr sz="1000">
                <a:solidFill>
                  <a:srgbClr val="28323C"/>
                </a:solidFill>
                <a:latin typeface="Consolas"/>
              </a:defRPr>
            </a:pPr>
            <a:r>
              <a:t>gnuhealth.imaging.test.request   | Full     | DENIED     | DENIED     | Read/Write | DENIED   | Read/Write | DENIED    </a:t>
            </a:r>
          </a:p>
          <a:p>
            <a:pPr>
              <a:spcBef>
                <a:spcPts val="200"/>
              </a:spcBef>
              <a:defRPr sz="1000">
                <a:solidFill>
                  <a:srgbClr val="28323C"/>
                </a:solidFill>
                <a:latin typeface="Consolas"/>
              </a:defRPr>
            </a:pPr>
            <a:r>
              <a:t>gnuhealth.health_service         | Full     | DENIED     | DENIED     | Read/Write | DENIED   | DENIED   | Read/Write</a:t>
            </a:r>
          </a:p>
          <a:p>
            <a:pPr>
              <a:spcBef>
                <a:spcPts val="200"/>
              </a:spcBef>
              <a:defRPr sz="1000">
                <a:solidFill>
                  <a:srgbClr val="28323C"/>
                </a:solidFill>
                <a:latin typeface="Consolas"/>
              </a:defRPr>
            </a:pPr>
            <a:r>
              <a:t>account.invoice                  | Full     | DENIED     | DENIED     | DENIED     | DENIED   | DENIED   | Read/Write</a:t>
            </a:r>
          </a:p>
          <a:p>
            <a:pPr>
              <a:spcBef>
                <a:spcPts val="200"/>
              </a:spcBef>
              <a:defRPr sz="1000">
                <a:solidFill>
                  <a:srgbClr val="28323C"/>
                </a:solidFill>
                <a:latin typeface="Consolas"/>
              </a:defRPr>
            </a:pPr>
            <a:r>
              <a:t>account.move                     | Full     | DENIED     | DENIED     | DENIED     | DENIED   | DENIED   | Read/Write</a:t>
            </a:r>
          </a:p>
          <a:p>
            <a:pPr>
              <a:spcBef>
                <a:spcPts val="200"/>
              </a:spcBef>
              <a:defRPr sz="1000">
                <a:solidFill>
                  <a:srgbClr val="28323C"/>
                </a:solidFill>
                <a:latin typeface="Consolas"/>
              </a:defRPr>
            </a:pPr>
            <a:r>
              <a:t>res.user (Admin)                 | Full     | DENIED     | DENIED     | DENIED     | DENIED   | DENIED   | DENIED    </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LEAST PRIVILEGE CERTIFIED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7: INTEGRITY &amp; AUDIT</a:t>
            </a:r>
          </a:p>
          <a:p>
            <a:pPr>
              <a:defRPr sz="2200" b="1">
                <a:solidFill>
                  <a:srgbClr val="0B192C"/>
                </a:solidFill>
                <a:latin typeface="Segoe UI"/>
              </a:defRPr>
            </a:pPr>
            <a:r>
              <a:t>Record Immutability — Clinical Lock &amp; Financial Protection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Signed Clinical Record Immutability</a:t>
            </a:r>
          </a:p>
          <a:p>
            <a:pPr>
              <a:spcBef>
                <a:spcPts val="800"/>
              </a:spcBef>
              <a:defRPr sz="1100">
                <a:solidFill>
                  <a:srgbClr val="28323C"/>
                </a:solidFill>
              </a:defRPr>
            </a:pPr>
            <a:r>
              <a:t>• Legal Signature Lock: When an evaluation reaches `state = 'signed'`, it becomes a permanent legal medical document.</a:t>
            </a:r>
            <a:br/>
            <a:br/>
            <a:r>
              <a:t>• Modification Attempts Blocked:</a:t>
            </a:r>
            <a:br/>
            <a:r>
              <a:t>  - Physician cannot alter consultation text</a:t>
            </a:r>
            <a:br/>
            <a:r>
              <a:t>  - Physician cannot delete signed evaluation (CLN-02)</a:t>
            </a:r>
            <a:br/>
            <a:r>
              <a:t>  - Non-clinical roles blocked by model access</a:t>
            </a:r>
            <a:br/>
            <a:br/>
            <a:r>
              <a:t>• Diagnostic Consistency: Patient disease entry `gnuhealth.patient.disease,8` locked to Diagnosis J06.9.</a:t>
            </a:r>
            <a:br/>
            <a:br/>
            <a:r>
              <a:t>• Compliance: Satisfies international healthcare legal and medical board immutability standards.</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EMR LOCKED</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Posted Accounting Move Protection</a:t>
            </a:r>
          </a:p>
          <a:p>
            <a:pPr>
              <a:spcBef>
                <a:spcPts val="800"/>
              </a:spcBef>
              <a:defRPr sz="1100">
                <a:solidFill>
                  <a:srgbClr val="28323C"/>
                </a:solidFill>
              </a:defRPr>
            </a:pPr>
            <a:r>
              <a:t>• Posted Move Protection: Moves in `posted` state cannot be edited, modified, or deleted by any user, including cashiers.</a:t>
            </a:r>
            <a:br/>
            <a:br/>
            <a:r>
              <a:t>• Attempted Deletion (ACC-02): Deletion of posted accounting move 42 is rejected by the Tryton core accounting engine.</a:t>
            </a:r>
            <a:br/>
            <a:br/>
            <a:r>
              <a:t>• Posted Invoice Protection (BIL-03): Invoice `INV-2026/00013` is locked against line deletion or amount modification.</a:t>
            </a:r>
            <a:br/>
            <a:br/>
            <a:r>
              <a:t>• Audit Rule: Financial corrections must occur via formal reversing credit moves, ensuring complete historical auditability.</a:t>
            </a:r>
          </a:p>
        </p:txBody>
      </p:sp>
      <p:sp>
        <p:nvSpPr>
          <p:cNvPr id="9" name="Rounded Rectangle 8"/>
          <p:cNvSpPr/>
          <p:nvPr/>
        </p:nvSpPr>
        <p:spPr>
          <a:xfrm>
            <a:off x="64008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GL LOCKED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7: INTEGRITY &amp; AUDIT</a:t>
            </a:r>
          </a:p>
          <a:p>
            <a:pPr>
              <a:defRPr sz="2200" b="1">
                <a:solidFill>
                  <a:srgbClr val="0B192C"/>
                </a:solidFill>
                <a:latin typeface="Segoe UI"/>
              </a:defRPr>
            </a:pPr>
            <a:r>
              <a:t>Database Integrity — 306 Tables Audited with Zero Orphans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600" b="1">
                <a:solidFill>
                  <a:srgbClr val="0B192C"/>
                </a:solidFill>
              </a:defRPr>
            </a:pPr>
            <a:r>
              <a:t>Audit of 12 Core Relational Foreign-Key Chains (DBI-01)</a:t>
            </a:r>
          </a:p>
          <a:p>
            <a:pPr>
              <a:spcBef>
                <a:spcPts val="200"/>
              </a:spcBef>
              <a:defRPr sz="1000">
                <a:solidFill>
                  <a:srgbClr val="28323C"/>
                </a:solidFill>
                <a:latin typeface="Consolas"/>
              </a:defRPr>
            </a:pPr>
            <a:r>
              <a:t>• Patient → Party              | gnuhealth_patient.party → party_party.id                          | 0 Orphan Patients</a:t>
            </a:r>
          </a:p>
          <a:p>
            <a:pPr>
              <a:spcBef>
                <a:spcPts val="200"/>
              </a:spcBef>
              <a:defRPr sz="1000">
                <a:solidFill>
                  <a:srgbClr val="28323C"/>
                </a:solidFill>
                <a:latin typeface="Consolas"/>
              </a:defRPr>
            </a:pPr>
            <a:r>
              <a:t>• Appointment → Patient        | gnuhealth_appointment.patient → gnuhealth_patient.id              | 0 Orphan Appointments</a:t>
            </a:r>
          </a:p>
          <a:p>
            <a:pPr>
              <a:spcBef>
                <a:spcPts val="200"/>
              </a:spcBef>
              <a:defRPr sz="1000">
                <a:solidFill>
                  <a:srgbClr val="28323C"/>
                </a:solidFill>
                <a:latin typeface="Consolas"/>
              </a:defRPr>
            </a:pPr>
            <a:r>
              <a:t>• Evaluation → Patient         | gnuhealth_patient_evaluation.patient → gnuhealth_patient.id       | 0 Orphan Evaluations</a:t>
            </a:r>
          </a:p>
          <a:p>
            <a:pPr>
              <a:spcBef>
                <a:spcPts val="200"/>
              </a:spcBef>
              <a:defRPr sz="1000">
                <a:solidFill>
                  <a:srgbClr val="28323C"/>
                </a:solidFill>
                <a:latin typeface="Consolas"/>
              </a:defRPr>
            </a:pPr>
            <a:r>
              <a:t>• Evaluation → Doctor          | gnuhealth_patient_evaluation.healthprof → gnuhealth_healthprofessional.id | 0 Orphan Doctor Links</a:t>
            </a:r>
          </a:p>
          <a:p>
            <a:pPr>
              <a:spcBef>
                <a:spcPts val="200"/>
              </a:spcBef>
              <a:defRPr sz="1000">
                <a:solidFill>
                  <a:srgbClr val="28323C"/>
                </a:solidFill>
                <a:latin typeface="Consolas"/>
              </a:defRPr>
            </a:pPr>
            <a:r>
              <a:t>• Prescription → Patient       | gnuhealth_prescription_order.patient → gnuhealth_patient.id       | 0 Orphan Prescriptions</a:t>
            </a:r>
          </a:p>
          <a:p>
            <a:pPr>
              <a:spcBef>
                <a:spcPts val="200"/>
              </a:spcBef>
              <a:defRPr sz="1000">
                <a:solidFill>
                  <a:srgbClr val="28323C"/>
                </a:solidFill>
                <a:latin typeface="Consolas"/>
              </a:defRPr>
            </a:pPr>
            <a:r>
              <a:t>• Lab Order → Patient          | gnuhealth_lab.patient → gnuhealth_patient.id                      | 0 Orphan Lab Orders</a:t>
            </a:r>
          </a:p>
          <a:p>
            <a:pPr>
              <a:spcBef>
                <a:spcPts val="200"/>
              </a:spcBef>
              <a:defRPr sz="1000">
                <a:solidFill>
                  <a:srgbClr val="28323C"/>
                </a:solidFill>
                <a:latin typeface="Consolas"/>
              </a:defRPr>
            </a:pPr>
            <a:r>
              <a:t>• Imaging Request → Patient    | gnuhealth_imaging_test_request.patient → gnuhealth_patient.id     | 0 Orphan Imaging Requests</a:t>
            </a:r>
          </a:p>
          <a:p>
            <a:pPr>
              <a:spcBef>
                <a:spcPts val="200"/>
              </a:spcBef>
              <a:defRPr sz="1000">
                <a:solidFill>
                  <a:srgbClr val="28323C"/>
                </a:solidFill>
                <a:latin typeface="Consolas"/>
              </a:defRPr>
            </a:pPr>
            <a:r>
              <a:t>• Health Service → Patient     | gnuhealth_health_service.patient → gnuhealth_patient.id           | 0 Orphan Health Services</a:t>
            </a:r>
          </a:p>
          <a:p>
            <a:pPr>
              <a:spcBef>
                <a:spcPts val="200"/>
              </a:spcBef>
              <a:defRPr sz="1000">
                <a:solidFill>
                  <a:srgbClr val="28323C"/>
                </a:solidFill>
                <a:latin typeface="Consolas"/>
              </a:defRPr>
            </a:pPr>
            <a:r>
              <a:t>• Invoice → Party              | account_invoice.party → party_party.id                            | 0 Orphan Invoices</a:t>
            </a:r>
          </a:p>
          <a:p>
            <a:pPr>
              <a:spcBef>
                <a:spcPts val="200"/>
              </a:spcBef>
              <a:defRPr sz="1000">
                <a:solidFill>
                  <a:srgbClr val="28323C"/>
                </a:solidFill>
                <a:latin typeface="Consolas"/>
              </a:defRPr>
            </a:pPr>
            <a:r>
              <a:t>• Invoice Line → Invoice       | account_invoice_line.invoice → account_invoice.id                 | 0 Orphan Invoice Lines</a:t>
            </a:r>
          </a:p>
          <a:p>
            <a:pPr>
              <a:spcBef>
                <a:spcPts val="200"/>
              </a:spcBef>
              <a:defRPr sz="1000">
                <a:solidFill>
                  <a:srgbClr val="28323C"/>
                </a:solidFill>
                <a:latin typeface="Consolas"/>
              </a:defRPr>
            </a:pPr>
            <a:r>
              <a:t>• Move → Move Line             | account_move_line.move → account_move.id                          | 0 Orphan Move Lines</a:t>
            </a:r>
          </a:p>
          <a:p>
            <a:pPr>
              <a:spcBef>
                <a:spcPts val="200"/>
              </a:spcBef>
              <a:defRPr sz="1000">
                <a:solidFill>
                  <a:srgbClr val="28323C"/>
                </a:solidFill>
                <a:latin typeface="Consolas"/>
              </a:defRPr>
            </a:pPr>
            <a:r>
              <a:t>• Reconciliation → Lines       | account_move_line.reconciliation → account_move_reconciliation.id | 0 Broken Reconciliations</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DBI-01: 0 ORPHANS DETECTED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8: OPERATIONS &amp; RESTORE</a:t>
            </a:r>
          </a:p>
          <a:p>
            <a:pPr>
              <a:defRPr sz="2200" b="1">
                <a:solidFill>
                  <a:srgbClr val="0B192C"/>
                </a:solidFill>
                <a:latin typeface="Segoe UI"/>
              </a:defRPr>
            </a:pPr>
            <a:r>
              <a:t>Backup &amp; Disaster Recovery — Automated Isolated Restore Drill</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Post-Certification Backup Artifacts</a:t>
            </a:r>
          </a:p>
          <a:p>
            <a:pPr>
              <a:spcBef>
                <a:spcPts val="800"/>
              </a:spcBef>
              <a:defRPr sz="1000">
                <a:solidFill>
                  <a:srgbClr val="28323C"/>
                </a:solidFill>
              </a:defRPr>
            </a:pPr>
            <a:r>
              <a:t>• Database Dump:</a:t>
            </a:r>
            <a:br/>
            <a:r>
              <a:t>  `/var/backups/gnuhealth/gnuhealth_db_e2e_post_20260922_184552.dump`</a:t>
            </a:r>
            <a:br/>
            <a:r>
              <a:t>• Format: PostgreSQL Custom Compressed (`-Fc`)</a:t>
            </a:r>
            <a:br/>
            <a:r>
              <a:t>• Size: 7,654,261 bytes (7.65 MB)</a:t>
            </a:r>
            <a:br/>
            <a:r>
              <a:t>• SHA-256 Checksum:</a:t>
            </a:r>
            <a:br/>
            <a:r>
              <a:t>  `e1ef0af36066d02cb3f726cc764cf793978cb5beaa5a4fcfac68e666e86d3dd5`</a:t>
            </a:r>
            <a:br/>
            <a:r>
              <a:t>• Catalog Entries in Dump: 3,052 verified</a:t>
            </a:r>
            <a:br/>
            <a:r>
              <a:t>• Attachment Backup: `gnuhealth_attach_e2e_post_20260922_184552.tar.gz`</a:t>
            </a:r>
            <a:br/>
            <a:r>
              <a:t>• Automated Systemd Timer: Runs daily at 02:00 UTC.</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DUMP VERIFIED: 7.65 MB</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Isolated Restore Verification Drill (10s)</a:t>
            </a:r>
          </a:p>
          <a:p>
            <a:pPr>
              <a:spcBef>
                <a:spcPts val="800"/>
              </a:spcBef>
              <a:defRPr sz="1000">
                <a:solidFill>
                  <a:srgbClr val="28323C"/>
                </a:solidFill>
              </a:defRPr>
            </a:pPr>
            <a:r>
              <a:t>• Target Database: `gnuhealth_isolated_e2e_restore` (Isolated)</a:t>
            </a:r>
            <a:br/>
            <a:r>
              <a:t>• Restore Execution Time: Exactly 10 seconds</a:t>
            </a:r>
            <a:br/>
            <a:r>
              <a:t>• Entities Restored &amp; Verified:</a:t>
            </a:r>
            <a:br/>
            <a:r>
              <a:t>  - 306 Public Tables | 11 Patients | 16 Appointments</a:t>
            </a:r>
            <a:br/>
            <a:r>
              <a:t>  - 15 Evaluations | 12 Prescriptions | 12 Lab Orders</a:t>
            </a:r>
            <a:br/>
            <a:r>
              <a:t>  - 12 Radiology Requests | 12 Health Services</a:t>
            </a:r>
            <a:br/>
            <a:r>
              <a:t>  - 12 Posted Invoices | 24 Posted Moves | 12 Reconciliations</a:t>
            </a:r>
            <a:br/>
            <a:r>
              <a:t>  - 14,416 WHO ICD-10 Pathologies intact</a:t>
            </a:r>
            <a:br/>
            <a:r>
              <a:t>• Restored General Ledger Balance: `11,400.00 QAR` (Diff: 0.00)</a:t>
            </a:r>
            <a:br/>
            <a:r>
              <a:t>• Cleanup: Isolated test DB destroyed; live DB untouched.</a:t>
            </a:r>
          </a:p>
        </p:txBody>
      </p:sp>
      <p:sp>
        <p:nvSpPr>
          <p:cNvPr id="9" name="Rounded Rectangle 8"/>
          <p:cNvSpPr/>
          <p:nvPr/>
        </p:nvSpPr>
        <p:spPr>
          <a:xfrm>
            <a:off x="64008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RESTORE DRILL: FULL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200" b="1">
                <a:solidFill>
                  <a:srgbClr val="0B192C"/>
                </a:solidFill>
                <a:latin typeface="Segoe UI"/>
              </a:defRPr>
            </a:pPr>
            <a:r>
              <a:t>Native JSON-RPC API — Frontend Integration Contract</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API Architecture &amp; Authentication (API-01)</a:t>
            </a:r>
          </a:p>
          <a:p>
            <a:pPr>
              <a:spcBef>
                <a:spcPts val="800"/>
              </a:spcBef>
              <a:defRPr sz="1000">
                <a:solidFill>
                  <a:srgbClr val="28323C"/>
                </a:solidFill>
              </a:defRPr>
            </a:pPr>
            <a:r>
              <a:t>• Endpoint: `POST https://&lt;domain&gt;/gnuhealth/`</a:t>
            </a:r>
            <a:br/>
            <a:r>
              <a:t>• Protocol: Native Tryton JSON-RPC 2.0 over HTTPS</a:t>
            </a:r>
            <a:br/>
            <a:r>
              <a:t>• Login Method: `common.db.login`</a:t>
            </a:r>
            <a:br/>
            <a:r>
              <a:t>  `{"method": "common.db.login", "params": ["username", {"password": "..."}]}`</a:t>
            </a:r>
            <a:br/>
            <a:r>
              <a:t>• Returns: `[user_id, session_token]`</a:t>
            </a:r>
            <a:br/>
            <a:r>
              <a:t>• Authenticated Session Header Format:</a:t>
            </a:r>
            <a:br/>
            <a:r>
              <a:t>  `Authorization: Session base64(username:user_id:session_token)`</a:t>
            </a:r>
            <a:br/>
            <a:r>
              <a:t>• Context Parameter: `{"company": 2}` passed in every model call</a:t>
            </a:r>
            <a:br/>
            <a:r>
              <a:t>• Verified Dispatch: `model.gnuhealth.patient.search_read` successfully retrieved Patient 65.</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API-01: DISPATCH PASS</a:t>
            </a:r>
          </a:p>
        </p:txBody>
      </p:sp>
      <p:sp>
        <p:nvSpPr>
          <p:cNvPr id="7" name="Rounded Rectangle 6"/>
          <p:cNvSpPr/>
          <p:nvPr/>
        </p:nvSpPr>
        <p:spPr>
          <a:xfrm>
            <a:off x="6217920" y="1554480"/>
            <a:ext cx="52120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Negative Auth &amp; Latency Benchmarks (PRF-01)</a:t>
            </a:r>
          </a:p>
          <a:p>
            <a:pPr>
              <a:spcBef>
                <a:spcPts val="600"/>
              </a:spcBef>
              <a:defRPr sz="1000">
                <a:solidFill>
                  <a:srgbClr val="28323C"/>
                </a:solidFill>
              </a:defRPr>
            </a:pPr>
            <a:r>
              <a:t>Negative API Validation (API-02):</a:t>
            </a:r>
            <a:br/>
            <a:r>
              <a:t>• Invalid Password Login: Returns `False / null` session token</a:t>
            </a:r>
            <a:br/>
            <a:r>
              <a:t>• Unauthenticated Model Calls: Rejected with HTTP 401/403</a:t>
            </a:r>
            <a:br/>
            <a:br/>
            <a:r>
              <a:t>Empirical Performance Latency Baselines (5 Samples):</a:t>
            </a:r>
            <a:br/>
            <a:r>
              <a:t>• Patient Search (`search`): 3.78 ms (min: 3.30, max: 5.07)</a:t>
            </a:r>
            <a:br/>
            <a:r>
              <a:t>• Patient Read (`search_read`): 6.62 ms (min: 5.16, max: 11.18)</a:t>
            </a:r>
            <a:br/>
            <a:r>
              <a:t>• Appointment Search: 1.16 ms (min: 1.07, max: 1.25)</a:t>
            </a:r>
            <a:br/>
            <a:r>
              <a:t>• Evaluation Retrieval: 2.30 ms (min: 2.19, max: 2.48)</a:t>
            </a:r>
            <a:br/>
            <a:r>
              <a:t>• Invoice Search: 1.43 ms (min: 1.34, max: 1.59)</a:t>
            </a:r>
            <a:br/>
            <a:r>
              <a:t>• Accounting Move Retrieval: 5.10 ms (min: 4.79, max: 6.13)</a:t>
            </a:r>
          </a:p>
        </p:txBody>
      </p:sp>
      <p:sp>
        <p:nvSpPr>
          <p:cNvPr id="9" name="Rounded Rectangle 8"/>
          <p:cNvSpPr/>
          <p:nvPr/>
        </p:nvSpPr>
        <p:spPr>
          <a:xfrm>
            <a:off x="64008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AVG LATENCY: &lt; 7 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200" b="1">
                <a:solidFill>
                  <a:srgbClr val="0B192C"/>
                </a:solidFill>
                <a:latin typeface="Segoe UI"/>
              </a:defRPr>
            </a:pPr>
            <a:r>
              <a:t>Complete Patient Journey — Certified Record Traceability</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600" b="1">
                <a:solidFill>
                  <a:srgbClr val="0B192C"/>
                </a:solidFill>
              </a:defRPr>
            </a:pPr>
            <a:r>
              <a:t>End-to-End Certified Record IDs (E2E-CERT-FINAL-184439)</a:t>
            </a:r>
          </a:p>
          <a:p>
            <a:pPr>
              <a:spcBef>
                <a:spcPts val="200"/>
              </a:spcBef>
              <a:defRPr sz="1000">
                <a:solidFill>
                  <a:srgbClr val="28323C"/>
                </a:solidFill>
                <a:latin typeface="Consolas"/>
              </a:defRPr>
            </a:pPr>
            <a:r>
              <a:t>• 1. Registration    | Party 228 | Patient 65       | PUID: E2E-CERT-FINAL-QID-184439, Country: QAT, Doha</a:t>
            </a:r>
          </a:p>
          <a:p>
            <a:pPr>
              <a:spcBef>
                <a:spcPts val="200"/>
              </a:spcBef>
              <a:defRPr sz="1000">
                <a:solidFill>
                  <a:srgbClr val="28323C"/>
                </a:solidFill>
                <a:latin typeface="Consolas"/>
              </a:defRPr>
            </a:pPr>
            <a:r>
              <a:t>• 2. Appointment     | Appointment 68               | Type: Outpatient, Doctor: HP 71, Lifecycle: free → done</a:t>
            </a:r>
          </a:p>
          <a:p>
            <a:pPr>
              <a:spcBef>
                <a:spcPts val="200"/>
              </a:spcBef>
              <a:defRPr sz="1000">
                <a:solidFill>
                  <a:srgbClr val="28323C"/>
                </a:solidFill>
                <a:latin typeface="Consolas"/>
              </a:defRPr>
            </a:pPr>
            <a:r>
              <a:t>• 3. Triage Vitals   | Evaluation 44 (Draft)        | BP 118/78, HR 74, Temp 37.1°C, SpO2 99%, RR 16</a:t>
            </a:r>
          </a:p>
          <a:p>
            <a:pPr>
              <a:spcBef>
                <a:spcPts val="200"/>
              </a:spcBef>
              <a:defRPr sz="1000">
                <a:solidFill>
                  <a:srgbClr val="28323C"/>
                </a:solidFill>
                <a:latin typeface="Consolas"/>
              </a:defRPr>
            </a:pPr>
            <a:r>
              <a:t>• 4. Consultation    | Evaluation 44 (Signed)       | SOAP notes documented, Dr. DEMO (HP 71), Discharge: Home</a:t>
            </a:r>
          </a:p>
          <a:p>
            <a:pPr>
              <a:spcBef>
                <a:spcPts val="200"/>
              </a:spcBef>
              <a:defRPr sz="1000">
                <a:solidFill>
                  <a:srgbClr val="28323C"/>
                </a:solidFill>
                <a:latin typeface="Consolas"/>
              </a:defRPr>
            </a:pPr>
            <a:r>
              <a:t>• 5. Diagnosis       | Disease 8 | ICD-10 J06.9     | Acute upper respiratory infection, unspecified</a:t>
            </a:r>
          </a:p>
          <a:p>
            <a:pPr>
              <a:spcBef>
                <a:spcPts val="200"/>
              </a:spcBef>
              <a:defRPr sz="1000">
                <a:solidFill>
                  <a:srgbClr val="28323C"/>
                </a:solidFill>
                <a:latin typeface="Consolas"/>
              </a:defRPr>
            </a:pPr>
            <a:r>
              <a:t>• 6. Prescription    | Prescription 39 (Line 30)    | Amoxicillin 500mg, 15 Caps, TID x 5d, State: done</a:t>
            </a:r>
          </a:p>
          <a:p>
            <a:pPr>
              <a:spcBef>
                <a:spcPts val="200"/>
              </a:spcBef>
              <a:defRPr sz="1000">
                <a:solidFill>
                  <a:srgbClr val="28323C"/>
                </a:solidFill>
                <a:latin typeface="Consolas"/>
              </a:defRPr>
            </a:pPr>
            <a:r>
              <a:t>• 7. Laboratory      | Lab Order 34 (CBC)           | Hb 14.1, WBC 9.4, Plt 260, State: validated</a:t>
            </a:r>
          </a:p>
          <a:p>
            <a:pPr>
              <a:spcBef>
                <a:spcPts val="200"/>
              </a:spcBef>
              <a:defRPr sz="1000">
                <a:solidFill>
                  <a:srgbClr val="28323C"/>
                </a:solidFill>
                <a:latin typeface="Consolas"/>
              </a:defRPr>
            </a:pPr>
            <a:r>
              <a:t>• 8. Radiology       | Request 34 | Result 29       | Chest X-Ray normal, no acute cardiopulmonary disease</a:t>
            </a:r>
          </a:p>
          <a:p>
            <a:pPr>
              <a:spcBef>
                <a:spcPts val="200"/>
              </a:spcBef>
              <a:defRPr sz="1000">
                <a:solidFill>
                  <a:srgbClr val="28323C"/>
                </a:solidFill>
                <a:latin typeface="Consolas"/>
              </a:defRPr>
            </a:pPr>
            <a:r>
              <a:t>• 9. Health Services | Health Service 29            | 3 lines compiled: Consult (250) + CBC (75) + CXR (150) = 475 QAR</a:t>
            </a:r>
          </a:p>
          <a:p>
            <a:pPr>
              <a:spcBef>
                <a:spcPts val="200"/>
              </a:spcBef>
              <a:defRPr sz="1000">
                <a:solidFill>
                  <a:srgbClr val="28323C"/>
                </a:solidFill>
                <a:latin typeface="Consolas"/>
              </a:defRPr>
            </a:pPr>
            <a:r>
              <a:t>• 10. Billing &amp; Invoice | Invoice 31 (INV-2026/00013)  | Posted customer invoice for 475.00 QAR, Move 42</a:t>
            </a:r>
          </a:p>
          <a:p>
            <a:pPr>
              <a:spcBef>
                <a:spcPts val="200"/>
              </a:spcBef>
              <a:defRPr sz="1000">
                <a:solidFill>
                  <a:srgbClr val="28323C"/>
                </a:solidFill>
                <a:latin typeface="Consolas"/>
              </a:defRPr>
            </a:pPr>
            <a:r>
              <a:t>• 11. Cash Payment   | Move 43 (Number 46)          | Cash settlement 475.00 QAR posted in Cash Journal</a:t>
            </a:r>
          </a:p>
          <a:p>
            <a:pPr>
              <a:spcBef>
                <a:spcPts val="200"/>
              </a:spcBef>
              <a:defRPr sz="1000">
                <a:solidFill>
                  <a:srgbClr val="28323C"/>
                </a:solidFill>
                <a:latin typeface="Consolas"/>
              </a:defRPr>
            </a:pPr>
            <a:r>
              <a:t>• 12. Reconciliation | Reconciliation 18            | Full settlement, Outstanding Customer AR = 0.00 QAR</a:t>
            </a:r>
          </a:p>
        </p:txBody>
      </p:sp>
      <p:sp>
        <p:nvSpPr>
          <p:cNvPr id="6" name="Rounded Rectangle 5"/>
          <p:cNvSpPr/>
          <p:nvPr/>
        </p:nvSpPr>
        <p:spPr>
          <a:xfrm>
            <a:off x="914400" y="5394960"/>
            <a:ext cx="25603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100% TRACEABILITY PROVEN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200" b="1">
                <a:solidFill>
                  <a:srgbClr val="0B192C"/>
                </a:solidFill>
                <a:latin typeface="Segoe UI"/>
              </a:defRPr>
            </a:pPr>
            <a:r>
              <a:t>Evidence &amp; Certification Results — Domain Summary</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91056"/>
            <a:ext cx="10332720" cy="402336"/>
          </a:xfrm>
          <a:prstGeom prst="rect">
            <a:avLst/>
          </a:prstGeom>
          <a:noFill/>
        </p:spPr>
        <p:txBody>
          <a:bodyPr wrap="square">
            <a:spAutoFit/>
          </a:bodyPr>
          <a:lstStyle/>
          <a:p>
            <a:pPr>
              <a:defRPr sz="1100" b="0">
                <a:solidFill>
                  <a:srgbClr val="28323C"/>
                </a:solidFill>
                <a:latin typeface="Segoe UI"/>
              </a:defRPr>
            </a:pPr>
            <a:r>
              <a:t>Clinical Lifecycle         [PASS] — Patient, Appointment, Triage, Consultation, Diagnosis, Prescription</a:t>
            </a:r>
          </a:p>
        </p:txBody>
      </p:sp>
      <p:sp>
        <p:nvSpPr>
          <p:cNvPr id="6" name="Rounded Rectangle 5"/>
          <p:cNvSpPr/>
          <p:nvPr/>
        </p:nvSpPr>
        <p:spPr>
          <a:xfrm>
            <a:off x="731520" y="2084831"/>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21408"/>
            <a:ext cx="10332720" cy="402336"/>
          </a:xfrm>
          <a:prstGeom prst="rect">
            <a:avLst/>
          </a:prstGeom>
          <a:noFill/>
        </p:spPr>
        <p:txBody>
          <a:bodyPr wrap="square">
            <a:spAutoFit/>
          </a:bodyPr>
          <a:lstStyle/>
          <a:p>
            <a:pPr>
              <a:defRPr sz="1100" b="0">
                <a:solidFill>
                  <a:srgbClr val="28323C"/>
                </a:solidFill>
                <a:latin typeface="Segoe UI"/>
              </a:defRPr>
            </a:pPr>
            <a:r>
              <a:t>Diagnostics Workflow       [PASS] — Laboratory ordering &amp; validation; Radiology request &amp; reporting</a:t>
            </a:r>
          </a:p>
        </p:txBody>
      </p:sp>
      <p:sp>
        <p:nvSpPr>
          <p:cNvPr id="8" name="Rounded Rectangle 7"/>
          <p:cNvSpPr/>
          <p:nvPr/>
        </p:nvSpPr>
        <p:spPr>
          <a:xfrm>
            <a:off x="731520" y="2615184"/>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10332720" cy="402336"/>
          </a:xfrm>
          <a:prstGeom prst="rect">
            <a:avLst/>
          </a:prstGeom>
          <a:noFill/>
        </p:spPr>
        <p:txBody>
          <a:bodyPr wrap="square">
            <a:spAutoFit/>
          </a:bodyPr>
          <a:lstStyle/>
          <a:p>
            <a:pPr>
              <a:defRPr sz="1100" b="0">
                <a:solidFill>
                  <a:srgbClr val="28323C"/>
                </a:solidFill>
                <a:latin typeface="Segoe UI"/>
              </a:defRPr>
            </a:pPr>
            <a:r>
              <a:t>Billing &amp; Accounting       [PASS] — Invoice posting, double-entry GL balancing, cash payment, reconciliation</a:t>
            </a:r>
          </a:p>
        </p:txBody>
      </p:sp>
      <p:sp>
        <p:nvSpPr>
          <p:cNvPr id="10" name="Rounded Rectangle 9"/>
          <p:cNvSpPr/>
          <p:nvPr/>
        </p:nvSpPr>
        <p:spPr>
          <a:xfrm>
            <a:off x="731520" y="3145535"/>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82111"/>
            <a:ext cx="10332720" cy="402336"/>
          </a:xfrm>
          <a:prstGeom prst="rect">
            <a:avLst/>
          </a:prstGeom>
          <a:noFill/>
        </p:spPr>
        <p:txBody>
          <a:bodyPr wrap="square">
            <a:spAutoFit/>
          </a:bodyPr>
          <a:lstStyle/>
          <a:p>
            <a:pPr>
              <a:defRPr sz="1100" b="0">
                <a:solidFill>
                  <a:srgbClr val="28323C"/>
                </a:solidFill>
                <a:latin typeface="Segoe UI"/>
              </a:defRPr>
            </a:pPr>
            <a:r>
              <a:t>Security &amp; RBAC            [PASS] — 7-role least privilege enforced; Group 1 administration isolation</a:t>
            </a:r>
          </a:p>
        </p:txBody>
      </p:sp>
      <p:sp>
        <p:nvSpPr>
          <p:cNvPr id="12" name="Rounded Rectangle 11"/>
          <p:cNvSpPr/>
          <p:nvPr/>
        </p:nvSpPr>
        <p:spPr>
          <a:xfrm>
            <a:off x="731520" y="3675887"/>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12463"/>
            <a:ext cx="10332720" cy="402336"/>
          </a:xfrm>
          <a:prstGeom prst="rect">
            <a:avLst/>
          </a:prstGeom>
          <a:noFill/>
        </p:spPr>
        <p:txBody>
          <a:bodyPr wrap="square">
            <a:spAutoFit/>
          </a:bodyPr>
          <a:lstStyle/>
          <a:p>
            <a:pPr>
              <a:defRPr sz="1100" b="0">
                <a:solidFill>
                  <a:srgbClr val="28323C"/>
                </a:solidFill>
                <a:latin typeface="Segoe UI"/>
              </a:defRPr>
            </a:pPr>
            <a:r>
              <a:t>Data Immutability          [PASS] — Signed clinical evaluations and posted accounting moves tamper-proof</a:t>
            </a:r>
          </a:p>
        </p:txBody>
      </p:sp>
      <p:sp>
        <p:nvSpPr>
          <p:cNvPr id="14" name="Rounded Rectangle 13"/>
          <p:cNvSpPr/>
          <p:nvPr/>
        </p:nvSpPr>
        <p:spPr>
          <a:xfrm>
            <a:off x="731520" y="4206240"/>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42816"/>
            <a:ext cx="10332720" cy="402336"/>
          </a:xfrm>
          <a:prstGeom prst="rect">
            <a:avLst/>
          </a:prstGeom>
          <a:noFill/>
        </p:spPr>
        <p:txBody>
          <a:bodyPr wrap="square">
            <a:spAutoFit/>
          </a:bodyPr>
          <a:lstStyle/>
          <a:p>
            <a:pPr>
              <a:defRPr sz="1100" b="0">
                <a:solidFill>
                  <a:srgbClr val="28323C"/>
                </a:solidFill>
                <a:latin typeface="Segoe UI"/>
              </a:defRPr>
            </a:pPr>
            <a:r>
              <a:t>Transaction Atomicity      [PASS] — Intentional fault injection tests clean rollback with zero ghost rows</a:t>
            </a:r>
          </a:p>
        </p:txBody>
      </p:sp>
      <p:sp>
        <p:nvSpPr>
          <p:cNvPr id="16" name="Rounded Rectangle 15"/>
          <p:cNvSpPr/>
          <p:nvPr/>
        </p:nvSpPr>
        <p:spPr>
          <a:xfrm>
            <a:off x="731520" y="4736592"/>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73168"/>
            <a:ext cx="10332720" cy="402336"/>
          </a:xfrm>
          <a:prstGeom prst="rect">
            <a:avLst/>
          </a:prstGeom>
          <a:noFill/>
        </p:spPr>
        <p:txBody>
          <a:bodyPr wrap="square">
            <a:spAutoFit/>
          </a:bodyPr>
          <a:lstStyle/>
          <a:p>
            <a:pPr>
              <a:defRPr sz="1100" b="0">
                <a:solidFill>
                  <a:srgbClr val="28323C"/>
                </a:solidFill>
                <a:latin typeface="Segoe UI"/>
              </a:defRPr>
            </a:pPr>
            <a:r>
              <a:t>Database Integrity         [PASS] — 306 public tables audited across 12 relational chains with 0 orphans</a:t>
            </a:r>
          </a:p>
        </p:txBody>
      </p:sp>
      <p:sp>
        <p:nvSpPr>
          <p:cNvPr id="18" name="Rounded Rectangle 17"/>
          <p:cNvSpPr/>
          <p:nvPr/>
        </p:nvSpPr>
        <p:spPr>
          <a:xfrm>
            <a:off x="731520" y="5266944"/>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303520"/>
            <a:ext cx="10332720" cy="402336"/>
          </a:xfrm>
          <a:prstGeom prst="rect">
            <a:avLst/>
          </a:prstGeom>
          <a:noFill/>
        </p:spPr>
        <p:txBody>
          <a:bodyPr wrap="square">
            <a:spAutoFit/>
          </a:bodyPr>
          <a:lstStyle/>
          <a:p>
            <a:pPr>
              <a:defRPr sz="1100" b="0">
                <a:solidFill>
                  <a:srgbClr val="28323C"/>
                </a:solidFill>
                <a:latin typeface="Segoe UI"/>
              </a:defRPr>
            </a:pPr>
            <a:r>
              <a:t>Disaster Recovery          [PASS] — Automated backup verified; 10s isolated restore drill with balanced GL</a:t>
            </a:r>
          </a:p>
        </p:txBody>
      </p:sp>
      <p:sp>
        <p:nvSpPr>
          <p:cNvPr id="20" name="Rounded Rectangle 19"/>
          <p:cNvSpPr/>
          <p:nvPr/>
        </p:nvSpPr>
        <p:spPr>
          <a:xfrm>
            <a:off x="731520" y="5797296"/>
            <a:ext cx="10698480" cy="475488"/>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33872"/>
            <a:ext cx="10332720" cy="402336"/>
          </a:xfrm>
          <a:prstGeom prst="rect">
            <a:avLst/>
          </a:prstGeom>
          <a:noFill/>
        </p:spPr>
        <p:txBody>
          <a:bodyPr wrap="square">
            <a:spAutoFit/>
          </a:bodyPr>
          <a:lstStyle/>
          <a:p>
            <a:pPr>
              <a:defRPr sz="1100" b="0">
                <a:solidFill>
                  <a:srgbClr val="28323C"/>
                </a:solidFill>
                <a:latin typeface="Segoe UI"/>
              </a:defRPr>
            </a:pPr>
            <a:r>
              <a:t>Native JSON-RPC API        [PASS] — Full HTTP JSON-RPC contract verified for future frontend integration</a:t>
            </a:r>
          </a:p>
        </p:txBody>
      </p:sp>
      <p:sp>
        <p:nvSpPr>
          <p:cNvPr id="22" name="Rounded Rectangle 21"/>
          <p:cNvSpPr/>
          <p:nvPr/>
        </p:nvSpPr>
        <p:spPr>
          <a:xfrm>
            <a:off x="914400" y="6309360"/>
            <a:ext cx="34747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OVERALL RESULT: TECHNICALLY CERTIFIED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10: ROADMAP &amp; CLOSURE</a:t>
            </a:r>
          </a:p>
          <a:p>
            <a:pPr>
              <a:defRPr sz="2200" b="1">
                <a:solidFill>
                  <a:srgbClr val="0B192C"/>
                </a:solidFill>
                <a:latin typeface="Segoe UI"/>
              </a:defRPr>
            </a:pPr>
            <a:r>
              <a:t>Technical Readiness vs Production Go-Live — Clear Separation</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905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28A745"/>
                </a:solidFill>
              </a:defRPr>
            </a:pPr>
            <a:r>
              <a:t>TECHNICALLY CERTIFIED (BACKEND)</a:t>
            </a:r>
          </a:p>
          <a:p>
            <a:pPr>
              <a:spcBef>
                <a:spcPts val="800"/>
              </a:spcBef>
              <a:defRPr sz="1100">
                <a:solidFill>
                  <a:srgbClr val="28323C"/>
                </a:solidFill>
              </a:defRPr>
            </a:pPr>
            <a:r>
              <a:t>Status: COMPLETE — EMPIRICALLY VERIFIED</a:t>
            </a:r>
            <a:br/>
            <a:br/>
            <a:r>
              <a:t>• GNU Health HMIS 5.0.6 core operational</a:t>
            </a:r>
            <a:br/>
            <a:r>
              <a:t>• Complete outpatient lifecycle proven</a:t>
            </a:r>
            <a:br/>
            <a:r>
              <a:t>• 33/33 Tests Passed (0 Failures)</a:t>
            </a:r>
            <a:br/>
            <a:r>
              <a:t>• Accounting balanced: Net AR = 0.00 QAR</a:t>
            </a:r>
            <a:br/>
            <a:r>
              <a:t>• RBAC least-privilege security enforced</a:t>
            </a:r>
            <a:br/>
            <a:r>
              <a:t>• 306 Database tables audited (0 orphans)</a:t>
            </a:r>
            <a:br/>
            <a:r>
              <a:t>• Disaster recovery restore drill verified</a:t>
            </a:r>
            <a:br/>
            <a:r>
              <a:t>• Native JSON-RPC API contract ready for frontend</a:t>
            </a:r>
            <a:br/>
            <a:r>
              <a:t>• Authoritative system of record frozen.</a:t>
            </a:r>
          </a:p>
        </p:txBody>
      </p:sp>
      <p:sp>
        <p:nvSpPr>
          <p:cNvPr id="6" name="Rounded Rectangle 5"/>
          <p:cNvSpPr/>
          <p:nvPr/>
        </p:nvSpPr>
        <p:spPr>
          <a:xfrm>
            <a:off x="914400" y="5394960"/>
            <a:ext cx="12801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TECHNICAL: PASS</a:t>
            </a:r>
          </a:p>
        </p:txBody>
      </p:sp>
      <p:sp>
        <p:nvSpPr>
          <p:cNvPr id="7" name="Rounded Rectangle 6"/>
          <p:cNvSpPr/>
          <p:nvPr/>
        </p:nvSpPr>
        <p:spPr>
          <a:xfrm>
            <a:off x="6217920" y="1554480"/>
            <a:ext cx="5212080" cy="4754880"/>
          </a:xfrm>
          <a:prstGeom prst="roundRect">
            <a:avLst/>
          </a:prstGeom>
          <a:solidFill>
            <a:srgbClr val="F2F6FA"/>
          </a:solidFill>
          <a:ln w="19050">
            <a:solidFill>
              <a:srgbClr val="E69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E69500"/>
                </a:solidFill>
              </a:defRPr>
            </a:pPr>
            <a:r>
              <a:t>PRODUCTION GO-LIVE (INSTITUTIONAL)</a:t>
            </a:r>
          </a:p>
          <a:p>
            <a:pPr>
              <a:spcBef>
                <a:spcPts val="800"/>
              </a:spcBef>
              <a:defRPr sz="1100">
                <a:solidFill>
                  <a:srgbClr val="28323C"/>
                </a:solidFill>
              </a:defRPr>
            </a:pPr>
            <a:r>
              <a:t>Status: PENDING CLINIC INPUTS &amp; LICENSING</a:t>
            </a:r>
            <a:br/>
            <a:br/>
            <a:r>
              <a:t>• NOT YET AUTHORIZED FOR LIVE PATIENTS</a:t>
            </a:r>
            <a:br/>
            <a:r>
              <a:t>• Technical certification does NOT equal regulatory go-live</a:t>
            </a:r>
            <a:br/>
            <a:r>
              <a:t>• Live clinic data must NEVER be mixed with demo data</a:t>
            </a:r>
            <a:br/>
            <a:r>
              <a:t>• Production credentials must be issued to real staff</a:t>
            </a:r>
            <a:br/>
            <a:r>
              <a:t>• Official clinic tariffs must be legally approved</a:t>
            </a:r>
            <a:br/>
            <a:r>
              <a:t>• Qatar MoPH facility license must be active</a:t>
            </a:r>
            <a:br/>
            <a:r>
              <a:t>• Clinic management executive sign-off required.</a:t>
            </a:r>
          </a:p>
        </p:txBody>
      </p:sp>
      <p:sp>
        <p:nvSpPr>
          <p:cNvPr id="9" name="Rounded Rectangle 8"/>
          <p:cNvSpPr/>
          <p:nvPr/>
        </p:nvSpPr>
        <p:spPr>
          <a:xfrm>
            <a:off x="6400800" y="5394960"/>
            <a:ext cx="2194560" cy="320040"/>
          </a:xfrm>
          <a:prstGeom prst="roundRect">
            <a:avLst/>
          </a:prstGeom>
          <a:solidFill>
            <a:srgbClr val="E6950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GO-LIVE: PENDING GATES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00A896"/>
                </a:solidFill>
                <a:latin typeface="Segoe UI"/>
              </a:defRPr>
            </a:pPr>
            <a:r>
              <a:t>SECTION 10: ROADMAP &amp; CLOSURE</a:t>
            </a:r>
          </a:p>
          <a:p>
            <a:pPr>
              <a:defRPr sz="2200" b="1">
                <a:solidFill>
                  <a:srgbClr val="0B192C"/>
                </a:solidFill>
                <a:latin typeface="Segoe UI"/>
              </a:defRPr>
            </a:pPr>
            <a:r>
              <a:t>Remaining Production Prerequisites — Concrete External Gates</a:t>
            </a:r>
          </a:p>
        </p:txBody>
      </p:sp>
      <p:sp>
        <p:nvSpPr>
          <p:cNvPr id="3" name="Rectangle 2"/>
          <p:cNvSpPr/>
          <p:nvPr/>
        </p:nvSpPr>
        <p:spPr>
          <a:xfrm>
            <a:off x="731520" y="128016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594360"/>
          </a:xfrm>
          <a:prstGeom prst="rect">
            <a:avLst/>
          </a:prstGeom>
          <a:noFill/>
        </p:spPr>
        <p:txBody>
          <a:bodyPr wrap="square">
            <a:spAutoFit/>
          </a:bodyPr>
          <a:lstStyle/>
          <a:p>
            <a:pPr>
              <a:defRPr sz="1300" b="1">
                <a:solidFill>
                  <a:srgbClr val="0B192C"/>
                </a:solidFill>
              </a:defRPr>
            </a:pPr>
            <a:r>
              <a:t>Gate 1: Official Domain &amp; TLS (Owner: IT Infrastructure)</a:t>
            </a:r>
          </a:p>
          <a:p>
            <a:pPr>
              <a:spcBef>
                <a:spcPts val="200"/>
              </a:spcBef>
              <a:defRPr sz="1000">
                <a:solidFill>
                  <a:srgbClr val="28323C"/>
                </a:solidFill>
              </a:defRPr>
            </a:pPr>
            <a:r>
              <a:t>Provision official clinic FQDN (e.g. hmis.clinic.qa) and Let's Encrypt / commercial TLS cert on Nginx reverse proxy.</a:t>
            </a:r>
          </a:p>
        </p:txBody>
      </p:sp>
      <p:sp>
        <p:nvSpPr>
          <p:cNvPr id="6" name="Rounded Rectangle 5"/>
          <p:cNvSpPr/>
          <p:nvPr/>
        </p:nvSpPr>
        <p:spPr>
          <a:xfrm>
            <a:off x="731520" y="233172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39"/>
            <a:ext cx="10332720" cy="594360"/>
          </a:xfrm>
          <a:prstGeom prst="rect">
            <a:avLst/>
          </a:prstGeom>
          <a:noFill/>
        </p:spPr>
        <p:txBody>
          <a:bodyPr wrap="square">
            <a:spAutoFit/>
          </a:bodyPr>
          <a:lstStyle/>
          <a:p>
            <a:pPr>
              <a:defRPr sz="1300" b="1">
                <a:solidFill>
                  <a:srgbClr val="0B192C"/>
                </a:solidFill>
              </a:defRPr>
            </a:pPr>
            <a:r>
              <a:t>Gate 2: Real Staff Roster &amp; Licensing (Owner: Clinic HR / Medical Director)</a:t>
            </a:r>
          </a:p>
          <a:p>
            <a:pPr>
              <a:spcBef>
                <a:spcPts val="200"/>
              </a:spcBef>
              <a:defRPr sz="1000">
                <a:solidFill>
                  <a:srgbClr val="28323C"/>
                </a:solidFill>
              </a:defRPr>
            </a:pPr>
            <a:r>
              <a:t>Ingest real physician, nurse, and administrative roster with official Qatar QCHP license numbers and credentials.</a:t>
            </a:r>
          </a:p>
        </p:txBody>
      </p:sp>
      <p:sp>
        <p:nvSpPr>
          <p:cNvPr id="8" name="Rounded Rectangle 7"/>
          <p:cNvSpPr/>
          <p:nvPr/>
        </p:nvSpPr>
        <p:spPr>
          <a:xfrm>
            <a:off x="731520" y="310896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54679"/>
            <a:ext cx="10332720" cy="594360"/>
          </a:xfrm>
          <a:prstGeom prst="rect">
            <a:avLst/>
          </a:prstGeom>
          <a:noFill/>
        </p:spPr>
        <p:txBody>
          <a:bodyPr wrap="square">
            <a:spAutoFit/>
          </a:bodyPr>
          <a:lstStyle/>
          <a:p>
            <a:pPr>
              <a:defRPr sz="1300" b="1">
                <a:solidFill>
                  <a:srgbClr val="0B192C"/>
                </a:solidFill>
              </a:defRPr>
            </a:pPr>
            <a:r>
              <a:t>Gate 3: Approved Tariff Chargemaster (Owner: Finance Department)</a:t>
            </a:r>
          </a:p>
          <a:p>
            <a:pPr>
              <a:spcBef>
                <a:spcPts val="200"/>
              </a:spcBef>
              <a:defRPr sz="1000">
                <a:solidFill>
                  <a:srgbClr val="28323C"/>
                </a:solidFill>
              </a:defRPr>
            </a:pPr>
            <a:r>
              <a:t>Ingest official approved private/cash and insurance tariff schedule using the provided CSV template.</a:t>
            </a:r>
          </a:p>
        </p:txBody>
      </p:sp>
      <p:sp>
        <p:nvSpPr>
          <p:cNvPr id="10" name="Rounded Rectangle 9"/>
          <p:cNvSpPr/>
          <p:nvPr/>
        </p:nvSpPr>
        <p:spPr>
          <a:xfrm>
            <a:off x="731520" y="388620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31920"/>
            <a:ext cx="10332720" cy="594360"/>
          </a:xfrm>
          <a:prstGeom prst="rect">
            <a:avLst/>
          </a:prstGeom>
          <a:noFill/>
        </p:spPr>
        <p:txBody>
          <a:bodyPr wrap="square">
            <a:spAutoFit/>
          </a:bodyPr>
          <a:lstStyle/>
          <a:p>
            <a:pPr>
              <a:defRPr sz="1300" b="1">
                <a:solidFill>
                  <a:srgbClr val="0B192C"/>
                </a:solidFill>
              </a:defRPr>
            </a:pPr>
            <a:r>
              <a:t>Gate 4: Facility Licensing &amp; Compliance (Owner: Executive Leadership)</a:t>
            </a:r>
          </a:p>
          <a:p>
            <a:pPr>
              <a:spcBef>
                <a:spcPts val="200"/>
              </a:spcBef>
              <a:defRPr sz="1000">
                <a:solidFill>
                  <a:srgbClr val="28323C"/>
                </a:solidFill>
              </a:defRPr>
            </a:pPr>
            <a:r>
              <a:t>Confirm official Qatar Ministry of Public Health (MoPH) healthcare facility registration code.</a:t>
            </a:r>
          </a:p>
        </p:txBody>
      </p:sp>
      <p:sp>
        <p:nvSpPr>
          <p:cNvPr id="12" name="Rounded Rectangle 11"/>
          <p:cNvSpPr/>
          <p:nvPr/>
        </p:nvSpPr>
        <p:spPr>
          <a:xfrm>
            <a:off x="731520" y="466344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59"/>
            <a:ext cx="10332720" cy="594360"/>
          </a:xfrm>
          <a:prstGeom prst="rect">
            <a:avLst/>
          </a:prstGeom>
          <a:noFill/>
        </p:spPr>
        <p:txBody>
          <a:bodyPr wrap="square">
            <a:spAutoFit/>
          </a:bodyPr>
          <a:lstStyle/>
          <a:p>
            <a:pPr>
              <a:defRPr sz="1300" b="1">
                <a:solidFill>
                  <a:srgbClr val="0B192C"/>
                </a:solidFill>
              </a:defRPr>
            </a:pPr>
            <a:r>
              <a:t>Gate 5: Off-Site Disaster Recovery (Owner: IT / DevOps)</a:t>
            </a:r>
          </a:p>
          <a:p>
            <a:pPr>
              <a:spcBef>
                <a:spcPts val="200"/>
              </a:spcBef>
              <a:defRPr sz="1000">
                <a:solidFill>
                  <a:srgbClr val="28323C"/>
                </a:solidFill>
              </a:defRPr>
            </a:pPr>
            <a:r>
              <a:t>Configure automated daily encrypted database snapshot sync to an off-site GCP Cloud Storage bucket.</a:t>
            </a:r>
          </a:p>
        </p:txBody>
      </p:sp>
      <p:sp>
        <p:nvSpPr>
          <p:cNvPr id="14" name="Rounded Rectangle 13"/>
          <p:cNvSpPr/>
          <p:nvPr/>
        </p:nvSpPr>
        <p:spPr>
          <a:xfrm>
            <a:off x="731520" y="5440680"/>
            <a:ext cx="10698480" cy="685800"/>
          </a:xfrm>
          <a:prstGeom prst="round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486400"/>
            <a:ext cx="10332720" cy="594360"/>
          </a:xfrm>
          <a:prstGeom prst="rect">
            <a:avLst/>
          </a:prstGeom>
          <a:noFill/>
        </p:spPr>
        <p:txBody>
          <a:bodyPr wrap="square">
            <a:spAutoFit/>
          </a:bodyPr>
          <a:lstStyle/>
          <a:p>
            <a:pPr>
              <a:defRPr sz="1300" b="1">
                <a:solidFill>
                  <a:srgbClr val="0B192C"/>
                </a:solidFill>
              </a:defRPr>
            </a:pPr>
            <a:r>
              <a:t>Gate 6: Executive Sign-off (Owner: Clinic Management)</a:t>
            </a:r>
          </a:p>
          <a:p>
            <a:pPr>
              <a:spcBef>
                <a:spcPts val="200"/>
              </a:spcBef>
              <a:defRPr sz="1000">
                <a:solidFill>
                  <a:srgbClr val="28323C"/>
                </a:solidFill>
              </a:defRPr>
            </a:pPr>
            <a:r>
              <a:t>Formal executive operational sign-off following live dry-run review.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114800"/>
          </a:xfrm>
          <a:prstGeom prst="rect">
            <a:avLst/>
          </a:prstGeom>
          <a:noFill/>
        </p:spPr>
        <p:txBody>
          <a:bodyPr wrap="square">
            <a:spAutoFit/>
          </a:bodyPr>
          <a:lstStyle/>
          <a:p>
            <a:pPr>
              <a:defRPr sz="1800" b="1">
                <a:solidFill>
                  <a:srgbClr val="00A896"/>
                </a:solidFill>
                <a:latin typeface="Segoe UI"/>
              </a:defRPr>
            </a:pPr>
            <a:r>
              <a:t>GNU HEALTH HMIS 5.0</a:t>
            </a:r>
          </a:p>
          <a:p>
            <a:pPr>
              <a:defRPr sz="3600" b="1">
                <a:solidFill>
                  <a:srgbClr val="FFFFFF"/>
                </a:solidFill>
                <a:latin typeface="Segoe UI"/>
              </a:defRPr>
            </a:pPr>
            <a:r>
              <a:t>Backend Operational Certification Complete</a:t>
            </a:r>
          </a:p>
          <a:p>
            <a:pPr>
              <a:spcBef>
                <a:spcPts val="1400"/>
              </a:spcBef>
              <a:defRPr sz="1500">
                <a:solidFill>
                  <a:srgbClr val="B4C3CD"/>
                </a:solidFill>
                <a:latin typeface="Segoe UI"/>
              </a:defRPr>
            </a:pPr>
            <a:r>
              <a:t>The GNU Health HMIS backend is proven, robust, secure, and fully operational as an outpatient clinic system of record. Every clinical, diagnostic, billing, and accounting transaction behaves strictly according to native Tryton workflows.</a:t>
            </a:r>
          </a:p>
          <a:p>
            <a:pPr>
              <a:spcBef>
                <a:spcPts val="1400"/>
              </a:spcBef>
              <a:defRPr sz="1300">
                <a:solidFill>
                  <a:srgbClr val="1E90FF"/>
                </a:solidFill>
                <a:latin typeface="Segoe UI"/>
              </a:defRPr>
            </a:pPr>
            <a:r>
              <a:t>• Technical Status: TECHNICALLY CERTIFIED — DEMO/UAT END-TO-END VERIFIED</a:t>
            </a:r>
            <a:br/>
            <a:r>
              <a:t>• Frontend Team: Clear to commence user interface development via the authenticated native JSON-RPC API contract.</a:t>
            </a:r>
            <a:br/>
            <a:r>
              <a:t>• Operations Team: Prepare the remaining institutional and regulatory gates for production go-live.</a:t>
            </a:r>
          </a:p>
        </p:txBody>
      </p:sp>
      <p:sp>
        <p:nvSpPr>
          <p:cNvPr id="4" name="Rounded Rectangle 3"/>
          <p:cNvSpPr/>
          <p:nvPr/>
        </p:nvSpPr>
        <p:spPr>
          <a:xfrm>
            <a:off x="914400" y="530352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TECHNICALLY CERTIFIED</a:t>
            </a:r>
          </a:p>
        </p:txBody>
      </p:sp>
      <p:sp>
        <p:nvSpPr>
          <p:cNvPr id="5" name="Rounded Rectangle 4"/>
          <p:cNvSpPr/>
          <p:nvPr/>
        </p:nvSpPr>
        <p:spPr>
          <a:xfrm>
            <a:off x="3291840" y="5303520"/>
            <a:ext cx="2194560" cy="32004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READY FOR FRONTEND</a:t>
            </a:r>
          </a:p>
        </p:txBody>
      </p:sp>
      <p:sp>
        <p:nvSpPr>
          <p:cNvPr id="6" name="Rounded Rectangle 5"/>
          <p:cNvSpPr/>
          <p:nvPr/>
        </p:nvSpPr>
        <p:spPr>
          <a:xfrm>
            <a:off x="5669280" y="5303520"/>
            <a:ext cx="2011680" cy="320040"/>
          </a:xfrm>
          <a:prstGeom prst="roundRect">
            <a:avLst/>
          </a:prstGeom>
          <a:solidFill>
            <a:srgbClr val="1A3D5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latin typeface="Segoe UI"/>
              </a:defRPr>
            </a:pPr>
            <a:r>
              <a:t>BACKEND FROZEN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