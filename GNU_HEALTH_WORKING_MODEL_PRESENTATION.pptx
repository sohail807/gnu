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A896"/>
                </a:solidFill>
                <a:latin typeface="Segoe UI"/>
              </a:defRPr>
            </a:pPr>
            <a:r>
              <a:t>GNU HEALTH HMIS 5.0</a:t>
            </a:r>
          </a:p>
          <a:p>
            <a:pPr>
              <a:defRPr sz="4000" b="1">
                <a:solidFill>
                  <a:srgbClr val="FFFFFF"/>
                </a:solidFill>
                <a:latin typeface="Segoe UI"/>
              </a:defRPr>
            </a:pPr>
            <a:r>
              <a:t>End-to-End Working Model</a:t>
            </a:r>
          </a:p>
          <a:p>
            <a:pPr>
              <a:defRPr sz="1600">
                <a:solidFill>
                  <a:srgbClr val="1E90FF"/>
                </a:solidFill>
                <a:latin typeface="Segoe UI"/>
              </a:defRPr>
            </a:pPr>
            <a:r>
              <a:t>Clinical  →  Laboratory  →  Radiology  →  Billing  →  Accounting  →  Reconciliation</a:t>
            </a:r>
          </a:p>
          <a:p>
            <a:br/>
            <a:pPr>
              <a:defRPr sz="1300">
                <a:solidFill>
                  <a:srgbClr val="B4C3CD"/>
                </a:solidFill>
                <a:latin typeface="Segoe UI"/>
              </a:defRPr>
            </a:pPr>
            <a:r>
              <a:t>DEMO/UAT System Operational Certification  |  Certification Run: E2E-CERT-01340</a:t>
            </a:r>
          </a:p>
          <a:p>
            <a:pPr>
              <a:defRPr sz="1100">
                <a:solidFill>
                  <a:srgbClr val="B4C3CD"/>
                </a:solidFill>
                <a:latin typeface="Segoe UI"/>
              </a:defRPr>
            </a:pPr>
            <a:r>
              <a:t>GCP VM: gnuhealth-srv (34.7.237.8)  |  Tryton 7.0.57  |  PostgreSQL 15.19  |  QAR Functional Currency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5303520"/>
            <a:ext cx="128016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TECHNICALLY CERTIFIED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5303520"/>
            <a:ext cx="1280160" cy="320040"/>
          </a:xfrm>
          <a:prstGeom prst="roundRect">
            <a:avLst/>
          </a:prstGeom>
          <a:solidFill>
            <a:srgbClr val="1A3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32/32 TESTS 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5303520"/>
            <a:ext cx="1280160" cy="320040"/>
          </a:xfrm>
          <a:prstGeom prst="roundRect">
            <a:avLst/>
          </a:prstGeom>
          <a:solidFill>
            <a:srgbClr val="E6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GO-LIVE PENDING CLINIC INPUTS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Authoritative System Architecture &amp; Network Topology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1. Client &amp; Presentation Layer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Future Clinic Web Frontend</a:t>
            </a:r>
            <a:br/>
            <a:r>
              <a:t>• Mobile Outpatient Portal</a:t>
            </a:r>
            <a:br/>
            <a:r>
              <a:t>• GNU Health SAO Web Client</a:t>
            </a:r>
            <a:br/>
            <a:r>
              <a:t>• REST/JSON-RPC Integration Apps</a:t>
            </a:r>
          </a:p>
          <a:p>
            <a:br/>
            <a:pPr>
              <a:defRPr b="1" sz="1100">
                <a:solidFill>
                  <a:srgbClr val="0B192C"/>
                </a:solidFill>
              </a:defRPr>
            </a:pPr>
            <a:r>
              <a:t>Security Constraints:</a:t>
            </a:r>
          </a:p>
          <a:p>
            <a:pPr>
              <a:defRPr sz="1000">
                <a:solidFill>
                  <a:srgbClr val="323C46"/>
                </a:solidFill>
              </a:defRPr>
            </a:pPr>
            <a:r>
              <a:t>• Zero direct database connection</a:t>
            </a:r>
            <a:br/>
            <a:r>
              <a:t>• Zero stored server secrets</a:t>
            </a:r>
            <a:br/>
            <a:r>
              <a:t>• Session-authenticated JSON-RPC</a:t>
            </a:r>
            <a:br/>
            <a:r>
              <a:t>• TLS encrypted HTTPS (Port 443)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4747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108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0A896"/>
                </a:solidFill>
              </a:defRPr>
            </a:pPr>
            <a:r>
              <a:t>2. Core Application Engine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Nginx Reverse Proxy (1.22.1)</a:t>
            </a:r>
            <a:br/>
            <a:r>
              <a:t>• Port 80/443 SSL termination</a:t>
            </a:r>
            <a:br/>
            <a:r>
              <a:t>• Reverse proxy to 127.0.0.1:8000</a:t>
            </a:r>
            <a:br/>
            <a:r>
              <a:t>• HTTP request sanitation</a:t>
            </a:r>
          </a:p>
          <a:p>
            <a:br/>
            <a:pPr>
              <a:defRPr sz="1050">
                <a:solidFill>
                  <a:srgbClr val="323C46"/>
                </a:solidFill>
              </a:defRPr>
            </a:pPr>
            <a:r>
              <a:t>Tryton 7.0.57 WSGI Daemon</a:t>
            </a:r>
            <a:br/>
            <a:r>
              <a:t>• Private loopback 127.0.0.1:8000</a:t>
            </a:r>
            <a:br/>
            <a:r>
              <a:t>• Native GNU Health HMIS 5.0 Core</a:t>
            </a:r>
            <a:br/>
            <a:r>
              <a:t>• Authoritative RBAC Engine</a:t>
            </a:r>
            <a:br/>
            <a:r>
              <a:t>• Clinical Workflows &amp; Immutability</a:t>
            </a:r>
            <a:br/>
            <a:r>
              <a:t>• Native Invoicing &amp; Ledger 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29184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3. Authoritative System of Record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PostgreSQL 15.19 Database</a:t>
            </a:r>
            <a:br/>
            <a:r>
              <a:t>• Database: 'gnuhealth' (124 MB)</a:t>
            </a:r>
            <a:br/>
            <a:r>
              <a:t>• Bound to 127.0.0.1:5432</a:t>
            </a:r>
            <a:br/>
            <a:r>
              <a:t>• Unix domain socket peer auth</a:t>
            </a:r>
            <a:br/>
            <a:r>
              <a:t>• 306 verified public tables</a:t>
            </a:r>
            <a:br/>
            <a:r>
              <a:t>• Zero shadow or duplicate tables</a:t>
            </a:r>
            <a:br/>
            <a:r>
              <a:t>• Strict foreign-key referential integrity</a:t>
            </a:r>
          </a:p>
          <a:p>
            <a:br/>
            <a:pPr>
              <a:defRPr sz="1000">
                <a:solidFill>
                  <a:srgbClr val="323C46"/>
                </a:solidFill>
              </a:defRPr>
            </a:pPr>
            <a:r>
              <a:t>Automated Backup Engine:</a:t>
            </a:r>
            <a:br/>
            <a:r>
              <a:t>• Daily compressed dumps (02:00 UTC)</a:t>
            </a:r>
            <a:br/>
            <a:r>
              <a:t>• Isolated DR drill tested in 10s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System Responsibilities &amp; Architectural Boundaries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✔  Patient Records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Party demographics, addresses, government identifiers (QID), federation country, medical genetics, and electronic medical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78308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✔  Clinical Workflows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Nursing triage, vitals, physician consultations, ICD-10 pathology assignment, and electronic signing locks.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78308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✔  Prescription &amp; Pharmacy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Prescription orders, medicament dosage, administration routes, treatment duration, and drug-safety warnings.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34290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6908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✔  Laboratory Management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Lab test orders, specimen tracking, diagnostic analysis results, reference ranges, and laboratory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931920"/>
            <a:ext cx="34290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406908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✔  Radiology &amp; Imaging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Imaging test requests, modalities, radiologist interpretations, and examination completion states.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931920"/>
            <a:ext cx="34290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406908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✔  Billing &amp; Accounting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Chargemaster service aggregation, customer invoicing, sequence numbering, double-entry GL ledger moves, and payment reconciliation.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Operational User Roles &amp; Least-Privilege Boundaries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Front Desk (demo_frontdesk1)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Group: Health Front Desk  |  Permitted: Patient registration, identity check, outpatient appointment booking, clinic arrival check-in.</a:t>
            </a:r>
          </a:p>
          <a:p>
            <a:pPr>
              <a:defRPr sz="950" b="1">
                <a:solidFill>
                  <a:srgbClr val="DC3545"/>
                </a:solidFill>
              </a:defRPr>
            </a:pPr>
            <a:r>
              <a:t>Strictly Denied: Clinical evaluations, prescriptions, invoicing, lab/rad results.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Nurse (demo_nurse1)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Group: Health Nurse  |  Permitted: Vital signs recording, nursing triage, appointment status tracking.</a:t>
            </a:r>
          </a:p>
          <a:p>
            <a:pPr>
              <a:defRPr sz="950" b="1">
                <a:solidFill>
                  <a:srgbClr val="DC3545"/>
                </a:solidFill>
              </a:defRPr>
            </a:pPr>
            <a:r>
              <a:t>Strictly Denied: Prescription generation, invoice creation, billing settlement.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9184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Doctor (demo_dr1 / demo_dr2)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Group: Health Doctor  |  Permitted: Clinical consultation, diagnosis (ICD-10), electronic signing, prescription ordering, lab/imaging requests.</a:t>
            </a:r>
          </a:p>
          <a:p>
            <a:pPr>
              <a:defRPr sz="950" b="1">
                <a:solidFill>
                  <a:srgbClr val="DC3545"/>
                </a:solidFill>
              </a:defRPr>
            </a:pPr>
            <a:r>
              <a:t>Strictly Denied: Invoice creation, customer payment posting, user administration.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20040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29184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Lab Technician (demo_lab1)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Group: Health Lab  |  Permitted: Specimen analysis, quantitative result recording, laboratory validation.</a:t>
            </a:r>
          </a:p>
          <a:p>
            <a:pPr>
              <a:defRPr sz="950" b="1">
                <a:solidFill>
                  <a:srgbClr val="DC3545"/>
                </a:solidFill>
              </a:defRPr>
            </a:pPr>
            <a:r>
              <a:t>Strictly Denied: Clinical consultation, prescribing, billing, patient registration.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Radiology Tech (demo_rad1)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Group: Health Imaging  |  Permitted: Medical imaging examination, diagnostic interpretation reporting.</a:t>
            </a:r>
          </a:p>
          <a:p>
            <a:pPr>
              <a:defRPr sz="950" b="1">
                <a:solidFill>
                  <a:srgbClr val="DC3545"/>
                </a:solidFill>
              </a:defRPr>
            </a:pPr>
            <a:r>
              <a:t>Strictly Denied: Prescribing, invoicing, clinical triage, user administration.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75488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84632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Cashier (demo_cashier1)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Group: Account / Accounting Party  |  Permitted: Health services billing, customer invoice generation, cash receipt moves, receivables reconciliation.</a:t>
            </a:r>
          </a:p>
          <a:p>
            <a:pPr>
              <a:defRPr sz="950" b="1">
                <a:solidFill>
                  <a:srgbClr val="DC3545"/>
                </a:solidFill>
              </a:defRPr>
            </a:pPr>
            <a:r>
              <a:t>Strictly Denied: Clinical records, diagnoses, prescriptions, lab/rad findings.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The Complete Outpatient Patient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194560"/>
            <a:ext cx="11430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51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B192C"/>
                </a:solidFill>
              </a:defRPr>
            </a:pPr>
            <a:r>
              <a:t>1. Registration</a:t>
            </a:r>
          </a:p>
          <a:p>
            <a:br/>
            <a:pPr>
              <a:defRPr sz="950" b="1">
                <a:solidFill>
                  <a:srgbClr val="00A896"/>
                </a:solidFill>
              </a:defRPr>
            </a:pPr>
            <a:r>
              <a:t>Role:</a:t>
            </a:r>
            <a:br/>
            <a:r>
              <a:t>Front Desk</a:t>
            </a:r>
          </a:p>
          <a:p>
            <a:br/>
            <a:pPr>
              <a:defRPr sz="850">
                <a:solidFill>
                  <a:srgbClr val="323C46"/>
                </a:solidFill>
              </a:defRPr>
            </a:pPr>
            <a:r>
              <a:t>Models:</a:t>
            </a:r>
            <a:br/>
            <a:r>
              <a:t>party.party</a:t>
            </a:r>
            <a:br/>
            <a:r>
              <a:t>gnuhealth.patient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2194560"/>
            <a:ext cx="11430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286000"/>
            <a:ext cx="1051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B192C"/>
                </a:solidFill>
              </a:defRPr>
            </a:pPr>
            <a:r>
              <a:t>2. Appointment</a:t>
            </a:r>
          </a:p>
          <a:p>
            <a:br/>
            <a:pPr>
              <a:defRPr sz="950" b="1">
                <a:solidFill>
                  <a:srgbClr val="00A896"/>
                </a:solidFill>
              </a:defRPr>
            </a:pPr>
            <a:r>
              <a:t>Role:</a:t>
            </a:r>
            <a:br/>
            <a:r>
              <a:t>Front Desk</a:t>
            </a:r>
          </a:p>
          <a:p>
            <a:br/>
            <a:pPr>
              <a:defRPr sz="850">
                <a:solidFill>
                  <a:srgbClr val="323C46"/>
                </a:solidFill>
              </a:defRPr>
            </a:pPr>
            <a:r>
              <a:t>Models:</a:t>
            </a:r>
            <a:br/>
            <a:r>
              <a:t>gnuhealth.appointment</a:t>
            </a:r>
            <a:br/>
            <a:r>
              <a:t>(free -&gt; confirmed)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194560"/>
            <a:ext cx="11430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2286000"/>
            <a:ext cx="1051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B192C"/>
                </a:solidFill>
              </a:defRPr>
            </a:pPr>
            <a:r>
              <a:t>3. Check-In</a:t>
            </a:r>
          </a:p>
          <a:p>
            <a:br/>
            <a:pPr>
              <a:defRPr sz="950" b="1">
                <a:solidFill>
                  <a:srgbClr val="00A896"/>
                </a:solidFill>
              </a:defRPr>
            </a:pPr>
            <a:r>
              <a:t>Role:</a:t>
            </a:r>
            <a:br/>
            <a:r>
              <a:t>Front Desk</a:t>
            </a:r>
          </a:p>
          <a:p>
            <a:br/>
            <a:pPr>
              <a:defRPr sz="850">
                <a:solidFill>
                  <a:srgbClr val="323C46"/>
                </a:solidFill>
              </a:defRPr>
            </a:pPr>
            <a:r>
              <a:t>Models:</a:t>
            </a:r>
            <a:br/>
            <a:r>
              <a:t>state: checked_in</a:t>
            </a:r>
            <a:br/>
            <a:r>
              <a:t>Waiting queue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194560"/>
            <a:ext cx="11430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286000"/>
            <a:ext cx="1051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B192C"/>
                </a:solidFill>
              </a:defRPr>
            </a:pPr>
            <a:r>
              <a:t>4. Triage</a:t>
            </a:r>
          </a:p>
          <a:p>
            <a:br/>
            <a:pPr>
              <a:defRPr sz="950" b="1">
                <a:solidFill>
                  <a:srgbClr val="00A896"/>
                </a:solidFill>
              </a:defRPr>
            </a:pPr>
            <a:r>
              <a:t>Role:</a:t>
            </a:r>
            <a:br/>
            <a:r>
              <a:t>Nurse</a:t>
            </a:r>
          </a:p>
          <a:p>
            <a:br/>
            <a:pPr>
              <a:defRPr sz="850">
                <a:solidFill>
                  <a:srgbClr val="323C46"/>
                </a:solidFill>
              </a:defRPr>
            </a:pPr>
            <a:r>
              <a:t>Models:</a:t>
            </a:r>
            <a:br/>
            <a:r>
              <a:t>gnuhealth.patient.evaluation</a:t>
            </a:r>
            <a:br/>
            <a:r>
              <a:t>(BP, T, HR, SpO2)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2194560"/>
            <a:ext cx="11430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286000"/>
            <a:ext cx="1051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B192C"/>
                </a:solidFill>
              </a:defRPr>
            </a:pPr>
            <a:r>
              <a:t>5. Consultation</a:t>
            </a:r>
          </a:p>
          <a:p>
            <a:br/>
            <a:pPr>
              <a:defRPr sz="950" b="1">
                <a:solidFill>
                  <a:srgbClr val="00A896"/>
                </a:solidFill>
              </a:defRPr>
            </a:pPr>
            <a:r>
              <a:t>Role:</a:t>
            </a:r>
            <a:br/>
            <a:r>
              <a:t>Doctor</a:t>
            </a:r>
          </a:p>
          <a:p>
            <a:br/>
            <a:pPr>
              <a:defRPr sz="850">
                <a:solidFill>
                  <a:srgbClr val="323C46"/>
                </a:solidFill>
              </a:defRPr>
            </a:pPr>
            <a:r>
              <a:t>Models:</a:t>
            </a:r>
            <a:br/>
            <a:r>
              <a:t>Evaluation signed</a:t>
            </a:r>
            <a:br/>
            <a:r>
              <a:t>ICD-10 J06.9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1430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286000"/>
            <a:ext cx="1051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B192C"/>
                </a:solidFill>
              </a:defRPr>
            </a:pPr>
            <a:r>
              <a:t>6. Orders</a:t>
            </a:r>
          </a:p>
          <a:p>
            <a:br/>
            <a:pPr>
              <a:defRPr sz="950" b="1">
                <a:solidFill>
                  <a:srgbClr val="00A896"/>
                </a:solidFill>
              </a:defRPr>
            </a:pPr>
            <a:r>
              <a:t>Role:</a:t>
            </a:r>
            <a:br/>
            <a:r>
              <a:t>Doctor</a:t>
            </a:r>
          </a:p>
          <a:p>
            <a:br/>
            <a:pPr>
              <a:defRPr sz="850">
                <a:solidFill>
                  <a:srgbClr val="323C46"/>
                </a:solidFill>
              </a:defRPr>
            </a:pPr>
            <a:r>
              <a:t>Models:</a:t>
            </a:r>
            <a:br/>
            <a:r>
              <a:t>Amoxicillin Rx</a:t>
            </a:r>
            <a:br/>
            <a:r>
              <a:t>CBC Lab &amp; CXR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194560"/>
            <a:ext cx="11430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286000"/>
            <a:ext cx="1051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B192C"/>
                </a:solidFill>
              </a:defRPr>
            </a:pPr>
            <a:r>
              <a:t>7. Diagnostics</a:t>
            </a:r>
          </a:p>
          <a:p>
            <a:br/>
            <a:pPr>
              <a:defRPr sz="950" b="1">
                <a:solidFill>
                  <a:srgbClr val="00A896"/>
                </a:solidFill>
              </a:defRPr>
            </a:pPr>
            <a:r>
              <a:t>Role:</a:t>
            </a:r>
            <a:br/>
            <a:r>
              <a:t>Lab &amp; Rad</a:t>
            </a:r>
          </a:p>
          <a:p>
            <a:br/>
            <a:pPr>
              <a:defRPr sz="850">
                <a:solidFill>
                  <a:srgbClr val="323C46"/>
                </a:solidFill>
              </a:defRPr>
            </a:pPr>
            <a:r>
              <a:t>Models:</a:t>
            </a:r>
            <a:br/>
            <a:r>
              <a:t>Lab validated</a:t>
            </a:r>
            <a:br/>
            <a:r>
              <a:t>CXR done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194560"/>
            <a:ext cx="11430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286000"/>
            <a:ext cx="1051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B192C"/>
                </a:solidFill>
              </a:defRPr>
            </a:pPr>
            <a:r>
              <a:t>8. Invoicing</a:t>
            </a:r>
          </a:p>
          <a:p>
            <a:br/>
            <a:pPr>
              <a:defRPr sz="950" b="1">
                <a:solidFill>
                  <a:srgbClr val="00A896"/>
                </a:solidFill>
              </a:defRPr>
            </a:pPr>
            <a:r>
              <a:t>Role:</a:t>
            </a:r>
            <a:br/>
            <a:r>
              <a:t>Cashier</a:t>
            </a:r>
          </a:p>
          <a:p>
            <a:br/>
            <a:pPr>
              <a:defRPr sz="850">
                <a:solidFill>
                  <a:srgbClr val="323C46"/>
                </a:solidFill>
              </a:defRPr>
            </a:pPr>
            <a:r>
              <a:t>Models:</a:t>
            </a:r>
            <a:br/>
            <a:r>
              <a:t>account.invoice</a:t>
            </a:r>
            <a:br/>
            <a:r>
              <a:t>INV-2026/00011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2194560"/>
            <a:ext cx="11430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0" y="2286000"/>
            <a:ext cx="1051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B192C"/>
                </a:solidFill>
              </a:defRPr>
            </a:pPr>
            <a:r>
              <a:t>9. Settlement</a:t>
            </a:r>
          </a:p>
          <a:p>
            <a:br/>
            <a:pPr>
              <a:defRPr sz="950" b="1">
                <a:solidFill>
                  <a:srgbClr val="00A896"/>
                </a:solidFill>
              </a:defRPr>
            </a:pPr>
            <a:r>
              <a:t>Role:</a:t>
            </a:r>
            <a:br/>
            <a:r>
              <a:t>Cashier</a:t>
            </a:r>
          </a:p>
          <a:p>
            <a:br/>
            <a:pPr>
              <a:defRPr sz="850">
                <a:solidFill>
                  <a:srgbClr val="323C46"/>
                </a:solidFill>
              </a:defRPr>
            </a:pPr>
            <a:r>
              <a:t>Models:</a:t>
            </a:r>
            <a:br/>
            <a:r>
              <a:t>account.move (Cash)</a:t>
            </a:r>
            <a:br/>
            <a:r>
              <a:t>Reconciliation (AR=0)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Patient Registration &amp; Identification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Patient Entity Architecture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GNU Health strictly decouples person demographics from medical history:</a:t>
            </a:r>
            <a:br/>
            <a:r>
              <a:t>• party.party: Person entity, legal name, gender, DOB, nationality.</a:t>
            </a:r>
            <a:br/>
            <a:r>
              <a:t>• party.address: Clinic address, billing address, contact location.</a:t>
            </a:r>
            <a:br/>
            <a:r>
              <a:t>• party.identifier: Qatar ID (QID) / National ID tracking.</a:t>
            </a:r>
            <a:br/>
            <a:r>
              <a:t>• gnuhealth.patient: Clinical patient wrapper with unique PUID.</a:t>
            </a:r>
            <a:br/>
            <a:br/>
            <a:r>
              <a:t>Enforced Integrity Rules:</a:t>
            </a:r>
            <a:br/>
            <a:r>
              <a:t>✔ Patient cannot exist without valid party.</a:t>
            </a:r>
            <a:br/>
            <a:r>
              <a:t>✔ Gender is mandatory when is_patient=True.</a:t>
            </a:r>
            <a:br/>
            <a:r>
              <a:t>✔ Federation country (fed_country='QAT') is mandatory.</a:t>
            </a:r>
            <a:br/>
            <a:r>
              <a:t>✔ QID/Reference must be globally unique in database.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Certified Live Transaction Evidence (Run E2E-CERT-01340)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Patient Record ID: 63</a:t>
            </a:r>
            <a:br/>
            <a:r>
              <a:t>• Party Record ID: 220</a:t>
            </a:r>
            <a:br/>
            <a:r>
              <a:t>• Patient PUID: E2E-CERT-QID-01340</a:t>
            </a:r>
            <a:br/>
            <a:r>
              <a:t>• Full Name: E2E-CERT PATIENT 01340</a:t>
            </a:r>
            <a:br/>
            <a:r>
              <a:t>• Gender: Male (m)  |  DOB: 1991-03-14</a:t>
            </a:r>
            <a:br/>
            <a:r>
              <a:t>• Country ISO: QAT (Qatar)</a:t>
            </a:r>
            <a:br/>
            <a:r>
              <a:t>• Address: Zone 45, Al Sadd, Doha</a:t>
            </a:r>
            <a:br/>
            <a:r>
              <a:t>• National Identifier: E2E-CERT-QID-01340</a:t>
            </a:r>
            <a:br/>
            <a:br/>
            <a:r>
              <a:t>Negative Validation Drill Result:</a:t>
            </a:r>
            <a:br/>
            <a:r>
              <a:t>• Duplicate QID attempt: REJECTED (SQLConstraintError)</a:t>
            </a:r>
            <a:br/>
            <a:r>
              <a:t>• Missing country attempt: REJECTED (KeyError)</a:t>
            </a:r>
            <a:br/>
            <a:r>
              <a:t>• Status: 100%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Appointment Scheduling &amp; Check-In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Appointment State Machine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Valid Outpatient Progression:</a:t>
            </a:r>
            <a:br/>
            <a:r>
              <a:t>1. free: Slot available on doctor schedule.</a:t>
            </a:r>
            <a:br/>
            <a:r>
              <a:t>2. confirmed: Patient books appointment slot.</a:t>
            </a:r>
            <a:br/>
            <a:r>
              <a:t>3. checked_in: Patient arrives; enters clinic queue.</a:t>
            </a:r>
            <a:br/>
            <a:r>
              <a:t>4. done: Doctor completes consultation.</a:t>
            </a:r>
            <a:br/>
            <a:br/>
            <a:r>
              <a:t>Terminal Alternative States:</a:t>
            </a:r>
            <a:br/>
            <a:r>
              <a:t>• user_cancelled: Patient cancels booking.</a:t>
            </a:r>
            <a:br/>
            <a:r>
              <a:t>• center_cancelled: Clinic reschedules doctor.</a:t>
            </a:r>
            <a:br/>
            <a:r>
              <a:t>• no_show: Patient fails to attend slot.</a:t>
            </a:r>
            <a:br/>
            <a:br/>
            <a:r>
              <a:t>Note: 'in_consultation' is not a native state; GNU Health tracks consultation inside the evaluation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Empirical Workflow Validation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Certified Live Execution:</a:t>
            </a:r>
            <a:br/>
            <a:r>
              <a:t>• Appointment ID: 66</a:t>
            </a:r>
            <a:br/>
            <a:r>
              <a:t>• Patient: E2E-CERT PATIENT 01340 (ID: 63)</a:t>
            </a:r>
            <a:br/>
            <a:r>
              <a:t>• Attending Physician: Dr. DEMO Physician 01 (HP: 71)</a:t>
            </a:r>
            <a:br/>
            <a:r>
              <a:t>• Schedule Date: 2026-09-22 18:22:20 UTC</a:t>
            </a:r>
            <a:br/>
            <a:r>
              <a:t>• Final State: done</a:t>
            </a:r>
            <a:br/>
            <a:br/>
            <a:r>
              <a:t>Negative Validation Tests:</a:t>
            </a:r>
            <a:br/>
            <a:r>
              <a:t>✔ Invalid state assignment ('invalid_state_xyz'):</a:t>
            </a:r>
            <a:br/>
            <a:r>
              <a:t>   REJECTED cleanly with SelectionValidationError</a:t>
            </a:r>
            <a:br/>
            <a:r>
              <a:t>✔ Database state preserved without corruption</a:t>
            </a:r>
            <a:br/>
            <a:r>
              <a:t>✔ Result: 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Clinical Evaluation, Nursing Triage &amp; Signature Locks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Triage &amp; Consultation Model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1. Nursing Triage Phase:</a:t>
            </a:r>
            <a:br/>
            <a:r>
              <a:t>• Role: Health Nurse (demo_nurse1)</a:t>
            </a:r>
            <a:br/>
            <a:r>
              <a:t>• Vital Signs: Blood Pressure, Pulse, Temp, RR, SpO2</a:t>
            </a:r>
            <a:br/>
            <a:r>
              <a:t>• State: in_progress</a:t>
            </a:r>
            <a:br/>
            <a:br/>
            <a:r>
              <a:t>2. Doctor Consultation Phase:</a:t>
            </a:r>
            <a:br/>
            <a:r>
              <a:t>• Role: Health Doctor (demo_dr1)</a:t>
            </a:r>
            <a:br/>
            <a:r>
              <a:t>• Documentation: Chief complaint, history of present illness, examination summary</a:t>
            </a:r>
            <a:br/>
            <a:r>
              <a:t>• Assessment: Authoritative ICD-10 diagnosis</a:t>
            </a:r>
            <a:br/>
            <a:r>
              <a:t>• Closure: Electronic signature -&gt; state: signed</a:t>
            </a:r>
            <a:br/>
            <a:br/>
            <a:r>
              <a:t>Immutability Guarantee:</a:t>
            </a:r>
            <a:br/>
            <a:r>
              <a:t>Once signed, Tryton field-level states transition all clinical fields to readonly=True.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Certified Live Clinical Evidence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• Evaluation ID: 42  |  State: signed</a:t>
            </a:r>
            <a:br/>
            <a:r>
              <a:t>• Blood Pressure: 118 / 78 mmHg</a:t>
            </a:r>
            <a:br/>
            <a:r>
              <a:t>• Heart Rate: 74 bpm  |  Temp: 37.1 °C</a:t>
            </a:r>
            <a:br/>
            <a:r>
              <a:t>• Respiratory Rate: 16 bpm  |  SpO2: 99%</a:t>
            </a:r>
            <a:br/>
            <a:r>
              <a:t>• Weight: 72.5 kg  |  Height: 176.0 cm</a:t>
            </a:r>
            <a:br/>
            <a:r>
              <a:t>• Chief Complaint: E2E-CERT-01340 Sore throat, fever</a:t>
            </a:r>
            <a:br/>
            <a:r>
              <a:t>• Diagnosis: ICD-10 J06.9 (Disease Record ID: 6)</a:t>
            </a:r>
            <a:br/>
            <a:r>
              <a:t>• Discharge Reason: Home</a:t>
            </a:r>
            <a:br/>
            <a:br/>
            <a:r>
              <a:t>Empirical Tamper-Resistance Check:</a:t>
            </a:r>
            <a:br/>
            <a:r>
              <a:t>• Doctor deletion attempt: DENIED (AccessError)</a:t>
            </a:r>
            <a:br/>
            <a:r>
              <a:t>• Front Desk creation attempt: DENIED (AccessError)</a:t>
            </a:r>
            <a:br/>
            <a:r>
              <a:t>• Result: 100% PASS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Clinical Decision Support &amp; ICD-10 Pathology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WHO ICD-10 Standardized Pathology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14,416 authoritative ICD-10 codes active in PostgreSQL.</a:t>
            </a:r>
            <a:br/>
            <a:r>
              <a:t>• Direct relational integrity between:</a:t>
            </a:r>
            <a:br/>
            <a:r>
              <a:t>  gnuhealth.patient.evaluation -&gt; gnuhealth.pathology</a:t>
            </a:r>
            <a:br/>
            <a:r>
              <a:t>  gnuhealth.patient.disease    -&gt; gnuhealth.pathology</a:t>
            </a:r>
            <a:br/>
            <a:r>
              <a:t>  gnuhealth.prescription.line  -&gt; gnuhealth.pathology</a:t>
            </a:r>
            <a:br/>
            <a:br/>
            <a:r>
              <a:t>Enforced Rules:</a:t>
            </a:r>
            <a:br/>
            <a:r>
              <a:t>✔ Diagnosis must reference a validated code.</a:t>
            </a:r>
            <a:br/>
            <a:r>
              <a:t>✔ Free-text unmapped diagnoses are rejected.</a:t>
            </a:r>
            <a:br/>
            <a:r>
              <a:t>✔ Permanent disease history recorded upon signing.</a:t>
            </a:r>
            <a:br/>
            <a:r>
              <a:t>✔ Clinical indication tracked on each prescription 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Empirical Validation Results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Valid Code Lookup (ICD-01):</a:t>
            </a:r>
            <a:br/>
            <a:r>
              <a:t>• Code: J06.9</a:t>
            </a:r>
            <a:br/>
            <a:r>
              <a:t>• Name: Acute upper respiratory infection, unspecified</a:t>
            </a:r>
            <a:br/>
            <a:r>
              <a:t>• Result: MATCH CONFIRMED (PASS)</a:t>
            </a:r>
            <a:br/>
            <a:br/>
            <a:r>
              <a:t>Invalid Code Rejection (ICD-02):</a:t>
            </a:r>
            <a:br/>
            <a:r>
              <a:t>• Input: 'NONEXISTENT-999.99'</a:t>
            </a:r>
            <a:br/>
            <a:r>
              <a:t>• Expected: 0 matching records</a:t>
            </a:r>
            <a:br/>
            <a:r>
              <a:t>• Actual: Query safely returned 0 records</a:t>
            </a:r>
            <a:br/>
            <a:r>
              <a:t>• Result: PASS (Corrupted links prevented)</a:t>
            </a:r>
            <a:br/>
            <a:br/>
            <a:r>
              <a:t>Clinical Audit Linkage:</a:t>
            </a:r>
            <a:br/>
            <a:r>
              <a:t>• Disease Entry 6 linked to Patient 63</a:t>
            </a:r>
            <a:br/>
            <a:r>
              <a:t>• Prescription Line 28 linked to Indication J06.9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Laboratory Diagnostic Workflow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Laboratory Order Lifecycle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1. Order Entry (Doctor):</a:t>
            </a:r>
            <a:br/>
            <a:r>
              <a:t>• Physician issues lab request during consultation.</a:t>
            </a:r>
            <a:br/>
            <a:r>
              <a:t>• Linked to patient and clinical pathology (J06.9).</a:t>
            </a:r>
            <a:br/>
            <a:br/>
            <a:r>
              <a:t>2. Specimen Processing &amp; Analysis (Lab Tech):</a:t>
            </a:r>
            <a:br/>
            <a:r>
              <a:t>• Role: Health Lab (demo_lab1)</a:t>
            </a:r>
            <a:br/>
            <a:r>
              <a:t>• Specimen logged and analyzed in diagnostic suite.</a:t>
            </a:r>
            <a:br/>
            <a:r>
              <a:t>• Quantitative/qualitative findings recorded.</a:t>
            </a:r>
            <a:br/>
            <a:br/>
            <a:r>
              <a:t>3. Validation &amp; Reporting:</a:t>
            </a:r>
            <a:br/>
            <a:r>
              <a:t>• State transitions to 'validated'.</a:t>
            </a:r>
            <a:br/>
            <a:r>
              <a:t>• Findings become available to attending physician.</a:t>
            </a:r>
            <a:br/>
            <a:r>
              <a:t>• Order automatically qualifies for health service billing.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Certified Live Laboratory Evidence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Lab Order ID: 32</a:t>
            </a:r>
            <a:br/>
            <a:r>
              <a:t>• Patient ID: 63 (E2E-CERT PATIENT 01340)</a:t>
            </a:r>
            <a:br/>
            <a:r>
              <a:t>• Requesting Physician: Dr. DEMO Physician 01 (HP: 71)</a:t>
            </a:r>
            <a:br/>
            <a:r>
              <a:t>• Test Ordered: Complete Blood Count (CBC, Test ID: 1)</a:t>
            </a:r>
            <a:br/>
            <a:r>
              <a:t>• State: validated</a:t>
            </a:r>
            <a:br/>
            <a:r>
              <a:t>• Diagnostic Result:</a:t>
            </a:r>
            <a:br/>
            <a:r>
              <a:t>  'E2E-CERT-01340 CBC: Hb 14.1 g/dL,</a:t>
            </a:r>
            <a:br/>
            <a:r>
              <a:t>   WBC 9.4 x10^9/L, Platelets 260 x10^9/L'</a:t>
            </a:r>
            <a:br/>
            <a:br/>
            <a:r>
              <a:t>Security Validation Check (LAB-02):</a:t>
            </a:r>
            <a:br/>
            <a:r>
              <a:t>• Front Desk edit attempt: DENIED (AccessError)</a:t>
            </a:r>
            <a:br/>
            <a:r>
              <a:t>• Result: 100% PASS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Radiology Diagnostic Workflow &amp; Reporting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Radiology Workflow Architecture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1. Imaging Test Request (Doctor):</a:t>
            </a:r>
            <a:br/>
            <a:r>
              <a:t>• Model: gnuhealth.imaging.test.request</a:t>
            </a:r>
            <a:br/>
            <a:r>
              <a:t>• Prescribes modality and anatomic view.</a:t>
            </a:r>
            <a:br/>
            <a:br/>
            <a:r>
              <a:t>2. Image Acquisition &amp; Reporting (Radiographer):</a:t>
            </a:r>
            <a:br/>
            <a:r>
              <a:t>• Role: Health Imaging (demo_rad1)</a:t>
            </a:r>
            <a:br/>
            <a:r>
              <a:t>• Examination completed; state set to 'done'.</a:t>
            </a:r>
            <a:br/>
            <a:r>
              <a:t>• Model: gnuhealth.imaging.test.result</a:t>
            </a:r>
            <a:br/>
            <a:r>
              <a:t>• Radiologist narrative comment recorded.</a:t>
            </a:r>
            <a:br/>
            <a:br/>
            <a:r>
              <a:t>3. Billing Linkage:</a:t>
            </a:r>
            <a:br/>
            <a:r>
              <a:t>• Imaging procedure automatically billable under RAD-XR.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Certified Live Radiology Evidence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Radiology Request ID: 32  |  State: done</a:t>
            </a:r>
            <a:br/>
            <a:r>
              <a:t>• Radiology Result ID: 27</a:t>
            </a:r>
            <a:br/>
            <a:r>
              <a:t>• Patient: E2E-CERT PATIENT 01340 (ID: 63)</a:t>
            </a:r>
            <a:br/>
            <a:r>
              <a:t>• Ordering Physician: Dr. DEMO Physician 01 (HP: 71)</a:t>
            </a:r>
            <a:br/>
            <a:r>
              <a:t>• Test Requested: Chest X-Ray PA View (ID: 1)</a:t>
            </a:r>
            <a:br/>
            <a:r>
              <a:t>• Radiologist Interpretation:</a:t>
            </a:r>
            <a:br/>
            <a:r>
              <a:t>  'E2E-CERT-01340 CXR: Heart size normal.</a:t>
            </a:r>
            <a:br/>
            <a:r>
              <a:t>   Lungs clear without focal consolidation</a:t>
            </a:r>
            <a:br/>
            <a:r>
              <a:t>   or pneumothorax.'</a:t>
            </a:r>
            <a:br/>
            <a:br/>
            <a:r>
              <a:t>Security Validation Check (RAD-02):</a:t>
            </a:r>
            <a:br/>
            <a:r>
              <a:t>• Cashier order attempt: DENIED (AccessError)</a:t>
            </a:r>
            <a:br/>
            <a:r>
              <a:t>• Result: 100% PASS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Health Services &amp; Billing Consolidation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Encounter Service Aggregation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GNU Health utilizes 'gnuhealth.health_service' as the official bridge between clinical procedures and financial invoicing.</a:t>
            </a:r>
            <a:br/>
            <a:br/>
            <a:r>
              <a:t>• Multiple clinical events consolidate into one service record:</a:t>
            </a:r>
            <a:br/>
            <a:r>
              <a:t>  1. Clinical Consultation (Doctor)</a:t>
            </a:r>
            <a:br/>
            <a:r>
              <a:t>  2. Diagnostic Laboratory Tests (Lab Tech)</a:t>
            </a:r>
            <a:br/>
            <a:r>
              <a:t>  3. Diagnostic Imaging Examinations (Radiographer)</a:t>
            </a:r>
            <a:br/>
            <a:br/>
            <a:r>
              <a:t>• Each line specifies product code, quantity, and to_invoice=True flag.</a:t>
            </a:r>
            <a:br/>
            <a:r>
              <a:t>• Ensures zero clinical services escape unbilled.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Certified Live Service Evidence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Health Service Record ID: 27</a:t>
            </a:r>
            <a:br/>
            <a:r>
              <a:t>• Patient: E2E-CERT PATIENT 01340 (ID: 63)</a:t>
            </a:r>
            <a:br/>
            <a:r>
              <a:t>• Institution: IRISSTAR Medical Center (ID: 2)</a:t>
            </a:r>
            <a:br/>
            <a:r>
              <a:t>• Service Date: 2026-09-22</a:t>
            </a:r>
            <a:br/>
            <a:br/>
            <a:r>
              <a:t>Compiled Billable Service Lines (3):</a:t>
            </a:r>
            <a:br/>
            <a:r>
              <a:t>1. OPD-EVAL: Outpatient Consultation (Qty: 1)</a:t>
            </a:r>
            <a:br/>
            <a:r>
              <a:t>2. LAB-CBC: Complete Blood Count (Qty: 1)</a:t>
            </a:r>
            <a:br/>
            <a:r>
              <a:t>3. RAD-XR: Chest X-Ray PA View (Qty: 1)</a:t>
            </a:r>
            <a:br/>
            <a:br/>
            <a:r>
              <a:t>• Passed straight to Tryton invoicing engine</a:t>
            </a:r>
            <a:br/>
            <a:r>
              <a:t>• Result: PASS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Patient Billing &amp; Customer Invoice Posting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Invoicing Architecture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Native Model: account.invoice</a:t>
            </a:r>
            <a:br/>
            <a:r>
              <a:t>• Managed by: Cashier (demo_cashier1)</a:t>
            </a:r>
            <a:br/>
            <a:br/>
            <a:r>
              <a:t>Invoicing Lifecycle:</a:t>
            </a:r>
            <a:br/>
            <a:r>
              <a:t>1. draft: Line items compiled from health services.</a:t>
            </a:r>
            <a:br/>
            <a:r>
              <a:t>2. validate: Account codes and totals verified.</a:t>
            </a:r>
            <a:br/>
            <a:r>
              <a:t>3. posted: Immutable sequence number generated.</a:t>
            </a:r>
            <a:br/>
            <a:r>
              <a:t>   Automatic General Ledger Move generated.</a:t>
            </a:r>
            <a:br/>
            <a:br/>
            <a:r>
              <a:t>Fiscal Security Protections:</a:t>
            </a:r>
            <a:br/>
            <a:r>
              <a:t>✔ Physician cannot create or post invoices.</a:t>
            </a:r>
            <a:br/>
            <a:r>
              <a:t>✔ Posted invoice cannot be altered or deleted.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Certified Live Invoicing Evidence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Invoice Record ID: 29</a:t>
            </a:r>
            <a:br/>
            <a:r>
              <a:t>• Official Invoice Number: INV-2026/00011</a:t>
            </a:r>
            <a:br/>
            <a:r>
              <a:t>• Customer: E2E-CERT PATIENT 01340 (Party ID: 220)</a:t>
            </a:r>
            <a:br/>
            <a:r>
              <a:t>• Currency: QAR  |  State: posted</a:t>
            </a:r>
            <a:br/>
            <a:br/>
            <a:r>
              <a:t>Billed Service Line Item Breakdown:</a:t>
            </a:r>
            <a:br/>
            <a:r>
              <a:t>• Consultation (OPD-EVAL): 250.00 QAR</a:t>
            </a:r>
            <a:br/>
            <a:r>
              <a:t>• Complete Blood Count (LAB-CBC): 75.00 QAR</a:t>
            </a:r>
            <a:br/>
            <a:r>
              <a:t>• Chest X-Ray PA View (RAD-XR): 150.00 QAR</a:t>
            </a:r>
            <a:br/>
            <a:r>
              <a:t>• Total Invoiced Amount: 475.00 QAR</a:t>
            </a:r>
            <a:br/>
            <a:br/>
            <a:r>
              <a:t>• Generated GL Invoicing Move ID: 38</a:t>
            </a:r>
            <a:br/>
            <a:r>
              <a:t>• Result: 100%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General Ledger Entries &amp; Receivables Reconciliation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Double-Entry Financial Accounting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Step 1: Outpatient Invoicing (Move 38)</a:t>
            </a:r>
            <a:br/>
            <a:r>
              <a:t>  DR 110000 Accounts Receivable : 475.00 QAR</a:t>
            </a:r>
            <a:br/>
            <a:r>
              <a:t>  CR 401000 Outpatient Revenue  : 475.00 QAR</a:t>
            </a:r>
            <a:br/>
            <a:br/>
            <a:r>
              <a:t>Step 2: Cash Payment Settlement (Move 39)</a:t>
            </a:r>
            <a:br/>
            <a:r>
              <a:t>  DR 101000 Cash on Hand        : 475.00 QAR</a:t>
            </a:r>
            <a:br/>
            <a:r>
              <a:t>  CR 110000 Accounts Receivable : 475.00 QAR</a:t>
            </a:r>
            <a:br/>
            <a:br/>
            <a:r>
              <a:t>Step 3: Receivables Reconciliation (ID: 17)</a:t>
            </a:r>
            <a:br/>
            <a:r>
              <a:t>  Matched Move 38 AR line with Move 39 AR line.</a:t>
            </a:r>
            <a:br/>
            <a:r>
              <a:t>  Patient Net Outstanding AR: 0.00 QAR.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Empirical Ledger Balance Verification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Global General Ledger Verification Query:</a:t>
            </a:r>
            <a:br/>
            <a:r>
              <a:t>• Total Debits in Ledger: 9,500.00 QAR</a:t>
            </a:r>
            <a:br/>
            <a:r>
              <a:t>• Total Credits in Ledger: 9,500.00 QAR</a:t>
            </a:r>
            <a:br/>
            <a:r>
              <a:t>• Net Ledger Variance: 0.00 QAR (STRICT BALANCE)</a:t>
            </a:r>
            <a:br/>
            <a:br/>
            <a:r>
              <a:t>Customer Receivables Balance:</a:t>
            </a:r>
            <a:br/>
            <a:r>
              <a:t>• SUM(debit - credit) for Party 220: 0.00 QAR</a:t>
            </a:r>
            <a:br/>
            <a:br/>
            <a:r>
              <a:t>Ledger Tamper Protection (ACC-02):</a:t>
            </a:r>
            <a:br/>
            <a:r>
              <a:t>• Deletion attempt on Move 39: DENIED</a:t>
            </a:r>
            <a:br/>
            <a:r>
              <a:t>  'AccessError: You cannot modify posted move'</a:t>
            </a:r>
            <a:br/>
            <a:r>
              <a:t>• Result: 100% PASS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Transaction Atomicity &amp; Rollback Guarantees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ACID Transaction Guarantees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Tryton transactions are strictly atomic:</a:t>
            </a:r>
            <a:br/>
            <a:r>
              <a:t>  All database writes within a business operation either commit together or roll back completely.</a:t>
            </a:r>
            <a:br/>
            <a:br/>
            <a:r>
              <a:t>• Downstream Failure Protection:</a:t>
            </a:r>
            <a:br/>
            <a:r>
              <a:t>  If an exception occurs during multi-step clinical workflows (e.g. appointment -&gt; triage -&gt; consultation),</a:t>
            </a:r>
            <a:br/>
            <a:r>
              <a:t>  the transaction context discards partial mutations.</a:t>
            </a:r>
            <a:br/>
            <a:br/>
            <a:r>
              <a:t>• Zero Partial or Orphan Records:</a:t>
            </a:r>
            <a:br/>
            <a:r>
              <a:t>  Failed transactions cannot leave orphan patient or billing rows.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Empirical Rollback Test Evidence (ATM-01)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Controlled Chaos Test:</a:t>
            </a:r>
            <a:br/>
            <a:r>
              <a:t>1. Stage A: Created valid patient party in transaction.</a:t>
            </a:r>
            <a:br/>
            <a:r>
              <a:t>2. Stage B: Deliberately injected unhandled exception:</a:t>
            </a:r>
            <a:br/>
            <a:r>
              <a:t>   'ValueError: SIMULATED DOWNSTREAM FAILURE'</a:t>
            </a:r>
            <a:br/>
            <a:r>
              <a:t>3. Stage C: Transaction aborted before commit.</a:t>
            </a:r>
            <a:br/>
            <a:br/>
            <a:r>
              <a:t>Census Audit Results:</a:t>
            </a:r>
            <a:br/>
            <a:r>
              <a:t>• Party count BEFORE test: 18</a:t>
            </a:r>
            <a:br/>
            <a:r>
              <a:t>• Party count AFTER failure: 18</a:t>
            </a:r>
            <a:br/>
            <a:r>
              <a:t>• Net Ghost / Orphan Records: 0</a:t>
            </a:r>
            <a:br/>
            <a:br/>
            <a:r>
              <a:t>• Status: 100% PASS (Clean Rollback Verified)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Role-Based Access Control: Backend Authorization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UI Restrictions Are Not Security — Backend Authorization Is Authoritative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GNU Health does not rely on cosmetic button hiding in client interfaces. Every operation dispatched via JSON-RPC or native ORM is evaluated by Tryton's 'ir.model.access' engine against the authenticated user's assigned group memberships.</a:t>
            </a:r>
          </a:p>
          <a:p>
            <a:br/>
            <a:pPr>
              <a:defRPr b="1" sz="1200">
                <a:solidFill>
                  <a:srgbClr val="00A896"/>
                </a:solidFill>
              </a:defRPr>
            </a:pPr>
            <a:r>
              <a:t>Summary of Empirical RBAC Security Boundaries (Test RBC-01):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✔ Front Desk Blocked from Clinical Entries: Front Desk cannot create/write Evaluations or Prescriptions (AccessError).</a:t>
            </a:r>
            <a:br/>
            <a:r>
              <a:t>✔ Clinical / Financial Segregation: Physicians cannot create or post customer invoices (AccessError).</a:t>
            </a:r>
            <a:br/>
            <a:r>
              <a:t>✔ Cashier Diagnostic Isolation: Cashiers cannot order radiology exams or alter clinical records (AccessError).</a:t>
            </a:r>
            <a:br/>
            <a:r>
              <a:t>✔ Clinical Immutability: Deletion of patient evaluations is denied across all clinical roles (perm_delete = False).</a:t>
            </a:r>
            <a:br/>
            <a:r>
              <a:t>✔ Anti-Privilege Escalation: Non-administrators cannot read, write, or create user accounts in 'res.user' (AccessError).</a:t>
            </a:r>
            <a:br/>
            <a:r>
              <a:t>✔ Group 1 Isolation: Group 1 ('Administration') is strictly restricted to user IDs 1 (admin) and 153 (demo_admin1).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Immutability &amp; Non-Repudiation of Medical &amp; Fiscal Records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3154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B192C"/>
                </a:solidFill>
              </a:defRPr>
            </a:pPr>
            <a:r>
              <a:t>Signed Clinical Evaluation</a:t>
            </a:r>
          </a:p>
          <a:p>
            <a:pPr>
              <a:defRPr sz="1050" b="1">
                <a:solidFill>
                  <a:srgbClr val="00A896"/>
                </a:solidFill>
              </a:defRPr>
            </a:pPr>
            <a:r>
              <a:t>Medical Legal Protection</a:t>
            </a:r>
          </a:p>
          <a:p>
            <a:br/>
            <a:pPr>
              <a:defRPr sz="1000">
                <a:solidFill>
                  <a:srgbClr val="323C46"/>
                </a:solidFill>
              </a:defRPr>
            </a:pPr>
            <a:r>
              <a:t>• Once signed (state='signed'), clinical fields transition to readonly=True.</a:t>
            </a:r>
            <a:br/>
            <a:r>
              <a:t>• Access control sets perm_delete=False for all users.</a:t>
            </a:r>
            <a:br/>
            <a:r>
              <a:t>• Doctor cannot delete evaluation.</a:t>
            </a:r>
            <a:br/>
            <a:r>
              <a:t>• Tampering raises AccessError.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828800"/>
            <a:ext cx="3154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B192C"/>
                </a:solidFill>
              </a:defRPr>
            </a:pPr>
            <a:r>
              <a:t>Posted Customer Invoice</a:t>
            </a:r>
          </a:p>
          <a:p>
            <a:pPr>
              <a:defRPr sz="1050" b="1">
                <a:solidFill>
                  <a:srgbClr val="00A896"/>
                </a:solidFill>
              </a:defRPr>
            </a:pPr>
            <a:r>
              <a:t>Fiscal Legal Protection</a:t>
            </a:r>
          </a:p>
          <a:p>
            <a:br/>
            <a:pPr>
              <a:defRPr sz="1000">
                <a:solidFill>
                  <a:srgbClr val="323C46"/>
                </a:solidFill>
              </a:defRPr>
            </a:pPr>
            <a:r>
              <a:t>• Once posted (state='posted'), invoice enters irreversible financial journal.</a:t>
            </a:r>
            <a:br/>
            <a:r>
              <a:t>• Strict non-reusable sequence assigned (INV-2026/00011).</a:t>
            </a:r>
            <a:br/>
            <a:r>
              <a:t>• Core engine raises: 'You cannot modify invoice because it is posted, paid or cancelled.'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828800"/>
            <a:ext cx="3154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B192C"/>
                </a:solidFill>
              </a:defRPr>
            </a:pPr>
            <a:r>
              <a:t>Posted General Ledger Move</a:t>
            </a:r>
          </a:p>
          <a:p>
            <a:pPr>
              <a:defRPr sz="1050" b="1">
                <a:solidFill>
                  <a:srgbClr val="00A896"/>
                </a:solidFill>
              </a:defRPr>
            </a:pPr>
            <a:r>
              <a:t>Statutory Accounting Protection</a:t>
            </a:r>
          </a:p>
          <a:p>
            <a:br/>
            <a:pPr>
              <a:defRPr sz="1000">
                <a:solidFill>
                  <a:srgbClr val="323C46"/>
                </a:solidFill>
              </a:defRPr>
            </a:pPr>
            <a:r>
              <a:t>• Move Lines post to General Ledger.</a:t>
            </a:r>
            <a:br/>
            <a:r>
              <a:t>• Deletion blocked by Tryton accounting engine.</a:t>
            </a:r>
            <a:br/>
            <a:r>
              <a:t>• Core engine raises: 'You cannot modify posted move.'</a:t>
            </a:r>
            <a:br/>
            <a:r>
              <a:t>• Balancing errors prevented.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Empirical Negative Testing &amp; Rejection Proofs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15 Dedicated Negative Validations Executed on Live System</a:t>
            </a:r>
          </a:p>
          <a:p>
            <a:br/>
            <a:pPr>
              <a:defRPr b="1" sz="1100">
                <a:solidFill>
                  <a:srgbClr val="00A896"/>
                </a:solidFill>
              </a:defRPr>
            </a:pPr>
            <a:r>
              <a:t>Representative Negative Test Results: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• [MD-02] Duplicate GL Account Code: Attempt duplicate '110000' → REJECTED via SQL Unique Constraint [PASS]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• [PAT-02] Duplicate Patient QID: Attempt duplicate 'E2E-CERT-QID...' → REJECTED via SQLConstraintError [PASS]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• [PAT-03] Missing Country ISO Code: Attempt patient party without country → REJECTED via KeyError: 'fed_country' [PASS]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• [APT-02] Illegal Appointment State: Set state to 'invalid_state_xyz' → REJECTED via SelectionValidationError [PASS]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• [CLN-02] Evaluation Deletion by Doctor: Physician attempts deleting signed eval → REJECTED via AccessError [PASS]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• [CLN-03] Evaluation Creation by Front Desk: Front Desk attempts creating evaluation → REJECTED via AccessError [PASS]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Relational Database Schema &amp; Foreign-Key Integrity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Database Audit Metrics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• Database Engine: PostgreSQL 15.19</a:t>
            </a:r>
            <a:br/>
            <a:r>
              <a:t>• Database Size: 124 MB</a:t>
            </a:r>
            <a:br/>
            <a:r>
              <a:t>• Public Tables Audited: 306 tables</a:t>
            </a:r>
            <a:br/>
            <a:r>
              <a:t>• Shadow / Unofficial Tables: 0</a:t>
            </a:r>
            <a:br/>
            <a:r>
              <a:t>• Activated Tryton Modules: 24 modules</a:t>
            </a:r>
            <a:br/>
            <a:br/>
            <a:r>
              <a:t>Referential Integrity Invariants:</a:t>
            </a:r>
            <a:br/>
            <a:r>
              <a:t>✔ Every patient links to an existing party.</a:t>
            </a:r>
            <a:br/>
            <a:r>
              <a:t>✔ Every appointment links to a valid patient.</a:t>
            </a:r>
            <a:br/>
            <a:r>
              <a:t>✔ Every evaluation links to a valid appointment.</a:t>
            </a:r>
            <a:br/>
            <a:r>
              <a:t>✔ Every invoice links to a posted GL move.</a:t>
            </a:r>
            <a:br/>
            <a:r>
              <a:t>✔ Zero disconnected or ghost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12 Foreign-Key Orphan Checks (All Zero)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• Orphaned Patients: 0</a:t>
            </a:r>
            <a:br/>
            <a:r>
              <a:t>• Orphaned Appointments: 0</a:t>
            </a:r>
            <a:br/>
            <a:r>
              <a:t>• Orphaned Evaluations: 0</a:t>
            </a:r>
            <a:br/>
            <a:r>
              <a:t>• Orphaned Prescriptions: 0</a:t>
            </a:r>
            <a:br/>
            <a:r>
              <a:t>• Orphaned Prescription Lines: 0</a:t>
            </a:r>
            <a:br/>
            <a:r>
              <a:t>• Orphaned Laboratory Orders: 0</a:t>
            </a:r>
            <a:br/>
            <a:r>
              <a:t>• Orphaned Radiology Requests: 0</a:t>
            </a:r>
            <a:br/>
            <a:r>
              <a:t>• Orphaned Radiology Results: 0</a:t>
            </a:r>
            <a:br/>
            <a:r>
              <a:t>• Orphaned Health Services: 0</a:t>
            </a:r>
            <a:br/>
            <a:r>
              <a:t>• Orphaned Invoice Lines: 0</a:t>
            </a:r>
            <a:br/>
            <a:r>
              <a:t>• Orphaned GL Move Lines: 0</a:t>
            </a:r>
            <a:br/>
            <a:r>
              <a:t>• Orphaned Reconciliations: 0</a:t>
            </a:r>
            <a:br/>
            <a:br/>
            <a:r>
              <a:t>Status: 100% PASS (Zero Referential Drift)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Disaster Recovery &amp; Isolated Restore Drill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Safety Backup Architecture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• Storage: /var/backups/gnuhealth (Mode: 0750)</a:t>
            </a:r>
            <a:br/>
            <a:r>
              <a:t>• Database Format: PostgreSQL Custom Compressed (.dump)</a:t>
            </a:r>
            <a:br/>
            <a:r>
              <a:t>• Attachments Format: Tar Gzip Archive (.tar.gz)</a:t>
            </a:r>
            <a:br/>
            <a:br/>
            <a:r>
              <a:t>Certified Backup Artifacts:</a:t>
            </a:r>
            <a:br/>
            <a:r>
              <a:t>• Dump: gnuhealth_db_e2e_post_20260922_182401.dump</a:t>
            </a:r>
            <a:br/>
            <a:r>
              <a:t>  Size: 7,652,477 bytes  |  Catalog: 3,052 entries</a:t>
            </a:r>
            <a:br/>
            <a:r>
              <a:t>  SHA-256: 67acc87e2076b92c8e19bf0d0d7f996802...</a:t>
            </a:r>
            <a:br/>
            <a:br/>
            <a:r>
              <a:t>• Attachment Archive: gnuhealth_attach_e2e_post_*.tar.gz</a:t>
            </a:r>
            <a:br/>
            <a:r>
              <a:t>  SHA-256: 219bb77316daec985e1f5e79d168f3d...</a:t>
            </a:r>
            <a:br/>
            <a:br/>
            <a:r>
              <a:t>• Automated Timer: gnuhealth-backup.timer (Daily 02:00 UTC)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Automated Isolated Restore Drill</a:t>
            </a:r>
          </a:p>
          <a:p>
            <a:pPr>
              <a:defRPr sz="1000">
                <a:solidFill>
                  <a:srgbClr val="323C46"/>
                </a:solidFill>
              </a:defRPr>
            </a:pPr>
            <a:r>
              <a:t>Restore Drill Execution (e2e_cert_backup_and_restore_drill.sh):</a:t>
            </a:r>
            <a:br/>
            <a:r>
              <a:t>• Restored into isolated database 'gnuhealth_isolated_e2e_restore'</a:t>
            </a:r>
            <a:br/>
            <a:r>
              <a:t>• Time to Complete Restore: 10 seconds</a:t>
            </a:r>
            <a:br/>
            <a:br/>
            <a:r>
              <a:t>Restored Database Census:</a:t>
            </a:r>
            <a:br/>
            <a:r>
              <a:t>• 306 public tables restored</a:t>
            </a:r>
            <a:br/>
            <a:r>
              <a:t>• 9 patients (including all E2E-CERT parties)</a:t>
            </a:r>
            <a:br/>
            <a:r>
              <a:t>• 14 appointments  |  13 clinical evaluations</a:t>
            </a:r>
            <a:br/>
            <a:r>
              <a:t>• 10 prescriptions  |  10 lab orders  |  10 CXR requests</a:t>
            </a:r>
            <a:br/>
            <a:r>
              <a:t>• 10 posted invoices  |  20 posted moves  |  10 reconciliations</a:t>
            </a:r>
            <a:br/>
            <a:r>
              <a:t>• 14,416 ICD-10 codes intact</a:t>
            </a:r>
            <a:br/>
            <a:br/>
            <a:r>
              <a:t>Restored GL Balance Check:</a:t>
            </a:r>
            <a:br/>
            <a:r>
              <a:t>• Total Debits: 9,500.00 QAR = Credits: 9,500.00 QAR</a:t>
            </a:r>
            <a:br/>
            <a:r>
              <a:t>• Isolated DB destroyed cleanly; production untouched.</a:t>
            </a:r>
            <a:br/>
            <a:r>
              <a:t>• Result: 100% PASS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Native JSON-RPC API Integration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Native Tryton JSON-RPC Protocol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1. Authentication Endpoint:</a:t>
            </a:r>
            <a:br/>
            <a:r>
              <a:t>   POST /gnuhealth/</a:t>
            </a:r>
            <a:br/>
            <a:r>
              <a:t>   Method: common.db.login</a:t>
            </a:r>
            <a:br/>
            <a:r>
              <a:t>   Params: [username, {'password': password}]</a:t>
            </a:r>
            <a:br/>
            <a:r>
              <a:t>   Returns: [user_id, session_token]</a:t>
            </a:r>
            <a:br/>
            <a:br/>
            <a:r>
              <a:t>2. Authenticated Model Calls:</a:t>
            </a:r>
            <a:br/>
            <a:r>
              <a:t>   Header: Authorization: Session base64(username:userid:session)</a:t>
            </a:r>
            <a:br/>
            <a:r>
              <a:t>   Method: model.&lt;model_name&gt;.&lt;method_name&gt;</a:t>
            </a:r>
            <a:br/>
            <a:r>
              <a:t>   Params: [domain, offset, limit, order, fields, context]</a:t>
            </a:r>
            <a:br/>
            <a:br/>
            <a:r>
              <a:t>CRITICAL ARCHITECTURAL RULE:</a:t>
            </a:r>
            <a:br/>
            <a:r>
              <a:t>The frontend must NEVER connect directly to PostgreSQL or bypass GNU Health.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0A896"/>
                </a:solidFill>
              </a:defRPr>
            </a:pPr>
            <a:r>
              <a:t>Certified Live API Dispatch Evidence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• Authentication Call (API-01):</a:t>
            </a:r>
            <a:br/>
            <a:r>
              <a:t>  User: demo_admin1</a:t>
            </a:r>
            <a:br/>
            <a:r>
              <a:t>  common.db.login returned: [153, 'e78e60ec9074...']</a:t>
            </a:r>
            <a:br/>
            <a:br/>
            <a:r>
              <a:t>• Model Call (search_read):</a:t>
            </a:r>
            <a:br/>
            <a:r>
              <a:t>  Endpoint: http://127.0.0.1:8000/gnuhealth/</a:t>
            </a:r>
            <a:br/>
            <a:r>
              <a:t>  Method: model.gnuhealth.patient.search_read</a:t>
            </a:r>
            <a:br/>
            <a:r>
              <a:t>  Context: {'company': 2}</a:t>
            </a:r>
            <a:br/>
            <a:r>
              <a:t>  Returned: Valid JSON list of patient records directly from database</a:t>
            </a:r>
            <a:br/>
            <a:br/>
            <a:r>
              <a:t>Performance Baseline Benchmark:</a:t>
            </a:r>
            <a:br/>
            <a:r>
              <a:t>• Patient Search Latency: 4.72 ms</a:t>
            </a:r>
            <a:br/>
            <a:r>
              <a:t>• Appointment Search Latency: 1.78 ms</a:t>
            </a:r>
            <a:br/>
            <a:r>
              <a:t>• Invoice Search Latency: 2.01 ms</a:t>
            </a:r>
            <a:br/>
            <a:r>
              <a:t>• Result: 100% PASS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End-to-End Certified Transaction: Patient 63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0B192C"/>
                </a:solidFill>
              </a:defRPr>
            </a:pPr>
            <a:r>
              <a:t>One Complete Patient Journey — Empirical Traceability (Run E2E-CERT-01340)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PATIENT REGISTRATION: [Party ID: 220, Patient ID: 63]  |  PUID: E2E-CERT-QID-01340, QID: E2E-CERT-QID-01340, Name: E2E-CERT PATIENT 01340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APPOINTMENT: [Appt ID: 66, Attending: HP 71]  |  Lifecycle: free -&gt; confirmed -&gt; checked_in -&gt; done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TRIAGE &amp; VITALS: [Evaluation ID: 42 (in_progress)]  |  BP: 118/78, Temp: 37.1 C, HR: 74 bpm, SpO2: 99%, Weight: 72.5 kg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CONSULTATION &amp; DIAGNOSIS: [Evaluation ID: 42 (signed)]  |  Diagnosis: ICD-10 J06.9, Disease Record ID: 6, Status: Signed &amp; Locked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PRESCRIPTION ORDER: [Prescription ID: 37, Line: 28]  |  Amoxicillin 500mg, 15 capsules, TID x 5 days, Indication: J06.9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LABORATORY VALIDATION: [Lab Order ID: 32 (validated)]  |  CBC: Hb 14.1 g/dL, WBC 9.4 x10^9/L, Platelets 260 x10^9/L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RADIOLOGY EXAMINATION: [Req ID: 32, Result ID: 27]  |  CXR PA View: Normal cardiothoracic ratio, clear lung parenchyma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SERVICE COMPILATION: [Health Service ID: 27]  |  3 Service Lines: Consultation (250 QAR), CBC (75 QAR), CXR (150 QAR)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CUSTOMER INVOICING: [Invoice ID: 29 (posted)]  |  Invoice Number: INV-2026/00011, Total: 475.00 QAR, Move ID: 38</a:t>
            </a:r>
          </a:p>
          <a:p>
            <a:pPr>
              <a:defRPr sz="950">
                <a:solidFill>
                  <a:srgbClr val="323C46"/>
                </a:solidFill>
              </a:defRPr>
            </a:pPr>
            <a:r>
              <a:t>✔ PAYMENT &amp; RECONCILIATION: [Move ID: 39, Rec ID: 17]  |  Cash Receipt: 475.00 QAR, Customer Net AR: 0.00 QAR, GL Balanced (9500 QAR)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Technical Certification vs. Business Go-Live Distinction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8A745"/>
                </a:solidFill>
              </a:defRPr>
            </a:pPr>
            <a:r>
              <a:t>WHAT HAS BEEN PROVEN (PASS)</a:t>
            </a:r>
          </a:p>
          <a:p>
            <a:pPr>
              <a:defRPr sz="1050">
                <a:solidFill>
                  <a:srgbClr val="323C46"/>
                </a:solidFill>
              </a:defRPr>
            </a:pPr>
            <a:r>
              <a:t>✔ Outpatient clinical transaction lifecycle functions natively.</a:t>
            </a:r>
            <a:br/>
            <a:r>
              <a:t>✔ Master data (ICD-10, accounts, services, institutions) active.</a:t>
            </a:r>
            <a:br/>
            <a:r>
              <a:t>✔ Double-entry GL accounting balances strictly (Total DR == Total CR).</a:t>
            </a:r>
            <a:br/>
            <a:r>
              <a:t>✔ Receivables reconciliation clears customer balance to 0.00 QAR.</a:t>
            </a:r>
            <a:br/>
            <a:r>
              <a:t>✔ RBAC boundaries enforce least privilege across 8 roles.</a:t>
            </a:r>
            <a:br/>
            <a:r>
              <a:t>✔ Signed clinical evaluations are immutable.</a:t>
            </a:r>
            <a:br/>
            <a:r>
              <a:t>✔ Posted invoices and GL moves cannot be altered or deleted.</a:t>
            </a:r>
            <a:br/>
            <a:r>
              <a:t>✔ 306 public database tables audited with 0 orphaned records.</a:t>
            </a:r>
            <a:br/>
            <a:r>
              <a:t>✔ Transaction atomicity and clean rollback verified.</a:t>
            </a:r>
            <a:br/>
            <a:r>
              <a:t>✔ Native JSON-RPC API layer verified for frontend integration.</a:t>
            </a:r>
            <a:br/>
            <a:r>
              <a:t>✔ 10-second isolated disaster recovery restore drill certified.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E69500"/>
                </a:solidFill>
              </a:defRPr>
            </a:pPr>
            <a:r>
              <a:t>WHAT IS NOT YET AUTHORIZED</a:t>
            </a:r>
          </a:p>
          <a:p>
            <a:pPr>
              <a:defRPr sz="1100">
                <a:solidFill>
                  <a:srgbClr val="323C46"/>
                </a:solidFill>
              </a:defRPr>
            </a:pPr>
            <a:r>
              <a:t>❌ Real Patient Care Is NOT Authorized Yet</a:t>
            </a:r>
            <a:br/>
            <a:r>
              <a:t>❌ Commercial Billing Is NOT Authorized Yet</a:t>
            </a:r>
            <a:br/>
            <a:r>
              <a:t>❌ Public Network Exposure Is NOT Authorized Yet</a:t>
            </a:r>
            <a:br/>
            <a:br/>
            <a:r>
              <a:t>Reason for Strict Separation:</a:t>
            </a:r>
            <a:br/>
            <a:r>
              <a:t>Technical DEMO/UAT certification verifies software and database fitness.</a:t>
            </a:r>
            <a:br/>
            <a:br/>
            <a:r>
              <a:t>Real-world clinical operation requires formal healthcare regulatory licensing, official medical practitioner rosters, and approved institutional tariffs from the Qatar Ministry of Public Health (MoPH).</a:t>
            </a:r>
            <a:br/>
            <a:br/>
            <a:r>
              <a:t>Do NOT declare 'Production Go-Live' without these prerequisites.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Segoe UI"/>
              </a:defRPr>
            </a:pPr>
            <a:r>
              <a:t>GNU HEALTH HMIS 5.0 — DEMO/UAT OPERATIONAL CERTIFICATION</a:t>
            </a:r>
          </a:p>
          <a:p>
            <a:pPr>
              <a:defRPr sz="2200" b="1">
                <a:solidFill>
                  <a:srgbClr val="0B192C"/>
                </a:solidFill>
                <a:latin typeface="Segoe UI"/>
              </a:defRPr>
            </a:pPr>
            <a:r>
              <a:t>Remaining Production Go-Live Prerequisites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36576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GATE 1: Official FQDN &amp; TLS Binding</a:t>
            </a:r>
          </a:p>
          <a:p>
            <a:pPr>
              <a:defRPr sz="1000">
                <a:solidFill>
                  <a:srgbClr val="323C46"/>
                </a:solidFill>
              </a:defRPr>
            </a:pPr>
            <a:r>
              <a:t>Domain Registration &amp; Let's Encrypt TLS on Nginx (Port 443 active, Port 80 redirect).</a:t>
            </a:r>
          </a:p>
          <a:p>
            <a:pPr>
              <a:defRPr sz="950" b="1">
                <a:solidFill>
                  <a:srgbClr val="E69500"/>
                </a:solidFill>
              </a:defRPr>
            </a:pPr>
            <a:r>
              <a:t>Owner: Technical / IT  |  Status: Pending Business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GATE 2: MoPH Facility Licensing</a:t>
            </a:r>
          </a:p>
          <a:p>
            <a:pPr>
              <a:defRPr sz="1000">
                <a:solidFill>
                  <a:srgbClr val="323C46"/>
                </a:solidFill>
              </a:defRPr>
            </a:pPr>
            <a:r>
              <a:t>Official institutional facility code and registration from Qatar Ministry of Public Health.</a:t>
            </a:r>
          </a:p>
          <a:p>
            <a:pPr>
              <a:defRPr sz="950" b="1">
                <a:solidFill>
                  <a:srgbClr val="E69500"/>
                </a:solidFill>
              </a:defRPr>
            </a:pPr>
            <a:r>
              <a:t>Owner: Clinic Operations  |  Status: Pending Business 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9184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GATE 3: Licensed Clinician Roster</a:t>
            </a:r>
          </a:p>
          <a:p>
            <a:pPr>
              <a:defRPr sz="1000">
                <a:solidFill>
                  <a:srgbClr val="323C46"/>
                </a:solidFill>
              </a:defRPr>
            </a:pPr>
            <a:r>
              <a:t>Replace synthetic clinicians with licensed medical staff (QCHP licenses, real names).</a:t>
            </a:r>
          </a:p>
          <a:p>
            <a:pPr>
              <a:defRPr sz="950" b="1">
                <a:solidFill>
                  <a:srgbClr val="E69500"/>
                </a:solidFill>
              </a:defRPr>
            </a:pPr>
            <a:r>
              <a:t>Owner: Medical Director  |  Status: Pending Business Input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20040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29184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GATE 4: Approved Chargemaster Tariffs</a:t>
            </a:r>
          </a:p>
          <a:p>
            <a:pPr>
              <a:defRPr sz="1000">
                <a:solidFill>
                  <a:srgbClr val="323C46"/>
                </a:solidFill>
              </a:defRPr>
            </a:pPr>
            <a:r>
              <a:t>Ingest official MoPH-approved pricing schedule for consultations, labs, and imaging.</a:t>
            </a:r>
          </a:p>
          <a:p>
            <a:pPr>
              <a:defRPr sz="950" b="1">
                <a:solidFill>
                  <a:srgbClr val="E69500"/>
                </a:solidFill>
              </a:defRPr>
            </a:pPr>
            <a:r>
              <a:t>Owner: Finance / Billing  |  Status: Pending Business 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GATE 5: Off-Site Automated DR Storage</a:t>
            </a:r>
          </a:p>
          <a:p>
            <a:pPr>
              <a:defRPr sz="1000">
                <a:solidFill>
                  <a:srgbClr val="323C46"/>
                </a:solidFill>
              </a:defRPr>
            </a:pPr>
            <a:r>
              <a:t>Configure daily automated database snapshot sync to encrypted Google Cloud Storage (GCS).</a:t>
            </a:r>
          </a:p>
          <a:p>
            <a:pPr>
              <a:defRPr sz="950" b="1">
                <a:solidFill>
                  <a:srgbClr val="E69500"/>
                </a:solidFill>
              </a:defRPr>
            </a:pPr>
            <a:r>
              <a:t>Owner: Cloud Infrastructure  |  Status: Pending Business Input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754880"/>
            <a:ext cx="5257800" cy="14173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846320"/>
            <a:ext cx="49834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B192C"/>
                </a:solidFill>
              </a:defRPr>
            </a:pPr>
            <a:r>
              <a:t>GATE 6: Executive Authorization</a:t>
            </a:r>
          </a:p>
          <a:p>
            <a:pPr>
              <a:defRPr sz="1000">
                <a:solidFill>
                  <a:srgbClr val="323C46"/>
                </a:solidFill>
              </a:defRPr>
            </a:pPr>
            <a:r>
              <a:t>Formal written operational go-live sign-off from Executive Leadership and Medical Board.</a:t>
            </a:r>
          </a:p>
          <a:p>
            <a:pPr>
              <a:defRPr sz="950" b="1">
                <a:solidFill>
                  <a:srgbClr val="E69500"/>
                </a:solidFill>
              </a:defRPr>
            </a:pPr>
            <a:r>
              <a:t>Owner: Executive Leadership  |  Status: Pending Business Input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A896"/>
                </a:solidFill>
                <a:latin typeface="Segoe UI"/>
              </a:defRPr>
            </a:pPr>
            <a:r>
              <a:t>CONCLUSION &amp; READINESS STATEMENT</a:t>
            </a:r>
          </a:p>
          <a:p>
            <a:pPr>
              <a:defRPr sz="3000" b="1">
                <a:solidFill>
                  <a:srgbClr val="FFFFFF"/>
                </a:solidFill>
                <a:latin typeface="Segoe UI"/>
              </a:defRPr>
            </a:pPr>
            <a:r>
              <a:t>GNU Health HMIS Backend: Operational Certification Complete</a:t>
            </a:r>
          </a:p>
          <a:p>
            <a:br/>
            <a:pPr>
              <a:defRPr sz="1600" b="1">
                <a:solidFill>
                  <a:srgbClr val="28A745"/>
                </a:solidFill>
              </a:defRPr>
            </a:pPr>
            <a:r>
              <a:t>1. Backend Technical Readiness: 100% COMPLETE &amp; VERIFIED</a:t>
            </a:r>
          </a:p>
          <a:p>
            <a:pPr>
              <a:defRPr sz="1200">
                <a:solidFill>
                  <a:srgbClr val="B4C3CD"/>
                </a:solidFill>
              </a:defRPr>
            </a:pPr>
            <a:r>
              <a:t>   GNU Health HMIS 5.0 is technically certified as the sole authoritative backend system of record.</a:t>
            </a:r>
            <a:br/>
            <a:r>
              <a:t>   All 32 end-to-end positive, negative, financial, and relational integrity tests passed.</a:t>
            </a:r>
          </a:p>
          <a:p>
            <a:br/>
            <a:pPr>
              <a:defRPr sz="1600" b="1">
                <a:solidFill>
                  <a:srgbClr val="1E90FF"/>
                </a:solidFill>
              </a:defRPr>
            </a:pPr>
            <a:r>
              <a:t>2. Frontend Integration Readiness: READY FOR DEVELOPMENT</a:t>
            </a:r>
          </a:p>
          <a:p>
            <a:pPr>
              <a:defRPr sz="1200">
                <a:solidFill>
                  <a:srgbClr val="B4C3CD"/>
                </a:solidFill>
              </a:defRPr>
            </a:pPr>
            <a:r>
              <a:t>   Frontend teams can begin UI development against the frozen backend JSON-RPC contract.</a:t>
            </a:r>
            <a:br/>
            <a:r>
              <a:t>   Authoritative integration guides, workflow matrices, and security models are published.</a:t>
            </a:r>
          </a:p>
          <a:p>
            <a:br/>
            <a:pPr>
              <a:defRPr sz="1600" b="1">
                <a:solidFill>
                  <a:srgbClr val="E69500"/>
                </a:solidFill>
              </a:defRPr>
            </a:pPr>
            <a:r>
              <a:t>3. Production Go-Live: BLOCKED PENDING BUSINESS INPUTS</a:t>
            </a:r>
          </a:p>
          <a:p>
            <a:pPr>
              <a:defRPr sz="1200">
                <a:solidFill>
                  <a:srgbClr val="B4C3CD"/>
                </a:solidFill>
              </a:defRPr>
            </a:pPr>
            <a:r>
              <a:t>   Final clinical cutover requires FQDN/TLS, MoPH facility licensing, real clinician credentials, and tariff schedule.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